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EBD9"/>
          </a:solidFill>
          <a:ln w="12700">
            <a:solidFill>
              <a:srgbClr val="F2EBD9"/>
            </a:solidFill>
            <a:prstDash val="solid"/>
          </a:ln>
        </p:spPr>
      </p:sp>
      <p:sp>
        <p:nvSpPr>
          <p:cNvPr id="3" name="Shape 1"/>
          <p:cNvSpPr/>
          <p:nvPr/>
        </p:nvSpPr>
        <p:spPr>
          <a:xfrm>
            <a:off x="0" y="0"/>
            <a:ext cx="3840480" cy="5143500"/>
          </a:xfrm>
          <a:prstGeom prst="rect">
            <a:avLst/>
          </a:prstGeom>
          <a:solidFill>
            <a:srgbClr val="2B1F0F"/>
          </a:solidFill>
          <a:ln w="12700">
            <a:solidFill>
              <a:srgbClr val="2B1F0F"/>
            </a:solidFill>
            <a:prstDash val="solid"/>
          </a:ln>
        </p:spPr>
      </p:sp>
      <p:sp>
        <p:nvSpPr>
          <p:cNvPr id="4" name="Shape 2"/>
          <p:cNvSpPr/>
          <p:nvPr/>
        </p:nvSpPr>
        <p:spPr>
          <a:xfrm>
            <a:off x="3840480" y="0"/>
            <a:ext cx="73152" cy="5143500"/>
          </a:xfrm>
          <a:prstGeom prst="rect">
            <a:avLst/>
          </a:prstGeom>
          <a:solidFill>
            <a:srgbClr val="B5451B"/>
          </a:solidFill>
          <a:ln w="12700">
            <a:solidFill>
              <a:srgbClr val="B5451B"/>
            </a:solidFill>
            <a:prstDash val="solid"/>
          </a:ln>
        </p:spPr>
      </p:sp>
      <p:sp>
        <p:nvSpPr>
          <p:cNvPr id="5" name="Text 3"/>
          <p:cNvSpPr/>
          <p:nvPr/>
        </p:nvSpPr>
        <p:spPr>
          <a:xfrm>
            <a:off x="182880" y="457200"/>
            <a:ext cx="3474720" cy="5029200"/>
          </a:xfrm>
          <a:prstGeom prst="rect">
            <a:avLst/>
          </a:prstGeom>
          <a:noFill/>
          <a:ln/>
        </p:spPr>
        <p:txBody>
          <a:bodyPr wrap="square" rtlCol="0" anchor="ctr"/>
          <a:lstStyle/>
          <a:p>
            <a:pPr algn="ctr" indent="0" marL="0">
              <a:buNone/>
            </a:pPr>
            <a:r>
              <a:rPr lang="en-US" sz="22000" b="1" dirty="0">
                <a:solidFill>
                  <a:srgbClr val="2E2010">
                    <a:alpha val="40000"/>
                  </a:srgbClr>
                </a:solidFill>
                <a:latin typeface="Georgia" pitchFamily="34" charset="0"/>
                <a:ea typeface="Georgia" pitchFamily="34" charset="-122"/>
                <a:cs typeface="Georgia" pitchFamily="34" charset="-120"/>
              </a:rPr>
              <a:t>7</a:t>
            </a:r>
            <a:endParaRPr lang="en-US" sz="22000" dirty="0"/>
          </a:p>
        </p:txBody>
      </p:sp>
      <p:sp>
        <p:nvSpPr>
          <p:cNvPr id="6" name="Text 4"/>
          <p:cNvSpPr/>
          <p:nvPr/>
        </p:nvSpPr>
        <p:spPr>
          <a:xfrm>
            <a:off x="182880" y="4389120"/>
            <a:ext cx="3474720" cy="548640"/>
          </a:xfrm>
          <a:prstGeom prst="rect">
            <a:avLst/>
          </a:prstGeom>
          <a:noFill/>
          <a:ln/>
        </p:spPr>
        <p:txBody>
          <a:bodyPr wrap="square" rtlCol="0" anchor="ctr"/>
          <a:lstStyle/>
          <a:p>
            <a:pPr algn="ctr" indent="0" marL="0">
              <a:buNone/>
            </a:pPr>
            <a:r>
              <a:rPr lang="en-US" sz="2200" i="1" dirty="0">
                <a:solidFill>
                  <a:srgbClr val="F0C9B0"/>
                </a:solidFill>
                <a:latin typeface="Georgia" pitchFamily="34" charset="0"/>
                <a:ea typeface="Georgia" pitchFamily="34" charset="-122"/>
                <a:cs typeface="Georgia" pitchFamily="34" charset="-120"/>
              </a:rPr>
              <a:t>steps</a:t>
            </a:r>
            <a:endParaRPr lang="en-US" sz="2200" dirty="0"/>
          </a:p>
        </p:txBody>
      </p:sp>
      <p:sp>
        <p:nvSpPr>
          <p:cNvPr id="7" name="Text 5"/>
          <p:cNvSpPr/>
          <p:nvPr/>
        </p:nvSpPr>
        <p:spPr>
          <a:xfrm>
            <a:off x="4160520" y="1188720"/>
            <a:ext cx="4663440" cy="594360"/>
          </a:xfrm>
          <a:prstGeom prst="rect">
            <a:avLst/>
          </a:prstGeom>
          <a:noFill/>
          <a:ln/>
        </p:spPr>
        <p:txBody>
          <a:bodyPr wrap="square" rtlCol="0" anchor="ctr"/>
          <a:lstStyle/>
          <a:p>
            <a:pPr indent="0" marL="0">
              <a:buNone/>
            </a:pPr>
            <a:r>
              <a:rPr lang="en-US" sz="3000" b="1" dirty="0">
                <a:solidFill>
                  <a:srgbClr val="2B1F0F"/>
                </a:solidFill>
                <a:latin typeface="Georgia" pitchFamily="34" charset="0"/>
                <a:ea typeface="Georgia" pitchFamily="34" charset="-122"/>
                <a:cs typeface="Georgia" pitchFamily="34" charset="-120"/>
              </a:rPr>
              <a:t>Project Management:</a:t>
            </a:r>
            <a:endParaRPr lang="en-US" sz="3000" dirty="0"/>
          </a:p>
        </p:txBody>
      </p:sp>
      <p:sp>
        <p:nvSpPr>
          <p:cNvPr id="8" name="Text 6"/>
          <p:cNvSpPr/>
          <p:nvPr/>
        </p:nvSpPr>
        <p:spPr>
          <a:xfrm>
            <a:off x="4160520" y="1783080"/>
            <a:ext cx="4663440" cy="594360"/>
          </a:xfrm>
          <a:prstGeom prst="rect">
            <a:avLst/>
          </a:prstGeom>
          <a:noFill/>
          <a:ln/>
        </p:spPr>
        <p:txBody>
          <a:bodyPr wrap="square" rtlCol="0" anchor="ctr"/>
          <a:lstStyle/>
          <a:p>
            <a:pPr indent="0" marL="0">
              <a:buNone/>
            </a:pPr>
            <a:r>
              <a:rPr lang="en-US" sz="3000" i="1" dirty="0">
                <a:solidFill>
                  <a:srgbClr val="B5451B"/>
                </a:solidFill>
                <a:latin typeface="Georgia" pitchFamily="34" charset="0"/>
                <a:ea typeface="Georgia" pitchFamily="34" charset="-122"/>
                <a:cs typeface="Georgia" pitchFamily="34" charset="-120"/>
              </a:rPr>
              <a:t>A Thanksgiving Story</a:t>
            </a:r>
            <a:endParaRPr lang="en-US" sz="3000" dirty="0"/>
          </a:p>
        </p:txBody>
      </p:sp>
      <p:sp>
        <p:nvSpPr>
          <p:cNvPr id="9" name="Shape 7"/>
          <p:cNvSpPr/>
          <p:nvPr/>
        </p:nvSpPr>
        <p:spPr>
          <a:xfrm>
            <a:off x="4160520" y="2487168"/>
            <a:ext cx="4389120" cy="0"/>
          </a:xfrm>
          <a:prstGeom prst="line">
            <a:avLst/>
          </a:prstGeom>
          <a:noFill/>
          <a:ln w="19050">
            <a:solidFill>
              <a:srgbClr val="F0C9B0"/>
            </a:solidFill>
            <a:prstDash val="solid"/>
          </a:ln>
        </p:spPr>
      </p:sp>
      <p:sp>
        <p:nvSpPr>
          <p:cNvPr id="10" name="Text 8"/>
          <p:cNvSpPr/>
          <p:nvPr/>
        </p:nvSpPr>
        <p:spPr>
          <a:xfrm>
            <a:off x="4160520" y="2633472"/>
            <a:ext cx="4480560" cy="822960"/>
          </a:xfrm>
          <a:prstGeom prst="rect">
            <a:avLst/>
          </a:prstGeom>
          <a:noFill/>
          <a:ln/>
        </p:spPr>
        <p:txBody>
          <a:bodyPr wrap="square" rtlCol="0" anchor="ctr"/>
          <a:lstStyle/>
          <a:p>
            <a:pPr indent="0" marL="0">
              <a:lnSpc>
                <a:spcPct val="135000"/>
              </a:lnSpc>
              <a:buNone/>
            </a:pPr>
            <a:r>
              <a:rPr lang="en-US" sz="1400" dirty="0">
                <a:solidFill>
                  <a:srgbClr val="6B5740"/>
                </a:solidFill>
                <a:latin typeface="Calibri" pitchFamily="34" charset="0"/>
                <a:ea typeface="Calibri" pitchFamily="34" charset="-122"/>
                <a:cs typeface="Calibri" pitchFamily="34" charset="-120"/>
              </a:rPr>
              <a:t>How planning a Thanksgiving dinner teaches every core concept in project management.</a:t>
            </a:r>
            <a:endParaRPr lang="en-US" sz="1400" dirty="0"/>
          </a:p>
        </p:txBody>
      </p:sp>
      <p:sp>
        <p:nvSpPr>
          <p:cNvPr id="11" name="Text 9"/>
          <p:cNvSpPr/>
          <p:nvPr/>
        </p:nvSpPr>
        <p:spPr>
          <a:xfrm>
            <a:off x="4160520" y="5897880"/>
            <a:ext cx="4663440" cy="274320"/>
          </a:xfrm>
          <a:prstGeom prst="rect">
            <a:avLst/>
          </a:prstGeom>
          <a:noFill/>
          <a:ln/>
        </p:spPr>
        <p:txBody>
          <a:bodyPr wrap="square" rtlCol="0" anchor="ctr"/>
          <a:lstStyle/>
          <a:p>
            <a:pPr indent="0" marL="0">
              <a:buNone/>
            </a:pPr>
            <a:r>
              <a:rPr lang="en-US" sz="1000" dirty="0">
                <a:solidFill>
                  <a:srgbClr val="A89070"/>
                </a:solidFill>
                <a:latin typeface="Calibri" pitchFamily="34" charset="0"/>
                <a:ea typeface="Calibri" pitchFamily="34" charset="-122"/>
                <a:cs typeface="Calibri" pitchFamily="34" charset="-120"/>
              </a:rPr>
              <a:t>Eric White  |  Adapted from Year Up ProSkills 2016</a:t>
            </a:r>
            <a:endParaRPr lang="en-US" sz="1000" dirty="0"/>
          </a:p>
        </p:txBody>
      </p:sp>
      <p:sp>
        <p:nvSpPr>
          <p:cNvPr id="12" name="Text 10"/>
          <p:cNvSpPr/>
          <p:nvPr/>
        </p:nvSpPr>
        <p:spPr>
          <a:xfrm>
            <a:off x="7863840" y="6217920"/>
            <a:ext cx="1097280" cy="228600"/>
          </a:xfrm>
          <a:prstGeom prst="rect">
            <a:avLst/>
          </a:prstGeom>
          <a:noFill/>
          <a:ln/>
        </p:spPr>
        <p:txBody>
          <a:bodyPr wrap="square" rtlCol="0" anchor="ctr"/>
          <a:lstStyle/>
          <a:p>
            <a:pPr algn="r" indent="0" marL="0">
              <a:buNone/>
            </a:pPr>
            <a:r>
              <a:rPr lang="en-US" sz="900" dirty="0">
                <a:solidFill>
                  <a:srgbClr val="C8BCA8"/>
                </a:solidFill>
                <a:latin typeface="Calibri" pitchFamily="34" charset="0"/>
                <a:ea typeface="Calibri" pitchFamily="34" charset="-122"/>
                <a:cs typeface="Calibri" pitchFamily="34" charset="-120"/>
              </a:rPr>
              <a:t>1 / 13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6EE"/>
          </a:solidFill>
          <a:ln w="12700">
            <a:solidFill>
              <a:srgbClr val="FBF6EE"/>
            </a:solidFill>
            <a:prstDash val="solid"/>
          </a:ln>
        </p:spPr>
      </p:sp>
      <p:sp>
        <p:nvSpPr>
          <p:cNvPr id="3" name="Shape 1"/>
          <p:cNvSpPr/>
          <p:nvPr/>
        </p:nvSpPr>
        <p:spPr>
          <a:xfrm>
            <a:off x="0" y="0"/>
            <a:ext cx="164592" cy="5143500"/>
          </a:xfrm>
          <a:prstGeom prst="rect">
            <a:avLst/>
          </a:prstGeom>
          <a:solidFill>
            <a:srgbClr val="8C6914"/>
          </a:solidFill>
          <a:ln w="12700">
            <a:solidFill>
              <a:srgbClr val="8C6914"/>
            </a:solidFill>
            <a:prstDash val="solid"/>
          </a:ln>
        </p:spPr>
      </p:sp>
      <p:sp>
        <p:nvSpPr>
          <p:cNvPr id="4" name="Text 2"/>
          <p:cNvSpPr/>
          <p:nvPr/>
        </p:nvSpPr>
        <p:spPr>
          <a:xfrm>
            <a:off x="411480" y="228600"/>
            <a:ext cx="3657600" cy="274320"/>
          </a:xfrm>
          <a:prstGeom prst="rect">
            <a:avLst/>
          </a:prstGeom>
          <a:noFill/>
          <a:ln/>
        </p:spPr>
        <p:txBody>
          <a:bodyPr wrap="square" rtlCol="0" anchor="ctr"/>
          <a:lstStyle/>
          <a:p>
            <a:pPr indent="0" marL="0">
              <a:buNone/>
            </a:pPr>
            <a:r>
              <a:rPr lang="en-US" sz="1000" b="1" spc="200" kern="0" dirty="0">
                <a:solidFill>
                  <a:srgbClr val="8C6914"/>
                </a:solidFill>
                <a:latin typeface="Calibri" pitchFamily="34" charset="0"/>
                <a:ea typeface="Calibri" pitchFamily="34" charset="-122"/>
                <a:cs typeface="Calibri" pitchFamily="34" charset="-120"/>
              </a:rPr>
              <a:t>THE FRAMEWORK</a:t>
            </a:r>
            <a:endParaRPr lang="en-US" sz="1000" dirty="0"/>
          </a:p>
        </p:txBody>
      </p:sp>
      <p:sp>
        <p:nvSpPr>
          <p:cNvPr id="5" name="Text 3"/>
          <p:cNvSpPr/>
          <p:nvPr/>
        </p:nvSpPr>
        <p:spPr>
          <a:xfrm>
            <a:off x="411480" y="475488"/>
            <a:ext cx="8321040" cy="502920"/>
          </a:xfrm>
          <a:prstGeom prst="rect">
            <a:avLst/>
          </a:prstGeom>
          <a:noFill/>
          <a:ln/>
        </p:spPr>
        <p:txBody>
          <a:bodyPr wrap="square" rtlCol="0" anchor="ctr"/>
          <a:lstStyle/>
          <a:p>
            <a:pPr indent="0" marL="0">
              <a:buNone/>
            </a:pPr>
            <a:r>
              <a:rPr lang="en-US" sz="2600" b="1" dirty="0">
                <a:solidFill>
                  <a:srgbClr val="2B1F0F"/>
                </a:solidFill>
                <a:latin typeface="Georgia" pitchFamily="34" charset="0"/>
                <a:ea typeface="Georgia" pitchFamily="34" charset="-122"/>
                <a:cs typeface="Georgia" pitchFamily="34" charset="-120"/>
              </a:rPr>
              <a:t>Seven Steps from Kitchen to Boardroom</a:t>
            </a:r>
            <a:endParaRPr lang="en-US" sz="2600" dirty="0"/>
          </a:p>
        </p:txBody>
      </p:sp>
      <p:sp>
        <p:nvSpPr>
          <p:cNvPr id="6" name="Shape 4"/>
          <p:cNvSpPr/>
          <p:nvPr/>
        </p:nvSpPr>
        <p:spPr>
          <a:xfrm>
            <a:off x="347472" y="1133856"/>
            <a:ext cx="4114800" cy="749808"/>
          </a:xfrm>
          <a:prstGeom prst="roundRect">
            <a:avLst>
              <a:gd name="adj" fmla="val 7317"/>
            </a:avLst>
          </a:prstGeom>
          <a:solidFill>
            <a:srgbClr val="FDF0EA"/>
          </a:solidFill>
          <a:ln w="12700">
            <a:solidFill>
              <a:srgbClr val="B5451B"/>
            </a:solidFill>
            <a:prstDash val="solid"/>
          </a:ln>
        </p:spPr>
      </p:sp>
      <p:sp>
        <p:nvSpPr>
          <p:cNvPr id="7" name="Text 5"/>
          <p:cNvSpPr/>
          <p:nvPr/>
        </p:nvSpPr>
        <p:spPr>
          <a:xfrm>
            <a:off x="475488" y="1280160"/>
            <a:ext cx="640080" cy="402336"/>
          </a:xfrm>
          <a:prstGeom prst="rect">
            <a:avLst/>
          </a:prstGeom>
          <a:noFill/>
          <a:ln/>
        </p:spPr>
        <p:txBody>
          <a:bodyPr wrap="square" rtlCol="0" anchor="ctr"/>
          <a:lstStyle/>
          <a:p>
            <a:pPr indent="0" marL="0">
              <a:buNone/>
            </a:pPr>
            <a:r>
              <a:rPr lang="en-US" sz="1800" b="1" dirty="0">
                <a:solidFill>
                  <a:srgbClr val="B5451B"/>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1152144" y="1298448"/>
            <a:ext cx="3108960" cy="402336"/>
          </a:xfrm>
          <a:prstGeom prst="rect">
            <a:avLst/>
          </a:prstGeom>
          <a:noFill/>
          <a:ln/>
        </p:spPr>
        <p:txBody>
          <a:bodyPr wrap="square" rtlCol="0" anchor="ctr"/>
          <a:lstStyle/>
          <a:p>
            <a:pPr indent="0" marL="0">
              <a:buNone/>
            </a:pPr>
            <a:r>
              <a:rPr lang="en-US" sz="1500" b="1" dirty="0">
                <a:solidFill>
                  <a:srgbClr val="2B1F0F"/>
                </a:solidFill>
                <a:latin typeface="Calibri" pitchFamily="34" charset="0"/>
                <a:ea typeface="Calibri" pitchFamily="34" charset="-122"/>
                <a:cs typeface="Calibri" pitchFamily="34" charset="-120"/>
              </a:rPr>
              <a:t>Define Your Scope</a:t>
            </a:r>
            <a:endParaRPr lang="en-US" sz="1500" dirty="0"/>
          </a:p>
        </p:txBody>
      </p:sp>
      <p:sp>
        <p:nvSpPr>
          <p:cNvPr id="9" name="Shape 7"/>
          <p:cNvSpPr/>
          <p:nvPr/>
        </p:nvSpPr>
        <p:spPr>
          <a:xfrm>
            <a:off x="4572000" y="1133856"/>
            <a:ext cx="4114800" cy="749808"/>
          </a:xfrm>
          <a:prstGeom prst="roundRect">
            <a:avLst>
              <a:gd name="adj" fmla="val 7317"/>
            </a:avLst>
          </a:prstGeom>
          <a:solidFill>
            <a:srgbClr val="FDF8E8"/>
          </a:solidFill>
          <a:ln w="12700">
            <a:solidFill>
              <a:srgbClr val="8C6914"/>
            </a:solidFill>
            <a:prstDash val="solid"/>
          </a:ln>
        </p:spPr>
      </p:sp>
      <p:sp>
        <p:nvSpPr>
          <p:cNvPr id="10" name="Text 8"/>
          <p:cNvSpPr/>
          <p:nvPr/>
        </p:nvSpPr>
        <p:spPr>
          <a:xfrm>
            <a:off x="4700016" y="1280160"/>
            <a:ext cx="640080" cy="402336"/>
          </a:xfrm>
          <a:prstGeom prst="rect">
            <a:avLst/>
          </a:prstGeom>
          <a:noFill/>
          <a:ln/>
        </p:spPr>
        <p:txBody>
          <a:bodyPr wrap="square" rtlCol="0" anchor="ctr"/>
          <a:lstStyle/>
          <a:p>
            <a:pPr indent="0" marL="0">
              <a:buNone/>
            </a:pPr>
            <a:r>
              <a:rPr lang="en-US" sz="1800" b="1" dirty="0">
                <a:solidFill>
                  <a:srgbClr val="8C6914"/>
                </a:solidFill>
                <a:latin typeface="Calibri" pitchFamily="34" charset="0"/>
                <a:ea typeface="Calibri" pitchFamily="34" charset="-122"/>
                <a:cs typeface="Calibri" pitchFamily="34" charset="-120"/>
              </a:rPr>
              <a:t>02</a:t>
            </a:r>
            <a:endParaRPr lang="en-US" sz="1800" dirty="0"/>
          </a:p>
        </p:txBody>
      </p:sp>
      <p:sp>
        <p:nvSpPr>
          <p:cNvPr id="11" name="Text 9"/>
          <p:cNvSpPr/>
          <p:nvPr/>
        </p:nvSpPr>
        <p:spPr>
          <a:xfrm>
            <a:off x="5376672" y="1298448"/>
            <a:ext cx="3108960" cy="402336"/>
          </a:xfrm>
          <a:prstGeom prst="rect">
            <a:avLst/>
          </a:prstGeom>
          <a:noFill/>
          <a:ln/>
        </p:spPr>
        <p:txBody>
          <a:bodyPr wrap="square" rtlCol="0" anchor="ctr"/>
          <a:lstStyle/>
          <a:p>
            <a:pPr indent="0" marL="0">
              <a:buNone/>
            </a:pPr>
            <a:r>
              <a:rPr lang="en-US" sz="1500" b="1" dirty="0">
                <a:solidFill>
                  <a:srgbClr val="2B1F0F"/>
                </a:solidFill>
                <a:latin typeface="Calibri" pitchFamily="34" charset="0"/>
                <a:ea typeface="Calibri" pitchFamily="34" charset="-122"/>
                <a:cs typeface="Calibri" pitchFamily="34" charset="-120"/>
              </a:rPr>
              <a:t>Make a Plan</a:t>
            </a:r>
            <a:endParaRPr lang="en-US" sz="1500" dirty="0"/>
          </a:p>
        </p:txBody>
      </p:sp>
      <p:sp>
        <p:nvSpPr>
          <p:cNvPr id="12" name="Shape 10"/>
          <p:cNvSpPr/>
          <p:nvPr/>
        </p:nvSpPr>
        <p:spPr>
          <a:xfrm>
            <a:off x="347472" y="2157984"/>
            <a:ext cx="4114800" cy="749808"/>
          </a:xfrm>
          <a:prstGeom prst="roundRect">
            <a:avLst>
              <a:gd name="adj" fmla="val 7317"/>
            </a:avLst>
          </a:prstGeom>
          <a:solidFill>
            <a:srgbClr val="FDF0EA"/>
          </a:solidFill>
          <a:ln w="12700">
            <a:solidFill>
              <a:srgbClr val="B5451B"/>
            </a:solidFill>
            <a:prstDash val="solid"/>
          </a:ln>
        </p:spPr>
      </p:sp>
      <p:sp>
        <p:nvSpPr>
          <p:cNvPr id="13" name="Text 11"/>
          <p:cNvSpPr/>
          <p:nvPr/>
        </p:nvSpPr>
        <p:spPr>
          <a:xfrm>
            <a:off x="475488" y="2304288"/>
            <a:ext cx="640080" cy="402336"/>
          </a:xfrm>
          <a:prstGeom prst="rect">
            <a:avLst/>
          </a:prstGeom>
          <a:noFill/>
          <a:ln/>
        </p:spPr>
        <p:txBody>
          <a:bodyPr wrap="square" rtlCol="0" anchor="ctr"/>
          <a:lstStyle/>
          <a:p>
            <a:pPr indent="0" marL="0">
              <a:buNone/>
            </a:pPr>
            <a:r>
              <a:rPr lang="en-US" sz="1800" b="1" dirty="0">
                <a:solidFill>
                  <a:srgbClr val="B5451B"/>
                </a:solidFill>
                <a:latin typeface="Calibri" pitchFamily="34" charset="0"/>
                <a:ea typeface="Calibri" pitchFamily="34" charset="-122"/>
                <a:cs typeface="Calibri" pitchFamily="34" charset="-120"/>
              </a:rPr>
              <a:t>03</a:t>
            </a:r>
            <a:endParaRPr lang="en-US" sz="1800" dirty="0"/>
          </a:p>
        </p:txBody>
      </p:sp>
      <p:sp>
        <p:nvSpPr>
          <p:cNvPr id="14" name="Text 12"/>
          <p:cNvSpPr/>
          <p:nvPr/>
        </p:nvSpPr>
        <p:spPr>
          <a:xfrm>
            <a:off x="1152144" y="2322576"/>
            <a:ext cx="3108960" cy="402336"/>
          </a:xfrm>
          <a:prstGeom prst="rect">
            <a:avLst/>
          </a:prstGeom>
          <a:noFill/>
          <a:ln/>
        </p:spPr>
        <p:txBody>
          <a:bodyPr wrap="square" rtlCol="0" anchor="ctr"/>
          <a:lstStyle/>
          <a:p>
            <a:pPr indent="0" marL="0">
              <a:buNone/>
            </a:pPr>
            <a:r>
              <a:rPr lang="en-US" sz="1500" b="1" dirty="0">
                <a:solidFill>
                  <a:srgbClr val="2B1F0F"/>
                </a:solidFill>
                <a:latin typeface="Calibri" pitchFamily="34" charset="0"/>
                <a:ea typeface="Calibri" pitchFamily="34" charset="-122"/>
                <a:cs typeface="Calibri" pitchFamily="34" charset="-120"/>
              </a:rPr>
              <a:t>Map Your Timeline</a:t>
            </a:r>
            <a:endParaRPr lang="en-US" sz="1500" dirty="0"/>
          </a:p>
        </p:txBody>
      </p:sp>
      <p:sp>
        <p:nvSpPr>
          <p:cNvPr id="15" name="Shape 13"/>
          <p:cNvSpPr/>
          <p:nvPr/>
        </p:nvSpPr>
        <p:spPr>
          <a:xfrm>
            <a:off x="4572000" y="2157984"/>
            <a:ext cx="4114800" cy="749808"/>
          </a:xfrm>
          <a:prstGeom prst="roundRect">
            <a:avLst>
              <a:gd name="adj" fmla="val 7317"/>
            </a:avLst>
          </a:prstGeom>
          <a:solidFill>
            <a:srgbClr val="EEF6EF"/>
          </a:solidFill>
          <a:ln w="12700">
            <a:solidFill>
              <a:srgbClr val="3D6145"/>
            </a:solidFill>
            <a:prstDash val="solid"/>
          </a:ln>
        </p:spPr>
      </p:sp>
      <p:sp>
        <p:nvSpPr>
          <p:cNvPr id="16" name="Text 14"/>
          <p:cNvSpPr/>
          <p:nvPr/>
        </p:nvSpPr>
        <p:spPr>
          <a:xfrm>
            <a:off x="4700016" y="2304288"/>
            <a:ext cx="640080" cy="402336"/>
          </a:xfrm>
          <a:prstGeom prst="rect">
            <a:avLst/>
          </a:prstGeom>
          <a:noFill/>
          <a:ln/>
        </p:spPr>
        <p:txBody>
          <a:bodyPr wrap="square" rtlCol="0" anchor="ctr"/>
          <a:lstStyle/>
          <a:p>
            <a:pPr indent="0" marL="0">
              <a:buNone/>
            </a:pPr>
            <a:r>
              <a:rPr lang="en-US" sz="1800" b="1" dirty="0">
                <a:solidFill>
                  <a:srgbClr val="3D6145"/>
                </a:solidFill>
                <a:latin typeface="Calibri" pitchFamily="34" charset="0"/>
                <a:ea typeface="Calibri" pitchFamily="34" charset="-122"/>
                <a:cs typeface="Calibri" pitchFamily="34" charset="-120"/>
              </a:rPr>
              <a:t>04</a:t>
            </a:r>
            <a:endParaRPr lang="en-US" sz="1800" dirty="0"/>
          </a:p>
        </p:txBody>
      </p:sp>
      <p:sp>
        <p:nvSpPr>
          <p:cNvPr id="17" name="Text 15"/>
          <p:cNvSpPr/>
          <p:nvPr/>
        </p:nvSpPr>
        <p:spPr>
          <a:xfrm>
            <a:off x="5376672" y="2322576"/>
            <a:ext cx="3108960" cy="402336"/>
          </a:xfrm>
          <a:prstGeom prst="rect">
            <a:avLst/>
          </a:prstGeom>
          <a:noFill/>
          <a:ln/>
        </p:spPr>
        <p:txBody>
          <a:bodyPr wrap="square" rtlCol="0" anchor="ctr"/>
          <a:lstStyle/>
          <a:p>
            <a:pPr indent="0" marL="0">
              <a:buNone/>
            </a:pPr>
            <a:r>
              <a:rPr lang="en-US" sz="1500" b="1" dirty="0">
                <a:solidFill>
                  <a:srgbClr val="2B1F0F"/>
                </a:solidFill>
                <a:latin typeface="Calibri" pitchFamily="34" charset="0"/>
                <a:ea typeface="Calibri" pitchFamily="34" charset="-122"/>
                <a:cs typeface="Calibri" pitchFamily="34" charset="-120"/>
              </a:rPr>
              <a:t>Assess the Risks</a:t>
            </a:r>
            <a:endParaRPr lang="en-US" sz="1500" dirty="0"/>
          </a:p>
        </p:txBody>
      </p:sp>
      <p:sp>
        <p:nvSpPr>
          <p:cNvPr id="18" name="Shape 16"/>
          <p:cNvSpPr/>
          <p:nvPr/>
        </p:nvSpPr>
        <p:spPr>
          <a:xfrm>
            <a:off x="347472" y="3182112"/>
            <a:ext cx="4114800" cy="749808"/>
          </a:xfrm>
          <a:prstGeom prst="roundRect">
            <a:avLst>
              <a:gd name="adj" fmla="val 7317"/>
            </a:avLst>
          </a:prstGeom>
          <a:solidFill>
            <a:srgbClr val="FDF0EA"/>
          </a:solidFill>
          <a:ln w="12700">
            <a:solidFill>
              <a:srgbClr val="B5451B"/>
            </a:solidFill>
            <a:prstDash val="solid"/>
          </a:ln>
        </p:spPr>
      </p:sp>
      <p:sp>
        <p:nvSpPr>
          <p:cNvPr id="19" name="Text 17"/>
          <p:cNvSpPr/>
          <p:nvPr/>
        </p:nvSpPr>
        <p:spPr>
          <a:xfrm>
            <a:off x="475488" y="3328416"/>
            <a:ext cx="640080" cy="402336"/>
          </a:xfrm>
          <a:prstGeom prst="rect">
            <a:avLst/>
          </a:prstGeom>
          <a:noFill/>
          <a:ln/>
        </p:spPr>
        <p:txBody>
          <a:bodyPr wrap="square" rtlCol="0" anchor="ctr"/>
          <a:lstStyle/>
          <a:p>
            <a:pPr indent="0" marL="0">
              <a:buNone/>
            </a:pPr>
            <a:r>
              <a:rPr lang="en-US" sz="1800" b="1" dirty="0">
                <a:solidFill>
                  <a:srgbClr val="B5451B"/>
                </a:solidFill>
                <a:latin typeface="Calibri" pitchFamily="34" charset="0"/>
                <a:ea typeface="Calibri" pitchFamily="34" charset="-122"/>
                <a:cs typeface="Calibri" pitchFamily="34" charset="-120"/>
              </a:rPr>
              <a:t>05</a:t>
            </a:r>
            <a:endParaRPr lang="en-US" sz="1800" dirty="0"/>
          </a:p>
        </p:txBody>
      </p:sp>
      <p:sp>
        <p:nvSpPr>
          <p:cNvPr id="20" name="Text 18"/>
          <p:cNvSpPr/>
          <p:nvPr/>
        </p:nvSpPr>
        <p:spPr>
          <a:xfrm>
            <a:off x="1152144" y="3346704"/>
            <a:ext cx="3108960" cy="402336"/>
          </a:xfrm>
          <a:prstGeom prst="rect">
            <a:avLst/>
          </a:prstGeom>
          <a:noFill/>
          <a:ln/>
        </p:spPr>
        <p:txBody>
          <a:bodyPr wrap="square" rtlCol="0" anchor="ctr"/>
          <a:lstStyle/>
          <a:p>
            <a:pPr indent="0" marL="0">
              <a:buNone/>
            </a:pPr>
            <a:r>
              <a:rPr lang="en-US" sz="1500" b="1" dirty="0">
                <a:solidFill>
                  <a:srgbClr val="2B1F0F"/>
                </a:solidFill>
                <a:latin typeface="Calibri" pitchFamily="34" charset="0"/>
                <a:ea typeface="Calibri" pitchFamily="34" charset="-122"/>
                <a:cs typeface="Calibri" pitchFamily="34" charset="-120"/>
              </a:rPr>
              <a:t>Work with Stakeholders</a:t>
            </a:r>
            <a:endParaRPr lang="en-US" sz="1500" dirty="0"/>
          </a:p>
        </p:txBody>
      </p:sp>
      <p:sp>
        <p:nvSpPr>
          <p:cNvPr id="21" name="Shape 19"/>
          <p:cNvSpPr/>
          <p:nvPr/>
        </p:nvSpPr>
        <p:spPr>
          <a:xfrm>
            <a:off x="4572000" y="3182112"/>
            <a:ext cx="4114800" cy="749808"/>
          </a:xfrm>
          <a:prstGeom prst="roundRect">
            <a:avLst>
              <a:gd name="adj" fmla="val 7317"/>
            </a:avLst>
          </a:prstGeom>
          <a:solidFill>
            <a:srgbClr val="FDF8E8"/>
          </a:solidFill>
          <a:ln w="12700">
            <a:solidFill>
              <a:srgbClr val="8C6914"/>
            </a:solidFill>
            <a:prstDash val="solid"/>
          </a:ln>
        </p:spPr>
      </p:sp>
      <p:sp>
        <p:nvSpPr>
          <p:cNvPr id="22" name="Text 20"/>
          <p:cNvSpPr/>
          <p:nvPr/>
        </p:nvSpPr>
        <p:spPr>
          <a:xfrm>
            <a:off x="4700016" y="3328416"/>
            <a:ext cx="640080" cy="402336"/>
          </a:xfrm>
          <a:prstGeom prst="rect">
            <a:avLst/>
          </a:prstGeom>
          <a:noFill/>
          <a:ln/>
        </p:spPr>
        <p:txBody>
          <a:bodyPr wrap="square" rtlCol="0" anchor="ctr"/>
          <a:lstStyle/>
          <a:p>
            <a:pPr indent="0" marL="0">
              <a:buNone/>
            </a:pPr>
            <a:r>
              <a:rPr lang="en-US" sz="1800" b="1" dirty="0">
                <a:solidFill>
                  <a:srgbClr val="8C6914"/>
                </a:solidFill>
                <a:latin typeface="Calibri" pitchFamily="34" charset="0"/>
                <a:ea typeface="Calibri" pitchFamily="34" charset="-122"/>
                <a:cs typeface="Calibri" pitchFamily="34" charset="-120"/>
              </a:rPr>
              <a:t>06</a:t>
            </a:r>
            <a:endParaRPr lang="en-US" sz="1800" dirty="0"/>
          </a:p>
        </p:txBody>
      </p:sp>
      <p:sp>
        <p:nvSpPr>
          <p:cNvPr id="23" name="Text 21"/>
          <p:cNvSpPr/>
          <p:nvPr/>
        </p:nvSpPr>
        <p:spPr>
          <a:xfrm>
            <a:off x="5376672" y="3346704"/>
            <a:ext cx="3108960" cy="402336"/>
          </a:xfrm>
          <a:prstGeom prst="rect">
            <a:avLst/>
          </a:prstGeom>
          <a:noFill/>
          <a:ln/>
        </p:spPr>
        <p:txBody>
          <a:bodyPr wrap="square" rtlCol="0" anchor="ctr"/>
          <a:lstStyle/>
          <a:p>
            <a:pPr indent="0" marL="0">
              <a:buNone/>
            </a:pPr>
            <a:r>
              <a:rPr lang="en-US" sz="1500" b="1" dirty="0">
                <a:solidFill>
                  <a:srgbClr val="2B1F0F"/>
                </a:solidFill>
                <a:latin typeface="Calibri" pitchFamily="34" charset="0"/>
                <a:ea typeface="Calibri" pitchFamily="34" charset="-122"/>
                <a:cs typeface="Calibri" pitchFamily="34" charset="-120"/>
              </a:rPr>
              <a:t>Collaborate with Your Team</a:t>
            </a:r>
            <a:endParaRPr lang="en-US" sz="1500" dirty="0"/>
          </a:p>
        </p:txBody>
      </p:sp>
      <p:sp>
        <p:nvSpPr>
          <p:cNvPr id="24" name="Shape 22"/>
          <p:cNvSpPr/>
          <p:nvPr/>
        </p:nvSpPr>
        <p:spPr>
          <a:xfrm>
            <a:off x="2331720" y="4206240"/>
            <a:ext cx="4480560" cy="749808"/>
          </a:xfrm>
          <a:prstGeom prst="roundRect">
            <a:avLst>
              <a:gd name="adj" fmla="val 7317"/>
            </a:avLst>
          </a:prstGeom>
          <a:solidFill>
            <a:srgbClr val="EEF6EF"/>
          </a:solidFill>
          <a:ln w="12700">
            <a:solidFill>
              <a:srgbClr val="3D6145"/>
            </a:solidFill>
            <a:prstDash val="solid"/>
          </a:ln>
        </p:spPr>
      </p:sp>
      <p:sp>
        <p:nvSpPr>
          <p:cNvPr id="25" name="Text 23"/>
          <p:cNvSpPr/>
          <p:nvPr/>
        </p:nvSpPr>
        <p:spPr>
          <a:xfrm>
            <a:off x="2459736" y="4352544"/>
            <a:ext cx="640080" cy="402336"/>
          </a:xfrm>
          <a:prstGeom prst="rect">
            <a:avLst/>
          </a:prstGeom>
          <a:noFill/>
          <a:ln/>
        </p:spPr>
        <p:txBody>
          <a:bodyPr wrap="square" rtlCol="0" anchor="ctr"/>
          <a:lstStyle/>
          <a:p>
            <a:pPr indent="0" marL="0">
              <a:buNone/>
            </a:pPr>
            <a:r>
              <a:rPr lang="en-US" sz="1800" b="1" dirty="0">
                <a:solidFill>
                  <a:srgbClr val="3D6145"/>
                </a:solidFill>
                <a:latin typeface="Calibri" pitchFamily="34" charset="0"/>
                <a:ea typeface="Calibri" pitchFamily="34" charset="-122"/>
                <a:cs typeface="Calibri" pitchFamily="34" charset="-120"/>
              </a:rPr>
              <a:t>07</a:t>
            </a:r>
            <a:endParaRPr lang="en-US" sz="1800" dirty="0"/>
          </a:p>
        </p:txBody>
      </p:sp>
      <p:sp>
        <p:nvSpPr>
          <p:cNvPr id="26" name="Text 24"/>
          <p:cNvSpPr/>
          <p:nvPr/>
        </p:nvSpPr>
        <p:spPr>
          <a:xfrm>
            <a:off x="3136392" y="4370832"/>
            <a:ext cx="3474720" cy="402336"/>
          </a:xfrm>
          <a:prstGeom prst="rect">
            <a:avLst/>
          </a:prstGeom>
          <a:noFill/>
          <a:ln/>
        </p:spPr>
        <p:txBody>
          <a:bodyPr wrap="square" rtlCol="0" anchor="ctr"/>
          <a:lstStyle/>
          <a:p>
            <a:pPr indent="0" marL="0">
              <a:buNone/>
            </a:pPr>
            <a:r>
              <a:rPr lang="en-US" sz="1500" b="1" dirty="0">
                <a:solidFill>
                  <a:srgbClr val="2B1F0F"/>
                </a:solidFill>
                <a:latin typeface="Calibri" pitchFamily="34" charset="0"/>
                <a:ea typeface="Calibri" pitchFamily="34" charset="-122"/>
                <a:cs typeface="Calibri" pitchFamily="34" charset="-120"/>
              </a:rPr>
              <a:t>Run a Retrospective</a:t>
            </a:r>
            <a:endParaRPr lang="en-US" sz="1500" dirty="0"/>
          </a:p>
        </p:txBody>
      </p:sp>
      <p:sp>
        <p:nvSpPr>
          <p:cNvPr id="27" name="Text 25"/>
          <p:cNvSpPr/>
          <p:nvPr/>
        </p:nvSpPr>
        <p:spPr>
          <a:xfrm>
            <a:off x="7863840" y="6217920"/>
            <a:ext cx="1097280" cy="228600"/>
          </a:xfrm>
          <a:prstGeom prst="rect">
            <a:avLst/>
          </a:prstGeom>
          <a:noFill/>
          <a:ln/>
        </p:spPr>
        <p:txBody>
          <a:bodyPr wrap="square" rtlCol="0" anchor="ctr"/>
          <a:lstStyle/>
          <a:p>
            <a:pPr algn="r" indent="0" marL="0">
              <a:buNone/>
            </a:pPr>
            <a:r>
              <a:rPr lang="en-US" sz="900" dirty="0">
                <a:solidFill>
                  <a:srgbClr val="C8BCA8"/>
                </a:solidFill>
                <a:latin typeface="Calibri" pitchFamily="34" charset="0"/>
                <a:ea typeface="Calibri" pitchFamily="34" charset="-122"/>
                <a:cs typeface="Calibri"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6EE"/>
          </a:solidFill>
          <a:ln w="12700">
            <a:solidFill>
              <a:srgbClr val="FBF6EE"/>
            </a:solidFill>
            <a:prstDash val="solid"/>
          </a:ln>
        </p:spPr>
      </p:sp>
      <p:sp>
        <p:nvSpPr>
          <p:cNvPr id="3" name="Shape 1"/>
          <p:cNvSpPr/>
          <p:nvPr/>
        </p:nvSpPr>
        <p:spPr>
          <a:xfrm>
            <a:off x="0" y="0"/>
            <a:ext cx="164592" cy="5143500"/>
          </a:xfrm>
          <a:prstGeom prst="rect">
            <a:avLst/>
          </a:prstGeom>
          <a:solidFill>
            <a:srgbClr val="B5451B"/>
          </a:solidFill>
          <a:ln w="12700">
            <a:solidFill>
              <a:srgbClr val="B5451B"/>
            </a:solidFill>
            <a:prstDash val="solid"/>
          </a:ln>
        </p:spPr>
      </p:sp>
      <p:sp>
        <p:nvSpPr>
          <p:cNvPr id="4" name="Shape 2"/>
          <p:cNvSpPr/>
          <p:nvPr/>
        </p:nvSpPr>
        <p:spPr>
          <a:xfrm>
            <a:off x="411480" y="201168"/>
            <a:ext cx="1289304" cy="292608"/>
          </a:xfrm>
          <a:prstGeom prst="roundRect">
            <a:avLst>
              <a:gd name="adj" fmla="val 25000"/>
            </a:avLst>
          </a:prstGeom>
          <a:solidFill>
            <a:srgbClr val="F0C9B0"/>
          </a:solidFill>
          <a:ln w="12700">
            <a:solidFill>
              <a:srgbClr val="F0C9B0"/>
            </a:solidFill>
            <a:prstDash val="solid"/>
          </a:ln>
        </p:spPr>
      </p:sp>
      <p:sp>
        <p:nvSpPr>
          <p:cNvPr id="5" name="Text 3"/>
          <p:cNvSpPr/>
          <p:nvPr/>
        </p:nvSpPr>
        <p:spPr>
          <a:xfrm>
            <a:off x="448056" y="219456"/>
            <a:ext cx="1216152" cy="256032"/>
          </a:xfrm>
          <a:prstGeom prst="rect">
            <a:avLst/>
          </a:prstGeom>
          <a:noFill/>
          <a:ln/>
        </p:spPr>
        <p:txBody>
          <a:bodyPr wrap="square" rtlCol="0" anchor="ctr"/>
          <a:lstStyle/>
          <a:p>
            <a:pPr indent="0" marL="0">
              <a:buNone/>
            </a:pPr>
            <a:r>
              <a:rPr lang="en-US" sz="1100" b="1" dirty="0">
                <a:solidFill>
                  <a:srgbClr val="B5451B"/>
                </a:solidFill>
                <a:latin typeface="Calibri" pitchFamily="34" charset="0"/>
                <a:ea typeface="Calibri" pitchFamily="34" charset="-122"/>
                <a:cs typeface="Calibri" pitchFamily="34" charset="-120"/>
              </a:rPr>
              <a:t>Step 01</a:t>
            </a:r>
            <a:endParaRPr lang="en-US" sz="1100" dirty="0"/>
          </a:p>
        </p:txBody>
      </p:sp>
      <p:sp>
        <p:nvSpPr>
          <p:cNvPr id="6" name="Text 4"/>
          <p:cNvSpPr/>
          <p:nvPr/>
        </p:nvSpPr>
        <p:spPr>
          <a:xfrm>
            <a:off x="411480" y="512064"/>
            <a:ext cx="8321040" cy="548640"/>
          </a:xfrm>
          <a:prstGeom prst="rect">
            <a:avLst/>
          </a:prstGeom>
          <a:noFill/>
          <a:ln/>
        </p:spPr>
        <p:txBody>
          <a:bodyPr wrap="square" rtlCol="0" anchor="ctr"/>
          <a:lstStyle/>
          <a:p>
            <a:pPr indent="0" marL="0">
              <a:buNone/>
            </a:pPr>
            <a:r>
              <a:rPr lang="en-US" sz="3000" b="1" dirty="0">
                <a:solidFill>
                  <a:srgbClr val="2B1F0F"/>
                </a:solidFill>
                <a:latin typeface="Georgia" pitchFamily="34" charset="0"/>
                <a:ea typeface="Georgia" pitchFamily="34" charset="-122"/>
                <a:cs typeface="Georgia" pitchFamily="34" charset="-120"/>
              </a:rPr>
              <a:t>Define Your Scope</a:t>
            </a:r>
            <a:endParaRPr lang="en-US" sz="3000" dirty="0"/>
          </a:p>
        </p:txBody>
      </p:sp>
      <p:sp>
        <p:nvSpPr>
          <p:cNvPr id="7" name="Shape 5"/>
          <p:cNvSpPr/>
          <p:nvPr/>
        </p:nvSpPr>
        <p:spPr>
          <a:xfrm>
            <a:off x="347472" y="1188720"/>
            <a:ext cx="4160520" cy="4114800"/>
          </a:xfrm>
          <a:prstGeom prst="roundRect">
            <a:avLst>
              <a:gd name="adj" fmla="val 1556"/>
            </a:avLst>
          </a:prstGeom>
          <a:solidFill>
            <a:srgbClr val="FDF0EA"/>
          </a:solidFill>
          <a:ln w="12700">
            <a:solidFill>
              <a:srgbClr val="F0C9B0"/>
            </a:solidFill>
            <a:prstDash val="solid"/>
          </a:ln>
        </p:spPr>
      </p:sp>
      <p:sp>
        <p:nvSpPr>
          <p:cNvPr id="8" name="Text 6"/>
          <p:cNvSpPr/>
          <p:nvPr/>
        </p:nvSpPr>
        <p:spPr>
          <a:xfrm>
            <a:off x="548640" y="1325880"/>
            <a:ext cx="3749040" cy="347472"/>
          </a:xfrm>
          <a:prstGeom prst="rect">
            <a:avLst/>
          </a:prstGeom>
          <a:noFill/>
          <a:ln/>
        </p:spPr>
        <p:txBody>
          <a:bodyPr wrap="square" rtlCol="0" anchor="ctr"/>
          <a:lstStyle/>
          <a:p>
            <a:pPr indent="0" marL="0">
              <a:buNone/>
            </a:pPr>
            <a:r>
              <a:rPr lang="en-US" sz="1400" b="1" dirty="0">
                <a:solidFill>
                  <a:srgbClr val="B5451B"/>
                </a:solidFill>
                <a:latin typeface="Georgia" pitchFamily="34" charset="0"/>
                <a:ea typeface="Georgia" pitchFamily="34" charset="-122"/>
                <a:cs typeface="Georgia" pitchFamily="34" charset="-120"/>
              </a:rPr>
              <a:t>At the Table</a:t>
            </a:r>
            <a:endParaRPr lang="en-US" sz="1400" dirty="0"/>
          </a:p>
        </p:txBody>
      </p:sp>
      <p:sp>
        <p:nvSpPr>
          <p:cNvPr id="9" name="Shape 7"/>
          <p:cNvSpPr/>
          <p:nvPr/>
        </p:nvSpPr>
        <p:spPr>
          <a:xfrm>
            <a:off x="548640" y="1783080"/>
            <a:ext cx="164592" cy="164592"/>
          </a:xfrm>
          <a:prstGeom prst="ellipse">
            <a:avLst/>
          </a:prstGeom>
          <a:solidFill>
            <a:srgbClr val="B5451B"/>
          </a:solidFill>
          <a:ln w="12700">
            <a:solidFill>
              <a:srgbClr val="B5451B"/>
            </a:solidFill>
            <a:prstDash val="solid"/>
          </a:ln>
        </p:spPr>
      </p:sp>
      <p:sp>
        <p:nvSpPr>
          <p:cNvPr id="10" name="Text 8"/>
          <p:cNvSpPr/>
          <p:nvPr/>
        </p:nvSpPr>
        <p:spPr>
          <a:xfrm>
            <a:off x="804672" y="1737360"/>
            <a:ext cx="3474720" cy="347472"/>
          </a:xfrm>
          <a:prstGeom prst="rect">
            <a:avLst/>
          </a:prstGeom>
          <a:noFill/>
          <a:ln/>
        </p:spPr>
        <p:txBody>
          <a:bodyPr wrap="square" rtlCol="0" anchor="ctr"/>
          <a:lstStyle/>
          <a:p>
            <a:pPr indent="0" marL="0">
              <a:buNone/>
            </a:pPr>
            <a:r>
              <a:rPr lang="en-US" sz="1300" dirty="0">
                <a:solidFill>
                  <a:srgbClr val="2B1F0F"/>
                </a:solidFill>
                <a:latin typeface="Calibri" pitchFamily="34" charset="0"/>
                <a:ea typeface="Calibri" pitchFamily="34" charset="-122"/>
                <a:cs typeface="Calibri" pitchFamily="34" charset="-120"/>
              </a:rPr>
              <a:t>How many guests?</a:t>
            </a:r>
            <a:endParaRPr lang="en-US" sz="1300" dirty="0"/>
          </a:p>
        </p:txBody>
      </p:sp>
      <p:sp>
        <p:nvSpPr>
          <p:cNvPr id="11" name="Shape 9"/>
          <p:cNvSpPr/>
          <p:nvPr/>
        </p:nvSpPr>
        <p:spPr>
          <a:xfrm>
            <a:off x="548640" y="2331720"/>
            <a:ext cx="164592" cy="164592"/>
          </a:xfrm>
          <a:prstGeom prst="ellipse">
            <a:avLst/>
          </a:prstGeom>
          <a:solidFill>
            <a:srgbClr val="B5451B"/>
          </a:solidFill>
          <a:ln w="12700">
            <a:solidFill>
              <a:srgbClr val="B5451B"/>
            </a:solidFill>
            <a:prstDash val="solid"/>
          </a:ln>
        </p:spPr>
      </p:sp>
      <p:sp>
        <p:nvSpPr>
          <p:cNvPr id="12" name="Text 10"/>
          <p:cNvSpPr/>
          <p:nvPr/>
        </p:nvSpPr>
        <p:spPr>
          <a:xfrm>
            <a:off x="804672" y="2286000"/>
            <a:ext cx="3474720" cy="347472"/>
          </a:xfrm>
          <a:prstGeom prst="rect">
            <a:avLst/>
          </a:prstGeom>
          <a:noFill/>
          <a:ln/>
        </p:spPr>
        <p:txBody>
          <a:bodyPr wrap="square" rtlCol="0" anchor="ctr"/>
          <a:lstStyle/>
          <a:p>
            <a:pPr indent="0" marL="0">
              <a:buNone/>
            </a:pPr>
            <a:r>
              <a:rPr lang="en-US" sz="1300" dirty="0">
                <a:solidFill>
                  <a:srgbClr val="2B1F0F"/>
                </a:solidFill>
                <a:latin typeface="Calibri" pitchFamily="34" charset="0"/>
                <a:ea typeface="Calibri" pitchFamily="34" charset="-122"/>
                <a:cs typeface="Calibri" pitchFamily="34" charset="-120"/>
              </a:rPr>
              <a:t>Formal dinner or casual drop-in?</a:t>
            </a:r>
            <a:endParaRPr lang="en-US" sz="1300" dirty="0"/>
          </a:p>
        </p:txBody>
      </p:sp>
      <p:sp>
        <p:nvSpPr>
          <p:cNvPr id="13" name="Shape 11"/>
          <p:cNvSpPr/>
          <p:nvPr/>
        </p:nvSpPr>
        <p:spPr>
          <a:xfrm>
            <a:off x="548640" y="2880360"/>
            <a:ext cx="164592" cy="164592"/>
          </a:xfrm>
          <a:prstGeom prst="ellipse">
            <a:avLst/>
          </a:prstGeom>
          <a:solidFill>
            <a:srgbClr val="B5451B"/>
          </a:solidFill>
          <a:ln w="12700">
            <a:solidFill>
              <a:srgbClr val="B5451B"/>
            </a:solidFill>
            <a:prstDash val="solid"/>
          </a:ln>
        </p:spPr>
      </p:sp>
      <p:sp>
        <p:nvSpPr>
          <p:cNvPr id="14" name="Text 12"/>
          <p:cNvSpPr/>
          <p:nvPr/>
        </p:nvSpPr>
        <p:spPr>
          <a:xfrm>
            <a:off x="804672" y="2834640"/>
            <a:ext cx="3474720" cy="347472"/>
          </a:xfrm>
          <a:prstGeom prst="rect">
            <a:avLst/>
          </a:prstGeom>
          <a:noFill/>
          <a:ln/>
        </p:spPr>
        <p:txBody>
          <a:bodyPr wrap="square" rtlCol="0" anchor="ctr"/>
          <a:lstStyle/>
          <a:p>
            <a:pPr indent="0" marL="0">
              <a:buNone/>
            </a:pPr>
            <a:r>
              <a:rPr lang="en-US" sz="1300" dirty="0">
                <a:solidFill>
                  <a:srgbClr val="2B1F0F"/>
                </a:solidFill>
                <a:latin typeface="Calibri" pitchFamily="34" charset="0"/>
                <a:ea typeface="Calibri" pitchFamily="34" charset="-122"/>
                <a:cs typeface="Calibri" pitchFamily="34" charset="-120"/>
              </a:rPr>
              <a:t>Good china or paper plates?</a:t>
            </a:r>
            <a:endParaRPr lang="en-US" sz="1300" dirty="0"/>
          </a:p>
        </p:txBody>
      </p:sp>
      <p:sp>
        <p:nvSpPr>
          <p:cNvPr id="15" name="Shape 13"/>
          <p:cNvSpPr/>
          <p:nvPr/>
        </p:nvSpPr>
        <p:spPr>
          <a:xfrm>
            <a:off x="548640" y="3429000"/>
            <a:ext cx="164592" cy="164592"/>
          </a:xfrm>
          <a:prstGeom prst="ellipse">
            <a:avLst/>
          </a:prstGeom>
          <a:solidFill>
            <a:srgbClr val="B5451B"/>
          </a:solidFill>
          <a:ln w="12700">
            <a:solidFill>
              <a:srgbClr val="B5451B"/>
            </a:solidFill>
            <a:prstDash val="solid"/>
          </a:ln>
        </p:spPr>
      </p:sp>
      <p:sp>
        <p:nvSpPr>
          <p:cNvPr id="16" name="Text 14"/>
          <p:cNvSpPr/>
          <p:nvPr/>
        </p:nvSpPr>
        <p:spPr>
          <a:xfrm>
            <a:off x="804672" y="3383280"/>
            <a:ext cx="3474720" cy="347472"/>
          </a:xfrm>
          <a:prstGeom prst="rect">
            <a:avLst/>
          </a:prstGeom>
          <a:noFill/>
          <a:ln/>
        </p:spPr>
        <p:txBody>
          <a:bodyPr wrap="square" rtlCol="0" anchor="ctr"/>
          <a:lstStyle/>
          <a:p>
            <a:pPr indent="0" marL="0">
              <a:buNone/>
            </a:pPr>
            <a:r>
              <a:rPr lang="en-US" sz="1300" dirty="0">
                <a:solidFill>
                  <a:srgbClr val="2B1F0F"/>
                </a:solidFill>
                <a:latin typeface="Calibri" pitchFamily="34" charset="0"/>
                <a:ea typeface="Calibri" pitchFamily="34" charset="-122"/>
                <a:cs typeface="Calibri" pitchFamily="34" charset="-120"/>
              </a:rPr>
              <a:t>Strict 4pm sit-down or all-day affair?</a:t>
            </a:r>
            <a:endParaRPr lang="en-US" sz="1300" dirty="0"/>
          </a:p>
        </p:txBody>
      </p:sp>
      <p:sp>
        <p:nvSpPr>
          <p:cNvPr id="17" name="Shape 15"/>
          <p:cNvSpPr/>
          <p:nvPr/>
        </p:nvSpPr>
        <p:spPr>
          <a:xfrm>
            <a:off x="548640" y="3977640"/>
            <a:ext cx="164592" cy="164592"/>
          </a:xfrm>
          <a:prstGeom prst="ellipse">
            <a:avLst/>
          </a:prstGeom>
          <a:solidFill>
            <a:srgbClr val="B5451B"/>
          </a:solidFill>
          <a:ln w="12700">
            <a:solidFill>
              <a:srgbClr val="B5451B"/>
            </a:solidFill>
            <a:prstDash val="solid"/>
          </a:ln>
        </p:spPr>
      </p:sp>
      <p:sp>
        <p:nvSpPr>
          <p:cNvPr id="18" name="Text 16"/>
          <p:cNvSpPr/>
          <p:nvPr/>
        </p:nvSpPr>
        <p:spPr>
          <a:xfrm>
            <a:off x="804672" y="3931920"/>
            <a:ext cx="3474720" cy="347472"/>
          </a:xfrm>
          <a:prstGeom prst="rect">
            <a:avLst/>
          </a:prstGeom>
          <a:noFill/>
          <a:ln/>
        </p:spPr>
        <p:txBody>
          <a:bodyPr wrap="square" rtlCol="0" anchor="ctr"/>
          <a:lstStyle/>
          <a:p>
            <a:pPr indent="0" marL="0">
              <a:buNone/>
            </a:pPr>
            <a:r>
              <a:rPr lang="en-US" sz="1300" dirty="0">
                <a:solidFill>
                  <a:srgbClr val="2B1F0F"/>
                </a:solidFill>
                <a:latin typeface="Calibri" pitchFamily="34" charset="0"/>
                <a:ea typeface="Calibri" pitchFamily="34" charset="-122"/>
                <a:cs typeface="Calibri" pitchFamily="34" charset="-120"/>
              </a:rPr>
              <a:t>Dietary restrictions to account for?</a:t>
            </a:r>
            <a:endParaRPr lang="en-US" sz="1300" dirty="0"/>
          </a:p>
        </p:txBody>
      </p:sp>
      <p:sp>
        <p:nvSpPr>
          <p:cNvPr id="19" name="Shape 17"/>
          <p:cNvSpPr/>
          <p:nvPr/>
        </p:nvSpPr>
        <p:spPr>
          <a:xfrm>
            <a:off x="4645152" y="1188720"/>
            <a:ext cx="4160520" cy="4114800"/>
          </a:xfrm>
          <a:prstGeom prst="roundRect">
            <a:avLst>
              <a:gd name="adj" fmla="val 1556"/>
            </a:avLst>
          </a:prstGeom>
          <a:solidFill>
            <a:srgbClr val="F2EBD9"/>
          </a:solidFill>
          <a:ln w="12700">
            <a:solidFill>
              <a:srgbClr val="D0C4B0"/>
            </a:solidFill>
            <a:prstDash val="solid"/>
          </a:ln>
        </p:spPr>
      </p:sp>
      <p:sp>
        <p:nvSpPr>
          <p:cNvPr id="20" name="Text 18"/>
          <p:cNvSpPr/>
          <p:nvPr/>
        </p:nvSpPr>
        <p:spPr>
          <a:xfrm>
            <a:off x="4828032" y="1325880"/>
            <a:ext cx="3749040" cy="347472"/>
          </a:xfrm>
          <a:prstGeom prst="rect">
            <a:avLst/>
          </a:prstGeom>
          <a:noFill/>
          <a:ln/>
        </p:spPr>
        <p:txBody>
          <a:bodyPr wrap="square" rtlCol="0" anchor="ctr"/>
          <a:lstStyle/>
          <a:p>
            <a:pPr indent="0" marL="0">
              <a:buNone/>
            </a:pPr>
            <a:r>
              <a:rPr lang="en-US" sz="1400" b="1" dirty="0">
                <a:solidFill>
                  <a:srgbClr val="8C6914"/>
                </a:solidFill>
                <a:latin typeface="Georgia" pitchFamily="34" charset="0"/>
                <a:ea typeface="Georgia" pitchFamily="34" charset="-122"/>
                <a:cs typeface="Georgia" pitchFamily="34" charset="-120"/>
              </a:rPr>
              <a:t>At Work</a:t>
            </a:r>
            <a:endParaRPr lang="en-US" sz="1400" dirty="0"/>
          </a:p>
        </p:txBody>
      </p:sp>
      <p:sp>
        <p:nvSpPr>
          <p:cNvPr id="21" name="Shape 19"/>
          <p:cNvSpPr/>
          <p:nvPr/>
        </p:nvSpPr>
        <p:spPr>
          <a:xfrm>
            <a:off x="4828032" y="1783080"/>
            <a:ext cx="164592" cy="164592"/>
          </a:xfrm>
          <a:prstGeom prst="ellipse">
            <a:avLst/>
          </a:prstGeom>
          <a:solidFill>
            <a:srgbClr val="8C6914"/>
          </a:solidFill>
          <a:ln w="12700">
            <a:solidFill>
              <a:srgbClr val="8C6914"/>
            </a:solidFill>
            <a:prstDash val="solid"/>
          </a:ln>
        </p:spPr>
      </p:sp>
      <p:sp>
        <p:nvSpPr>
          <p:cNvPr id="22" name="Text 20"/>
          <p:cNvSpPr/>
          <p:nvPr/>
        </p:nvSpPr>
        <p:spPr>
          <a:xfrm>
            <a:off x="5084064" y="1737360"/>
            <a:ext cx="3474720" cy="347472"/>
          </a:xfrm>
          <a:prstGeom prst="rect">
            <a:avLst/>
          </a:prstGeom>
          <a:noFill/>
          <a:ln/>
        </p:spPr>
        <p:txBody>
          <a:bodyPr wrap="square" rtlCol="0" anchor="ctr"/>
          <a:lstStyle/>
          <a:p>
            <a:pPr indent="0" marL="0">
              <a:buNone/>
            </a:pPr>
            <a:r>
              <a:rPr lang="en-US" sz="1300" dirty="0">
                <a:solidFill>
                  <a:srgbClr val="2B1F0F"/>
                </a:solidFill>
                <a:latin typeface="Calibri" pitchFamily="34" charset="0"/>
                <a:ea typeface="Calibri" pitchFamily="34" charset="-122"/>
                <a:cs typeface="Calibri" pitchFamily="34" charset="-120"/>
              </a:rPr>
              <a:t>What are we actually delivering?</a:t>
            </a:r>
            <a:endParaRPr lang="en-US" sz="1300" dirty="0"/>
          </a:p>
        </p:txBody>
      </p:sp>
      <p:sp>
        <p:nvSpPr>
          <p:cNvPr id="23" name="Shape 21"/>
          <p:cNvSpPr/>
          <p:nvPr/>
        </p:nvSpPr>
        <p:spPr>
          <a:xfrm>
            <a:off x="4828032" y="2331720"/>
            <a:ext cx="164592" cy="164592"/>
          </a:xfrm>
          <a:prstGeom prst="ellipse">
            <a:avLst/>
          </a:prstGeom>
          <a:solidFill>
            <a:srgbClr val="8C6914"/>
          </a:solidFill>
          <a:ln w="12700">
            <a:solidFill>
              <a:srgbClr val="8C6914"/>
            </a:solidFill>
            <a:prstDash val="solid"/>
          </a:ln>
        </p:spPr>
      </p:sp>
      <p:sp>
        <p:nvSpPr>
          <p:cNvPr id="24" name="Text 22"/>
          <p:cNvSpPr/>
          <p:nvPr/>
        </p:nvSpPr>
        <p:spPr>
          <a:xfrm>
            <a:off x="5084064" y="2286000"/>
            <a:ext cx="3474720" cy="347472"/>
          </a:xfrm>
          <a:prstGeom prst="rect">
            <a:avLst/>
          </a:prstGeom>
          <a:noFill/>
          <a:ln/>
        </p:spPr>
        <p:txBody>
          <a:bodyPr wrap="square" rtlCol="0" anchor="ctr"/>
          <a:lstStyle/>
          <a:p>
            <a:pPr indent="0" marL="0">
              <a:buNone/>
            </a:pPr>
            <a:r>
              <a:rPr lang="en-US" sz="1300" dirty="0">
                <a:solidFill>
                  <a:srgbClr val="2B1F0F"/>
                </a:solidFill>
                <a:latin typeface="Calibri" pitchFamily="34" charset="0"/>
                <a:ea typeface="Calibri" pitchFamily="34" charset="-122"/>
                <a:cs typeface="Calibri" pitchFamily="34" charset="-120"/>
              </a:rPr>
              <a:t>Who is it for?</a:t>
            </a:r>
            <a:endParaRPr lang="en-US" sz="1300" dirty="0"/>
          </a:p>
        </p:txBody>
      </p:sp>
      <p:sp>
        <p:nvSpPr>
          <p:cNvPr id="25" name="Shape 23"/>
          <p:cNvSpPr/>
          <p:nvPr/>
        </p:nvSpPr>
        <p:spPr>
          <a:xfrm>
            <a:off x="4828032" y="2880360"/>
            <a:ext cx="164592" cy="164592"/>
          </a:xfrm>
          <a:prstGeom prst="ellipse">
            <a:avLst/>
          </a:prstGeom>
          <a:solidFill>
            <a:srgbClr val="8C6914"/>
          </a:solidFill>
          <a:ln w="12700">
            <a:solidFill>
              <a:srgbClr val="8C6914"/>
            </a:solidFill>
            <a:prstDash val="solid"/>
          </a:ln>
        </p:spPr>
      </p:sp>
      <p:sp>
        <p:nvSpPr>
          <p:cNvPr id="26" name="Text 24"/>
          <p:cNvSpPr/>
          <p:nvPr/>
        </p:nvSpPr>
        <p:spPr>
          <a:xfrm>
            <a:off x="5084064" y="2834640"/>
            <a:ext cx="3474720" cy="347472"/>
          </a:xfrm>
          <a:prstGeom prst="rect">
            <a:avLst/>
          </a:prstGeom>
          <a:noFill/>
          <a:ln/>
        </p:spPr>
        <p:txBody>
          <a:bodyPr wrap="square" rtlCol="0" anchor="ctr"/>
          <a:lstStyle/>
          <a:p>
            <a:pPr indent="0" marL="0">
              <a:buNone/>
            </a:pPr>
            <a:r>
              <a:rPr lang="en-US" sz="1300" dirty="0">
                <a:solidFill>
                  <a:srgbClr val="2B1F0F"/>
                </a:solidFill>
                <a:latin typeface="Calibri" pitchFamily="34" charset="0"/>
                <a:ea typeface="Calibri" pitchFamily="34" charset="-122"/>
                <a:cs typeface="Calibri" pitchFamily="34" charset="-120"/>
              </a:rPr>
              <a:t>What is explicitly NOT included?</a:t>
            </a:r>
            <a:endParaRPr lang="en-US" sz="1300" dirty="0"/>
          </a:p>
        </p:txBody>
      </p:sp>
      <p:sp>
        <p:nvSpPr>
          <p:cNvPr id="27" name="Shape 25"/>
          <p:cNvSpPr/>
          <p:nvPr/>
        </p:nvSpPr>
        <p:spPr>
          <a:xfrm>
            <a:off x="4828032" y="3429000"/>
            <a:ext cx="164592" cy="164592"/>
          </a:xfrm>
          <a:prstGeom prst="ellipse">
            <a:avLst/>
          </a:prstGeom>
          <a:solidFill>
            <a:srgbClr val="8C6914"/>
          </a:solidFill>
          <a:ln w="12700">
            <a:solidFill>
              <a:srgbClr val="8C6914"/>
            </a:solidFill>
            <a:prstDash val="solid"/>
          </a:ln>
        </p:spPr>
      </p:sp>
      <p:sp>
        <p:nvSpPr>
          <p:cNvPr id="28" name="Text 26"/>
          <p:cNvSpPr/>
          <p:nvPr/>
        </p:nvSpPr>
        <p:spPr>
          <a:xfrm>
            <a:off x="5084064" y="3383280"/>
            <a:ext cx="3474720" cy="347472"/>
          </a:xfrm>
          <a:prstGeom prst="rect">
            <a:avLst/>
          </a:prstGeom>
          <a:noFill/>
          <a:ln/>
        </p:spPr>
        <p:txBody>
          <a:bodyPr wrap="square" rtlCol="0" anchor="ctr"/>
          <a:lstStyle/>
          <a:p>
            <a:pPr indent="0" marL="0">
              <a:buNone/>
            </a:pPr>
            <a:r>
              <a:rPr lang="en-US" sz="1300" dirty="0">
                <a:solidFill>
                  <a:srgbClr val="2B1F0F"/>
                </a:solidFill>
                <a:latin typeface="Calibri" pitchFamily="34" charset="0"/>
                <a:ea typeface="Calibri" pitchFamily="34" charset="-122"/>
                <a:cs typeface="Calibri" pitchFamily="34" charset="-120"/>
              </a:rPr>
              <a:t>What does "done" look like?</a:t>
            </a:r>
            <a:endParaRPr lang="en-US" sz="1300" dirty="0"/>
          </a:p>
        </p:txBody>
      </p:sp>
      <p:sp>
        <p:nvSpPr>
          <p:cNvPr id="29" name="Shape 27"/>
          <p:cNvSpPr/>
          <p:nvPr/>
        </p:nvSpPr>
        <p:spPr>
          <a:xfrm>
            <a:off x="4828032" y="3977640"/>
            <a:ext cx="164592" cy="164592"/>
          </a:xfrm>
          <a:prstGeom prst="ellipse">
            <a:avLst/>
          </a:prstGeom>
          <a:solidFill>
            <a:srgbClr val="8C6914"/>
          </a:solidFill>
          <a:ln w="12700">
            <a:solidFill>
              <a:srgbClr val="8C6914"/>
            </a:solidFill>
            <a:prstDash val="solid"/>
          </a:ln>
        </p:spPr>
      </p:sp>
      <p:sp>
        <p:nvSpPr>
          <p:cNvPr id="30" name="Text 28"/>
          <p:cNvSpPr/>
          <p:nvPr/>
        </p:nvSpPr>
        <p:spPr>
          <a:xfrm>
            <a:off x="5084064" y="3931920"/>
            <a:ext cx="3474720" cy="347472"/>
          </a:xfrm>
          <a:prstGeom prst="rect">
            <a:avLst/>
          </a:prstGeom>
          <a:noFill/>
          <a:ln/>
        </p:spPr>
        <p:txBody>
          <a:bodyPr wrap="square" rtlCol="0" anchor="ctr"/>
          <a:lstStyle/>
          <a:p>
            <a:pPr indent="0" marL="0">
              <a:buNone/>
            </a:pPr>
            <a:r>
              <a:rPr lang="en-US" sz="1300" dirty="0">
                <a:solidFill>
                  <a:srgbClr val="2B1F0F"/>
                </a:solidFill>
                <a:latin typeface="Calibri" pitchFamily="34" charset="0"/>
                <a:ea typeface="Calibri" pitchFamily="34" charset="-122"/>
                <a:cs typeface="Calibri" pitchFamily="34" charset="-120"/>
              </a:rPr>
              <a:t>What needs sign-off before we start?</a:t>
            </a:r>
            <a:endParaRPr lang="en-US" sz="1300" dirty="0"/>
          </a:p>
        </p:txBody>
      </p:sp>
      <p:sp>
        <p:nvSpPr>
          <p:cNvPr id="31" name="Shape 29"/>
          <p:cNvSpPr/>
          <p:nvPr/>
        </p:nvSpPr>
        <p:spPr>
          <a:xfrm>
            <a:off x="347472" y="5230368"/>
            <a:ext cx="8458200" cy="658368"/>
          </a:xfrm>
          <a:prstGeom prst="rect">
            <a:avLst/>
          </a:prstGeom>
          <a:solidFill>
            <a:srgbClr val="2B1F0F"/>
          </a:solidFill>
          <a:ln w="12700">
            <a:solidFill>
              <a:srgbClr val="2B1F0F"/>
            </a:solidFill>
            <a:prstDash val="solid"/>
          </a:ln>
        </p:spPr>
      </p:sp>
      <p:sp>
        <p:nvSpPr>
          <p:cNvPr id="32" name="Text 30"/>
          <p:cNvSpPr/>
          <p:nvPr/>
        </p:nvSpPr>
        <p:spPr>
          <a:xfrm>
            <a:off x="548640" y="5303520"/>
            <a:ext cx="914400" cy="329184"/>
          </a:xfrm>
          <a:prstGeom prst="rect">
            <a:avLst/>
          </a:prstGeom>
          <a:noFill/>
          <a:ln/>
        </p:spPr>
        <p:txBody>
          <a:bodyPr wrap="square" rtlCol="0" anchor="ctr"/>
          <a:lstStyle/>
          <a:p>
            <a:pPr indent="0" marL="0">
              <a:buNone/>
            </a:pPr>
            <a:r>
              <a:rPr lang="en-US" sz="1200" b="1" dirty="0">
                <a:solidFill>
                  <a:srgbClr val="B5451B"/>
                </a:solidFill>
                <a:latin typeface="Georgia" pitchFamily="34" charset="0"/>
                <a:ea typeface="Georgia" pitchFamily="34" charset="-122"/>
                <a:cs typeface="Georgia" pitchFamily="34" charset="-120"/>
              </a:rPr>
              <a:t>PM Tip:</a:t>
            </a:r>
            <a:endParaRPr lang="en-US" sz="1200" dirty="0"/>
          </a:p>
        </p:txBody>
      </p:sp>
      <p:sp>
        <p:nvSpPr>
          <p:cNvPr id="33" name="Text 31"/>
          <p:cNvSpPr/>
          <p:nvPr/>
        </p:nvSpPr>
        <p:spPr>
          <a:xfrm>
            <a:off x="1463040" y="5303520"/>
            <a:ext cx="7132320" cy="457200"/>
          </a:xfrm>
          <a:prstGeom prst="rect">
            <a:avLst/>
          </a:prstGeom>
          <a:noFill/>
          <a:ln/>
        </p:spPr>
        <p:txBody>
          <a:bodyPr wrap="square" rtlCol="0" anchor="ctr"/>
          <a:lstStyle/>
          <a:p>
            <a:pPr indent="0" marL="0">
              <a:buNone/>
            </a:pPr>
            <a:r>
              <a:rPr lang="en-US" sz="1100" dirty="0">
                <a:solidFill>
                  <a:srgbClr val="D4C4A0"/>
                </a:solidFill>
                <a:latin typeface="Calibri" pitchFamily="34" charset="0"/>
                <a:ea typeface="Calibri" pitchFamily="34" charset="-122"/>
                <a:cs typeface="Calibri" pitchFamily="34" charset="-120"/>
              </a:rPr>
              <a:t>Don't do more than you need to. If guests won't notice the hand-lettered place cards, skip them. Scope clarity prevents wasted effort - on both sides of the table.</a:t>
            </a:r>
            <a:endParaRPr lang="en-US" sz="1100" dirty="0"/>
          </a:p>
        </p:txBody>
      </p:sp>
      <p:sp>
        <p:nvSpPr>
          <p:cNvPr id="34" name="Text 32"/>
          <p:cNvSpPr/>
          <p:nvPr/>
        </p:nvSpPr>
        <p:spPr>
          <a:xfrm>
            <a:off x="7863840" y="6217920"/>
            <a:ext cx="1097280" cy="228600"/>
          </a:xfrm>
          <a:prstGeom prst="rect">
            <a:avLst/>
          </a:prstGeom>
          <a:noFill/>
          <a:ln/>
        </p:spPr>
        <p:txBody>
          <a:bodyPr wrap="square" rtlCol="0" anchor="ctr"/>
          <a:lstStyle/>
          <a:p>
            <a:pPr algn="r" indent="0" marL="0">
              <a:buNone/>
            </a:pPr>
            <a:r>
              <a:rPr lang="en-US" sz="900" dirty="0">
                <a:solidFill>
                  <a:srgbClr val="C8BCA8"/>
                </a:solidFill>
                <a:latin typeface="Calibri" pitchFamily="34" charset="0"/>
                <a:ea typeface="Calibri" pitchFamily="34" charset="-122"/>
                <a:cs typeface="Calibri"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6EE"/>
          </a:solidFill>
          <a:ln w="12700">
            <a:solidFill>
              <a:srgbClr val="FBF6EE"/>
            </a:solidFill>
            <a:prstDash val="solid"/>
          </a:ln>
        </p:spPr>
      </p:sp>
      <p:sp>
        <p:nvSpPr>
          <p:cNvPr id="3" name="Shape 1"/>
          <p:cNvSpPr/>
          <p:nvPr/>
        </p:nvSpPr>
        <p:spPr>
          <a:xfrm>
            <a:off x="0" y="0"/>
            <a:ext cx="164592" cy="5143500"/>
          </a:xfrm>
          <a:prstGeom prst="rect">
            <a:avLst/>
          </a:prstGeom>
          <a:solidFill>
            <a:srgbClr val="8C6914"/>
          </a:solidFill>
          <a:ln w="12700">
            <a:solidFill>
              <a:srgbClr val="8C6914"/>
            </a:solidFill>
            <a:prstDash val="solid"/>
          </a:ln>
        </p:spPr>
      </p:sp>
      <p:sp>
        <p:nvSpPr>
          <p:cNvPr id="4" name="Shape 2"/>
          <p:cNvSpPr/>
          <p:nvPr/>
        </p:nvSpPr>
        <p:spPr>
          <a:xfrm>
            <a:off x="411480" y="201168"/>
            <a:ext cx="1289304" cy="292608"/>
          </a:xfrm>
          <a:prstGeom prst="roundRect">
            <a:avLst>
              <a:gd name="adj" fmla="val 25000"/>
            </a:avLst>
          </a:prstGeom>
          <a:solidFill>
            <a:srgbClr val="F5DFA0"/>
          </a:solidFill>
          <a:ln w="12700">
            <a:solidFill>
              <a:srgbClr val="F5DFA0"/>
            </a:solidFill>
            <a:prstDash val="solid"/>
          </a:ln>
        </p:spPr>
      </p:sp>
      <p:sp>
        <p:nvSpPr>
          <p:cNvPr id="5" name="Text 3"/>
          <p:cNvSpPr/>
          <p:nvPr/>
        </p:nvSpPr>
        <p:spPr>
          <a:xfrm>
            <a:off x="448056" y="219456"/>
            <a:ext cx="1216152" cy="256032"/>
          </a:xfrm>
          <a:prstGeom prst="rect">
            <a:avLst/>
          </a:prstGeom>
          <a:noFill/>
          <a:ln/>
        </p:spPr>
        <p:txBody>
          <a:bodyPr wrap="square" rtlCol="0" anchor="ctr"/>
          <a:lstStyle/>
          <a:p>
            <a:pPr indent="0" marL="0">
              <a:buNone/>
            </a:pPr>
            <a:r>
              <a:rPr lang="en-US" sz="1100" b="1" dirty="0">
                <a:solidFill>
                  <a:srgbClr val="B5451B"/>
                </a:solidFill>
                <a:latin typeface="Calibri" pitchFamily="34" charset="0"/>
                <a:ea typeface="Calibri" pitchFamily="34" charset="-122"/>
                <a:cs typeface="Calibri" pitchFamily="34" charset="-120"/>
              </a:rPr>
              <a:t>Step 02</a:t>
            </a:r>
            <a:endParaRPr lang="en-US" sz="1100" dirty="0"/>
          </a:p>
        </p:txBody>
      </p:sp>
      <p:sp>
        <p:nvSpPr>
          <p:cNvPr id="6" name="Text 4"/>
          <p:cNvSpPr/>
          <p:nvPr/>
        </p:nvSpPr>
        <p:spPr>
          <a:xfrm>
            <a:off x="411480" y="512064"/>
            <a:ext cx="8321040" cy="548640"/>
          </a:xfrm>
          <a:prstGeom prst="rect">
            <a:avLst/>
          </a:prstGeom>
          <a:noFill/>
          <a:ln/>
        </p:spPr>
        <p:txBody>
          <a:bodyPr wrap="square" rtlCol="0" anchor="ctr"/>
          <a:lstStyle/>
          <a:p>
            <a:pPr indent="0" marL="0">
              <a:buNone/>
            </a:pPr>
            <a:r>
              <a:rPr lang="en-US" sz="3000" b="1" dirty="0">
                <a:solidFill>
                  <a:srgbClr val="2B1F0F"/>
                </a:solidFill>
                <a:latin typeface="Georgia" pitchFamily="34" charset="0"/>
                <a:ea typeface="Georgia" pitchFamily="34" charset="-122"/>
                <a:cs typeface="Georgia" pitchFamily="34" charset="-120"/>
              </a:rPr>
              <a:t>Make a Plan</a:t>
            </a:r>
            <a:endParaRPr lang="en-US" sz="3000" dirty="0"/>
          </a:p>
        </p:txBody>
      </p:sp>
      <p:sp>
        <p:nvSpPr>
          <p:cNvPr id="7" name="Text 5"/>
          <p:cNvSpPr/>
          <p:nvPr/>
        </p:nvSpPr>
        <p:spPr>
          <a:xfrm>
            <a:off x="411480" y="1115568"/>
            <a:ext cx="8321040" cy="365760"/>
          </a:xfrm>
          <a:prstGeom prst="rect">
            <a:avLst/>
          </a:prstGeom>
          <a:noFill/>
          <a:ln/>
        </p:spPr>
        <p:txBody>
          <a:bodyPr wrap="square" rtlCol="0" anchor="ctr"/>
          <a:lstStyle/>
          <a:p>
            <a:pPr indent="0" marL="0">
              <a:buNone/>
            </a:pPr>
            <a:r>
              <a:rPr lang="en-US" sz="1400" i="1" dirty="0">
                <a:solidFill>
                  <a:srgbClr val="6B5740"/>
                </a:solidFill>
                <a:latin typeface="Calibri" pitchFamily="34" charset="0"/>
                <a:ea typeface="Calibri" pitchFamily="34" charset="-122"/>
                <a:cs typeface="Calibri" pitchFamily="34" charset="-120"/>
              </a:rPr>
              <a:t>What goes into a plan - whether you're feeding 20 or launching a platform:</a:t>
            </a:r>
            <a:endParaRPr lang="en-US" sz="1400" dirty="0"/>
          </a:p>
        </p:txBody>
      </p:sp>
      <p:sp>
        <p:nvSpPr>
          <p:cNvPr id="8" name="Shape 6"/>
          <p:cNvSpPr/>
          <p:nvPr/>
        </p:nvSpPr>
        <p:spPr>
          <a:xfrm>
            <a:off x="347472" y="1572768"/>
            <a:ext cx="8458200" cy="896112"/>
          </a:xfrm>
          <a:prstGeom prst="roundRect">
            <a:avLst>
              <a:gd name="adj" fmla="val 6122"/>
            </a:avLst>
          </a:prstGeom>
          <a:solidFill>
            <a:srgbClr val="FDF8E8"/>
          </a:solidFill>
          <a:ln w="12700">
            <a:solidFill>
              <a:srgbClr val="F5DFA0"/>
            </a:solidFill>
            <a:prstDash val="solid"/>
          </a:ln>
        </p:spPr>
      </p:sp>
      <p:sp>
        <p:nvSpPr>
          <p:cNvPr id="9" name="Text 7"/>
          <p:cNvSpPr/>
          <p:nvPr/>
        </p:nvSpPr>
        <p:spPr>
          <a:xfrm>
            <a:off x="502920" y="1645920"/>
            <a:ext cx="2194560" cy="347472"/>
          </a:xfrm>
          <a:prstGeom prst="rect">
            <a:avLst/>
          </a:prstGeom>
          <a:noFill/>
          <a:ln/>
        </p:spPr>
        <p:txBody>
          <a:bodyPr wrap="square" rtlCol="0" anchor="ctr"/>
          <a:lstStyle/>
          <a:p>
            <a:pPr indent="0" marL="0">
              <a:buNone/>
            </a:pPr>
            <a:r>
              <a:rPr lang="en-US" sz="1300" b="1" dirty="0">
                <a:solidFill>
                  <a:srgbClr val="8C6914"/>
                </a:solidFill>
                <a:latin typeface="Georgia" pitchFamily="34" charset="0"/>
                <a:ea typeface="Georgia" pitchFamily="34" charset="-122"/>
                <a:cs typeface="Georgia" pitchFamily="34" charset="-120"/>
              </a:rPr>
              <a:t>Menu / Requirements</a:t>
            </a:r>
            <a:endParaRPr lang="en-US" sz="1300" dirty="0"/>
          </a:p>
        </p:txBody>
      </p:sp>
      <p:sp>
        <p:nvSpPr>
          <p:cNvPr id="10" name="Text 8"/>
          <p:cNvSpPr/>
          <p:nvPr/>
        </p:nvSpPr>
        <p:spPr>
          <a:xfrm>
            <a:off x="2743200" y="1645920"/>
            <a:ext cx="2743200" cy="347472"/>
          </a:xfrm>
          <a:prstGeom prst="rect">
            <a:avLst/>
          </a:prstGeom>
          <a:noFill/>
          <a:ln/>
        </p:spPr>
        <p:txBody>
          <a:bodyPr wrap="square" rtlCol="0" anchor="ctr"/>
          <a:lstStyle/>
          <a:p>
            <a:pPr indent="0" marL="0">
              <a:buNone/>
            </a:pPr>
            <a:r>
              <a:rPr lang="en-US" sz="1150" dirty="0">
                <a:solidFill>
                  <a:srgbClr val="B5451B"/>
                </a:solidFill>
                <a:latin typeface="Calibri" pitchFamily="34" charset="0"/>
                <a:ea typeface="Calibri" pitchFamily="34" charset="-122"/>
                <a:cs typeface="Calibri" pitchFamily="34" charset="-120"/>
              </a:rPr>
              <a:t>Thanksgiving: What dishes are you making?</a:t>
            </a:r>
            <a:endParaRPr lang="en-US" sz="1150" dirty="0"/>
          </a:p>
        </p:txBody>
      </p:sp>
      <p:sp>
        <p:nvSpPr>
          <p:cNvPr id="11" name="Text 9"/>
          <p:cNvSpPr/>
          <p:nvPr/>
        </p:nvSpPr>
        <p:spPr>
          <a:xfrm>
            <a:off x="5577840" y="1645920"/>
            <a:ext cx="3108960" cy="347472"/>
          </a:xfrm>
          <a:prstGeom prst="rect">
            <a:avLst/>
          </a:prstGeom>
          <a:noFill/>
          <a:ln/>
        </p:spPr>
        <p:txBody>
          <a:bodyPr wrap="square" rtlCol="0" anchor="ctr"/>
          <a:lstStyle/>
          <a:p>
            <a:pPr indent="0" marL="0">
              <a:buNone/>
            </a:pPr>
            <a:r>
              <a:rPr lang="en-US" sz="1150" dirty="0">
                <a:solidFill>
                  <a:srgbClr val="2B1F0F"/>
                </a:solidFill>
                <a:latin typeface="Calibri" pitchFamily="34" charset="0"/>
                <a:ea typeface="Calibri" pitchFamily="34" charset="-122"/>
                <a:cs typeface="Calibri" pitchFamily="34" charset="-120"/>
              </a:rPr>
              <a:t>At work: What are you building? Full requirements list.</a:t>
            </a:r>
            <a:endParaRPr lang="en-US" sz="1150" dirty="0"/>
          </a:p>
        </p:txBody>
      </p:sp>
      <p:sp>
        <p:nvSpPr>
          <p:cNvPr id="12" name="Shape 10"/>
          <p:cNvSpPr/>
          <p:nvPr/>
        </p:nvSpPr>
        <p:spPr>
          <a:xfrm>
            <a:off x="502920" y="2048256"/>
            <a:ext cx="8138160" cy="0"/>
          </a:xfrm>
          <a:prstGeom prst="line">
            <a:avLst/>
          </a:prstGeom>
          <a:noFill/>
          <a:ln w="6350">
            <a:solidFill>
              <a:srgbClr val="F5DFA0"/>
            </a:solidFill>
            <a:prstDash val="solid"/>
          </a:ln>
        </p:spPr>
      </p:sp>
      <p:sp>
        <p:nvSpPr>
          <p:cNvPr id="13" name="Text 11"/>
          <p:cNvSpPr/>
          <p:nvPr/>
        </p:nvSpPr>
        <p:spPr>
          <a:xfrm>
            <a:off x="502920" y="2093976"/>
            <a:ext cx="8138160" cy="274320"/>
          </a:xfrm>
          <a:prstGeom prst="rect">
            <a:avLst/>
          </a:prstGeom>
          <a:noFill/>
          <a:ln/>
        </p:spPr>
        <p:txBody>
          <a:bodyPr wrap="square" rtlCol="0" anchor="ctr"/>
          <a:lstStyle/>
          <a:p>
            <a:pPr indent="0" marL="0">
              <a:buNone/>
            </a:pPr>
            <a:r>
              <a:rPr lang="en-US" sz="1050" i="1" dirty="0">
                <a:solidFill>
                  <a:srgbClr val="6B5740"/>
                </a:solidFill>
                <a:latin typeface="Calibri" pitchFamily="34" charset="0"/>
                <a:ea typeface="Calibri" pitchFamily="34" charset="-122"/>
                <a:cs typeface="Calibri" pitchFamily="34" charset="-120"/>
              </a:rPr>
              <a:t>"Be realistic. Don't plan a 6-course feast if you've never peeled a potato."</a:t>
            </a:r>
            <a:endParaRPr lang="en-US" sz="1050" dirty="0"/>
          </a:p>
        </p:txBody>
      </p:sp>
      <p:sp>
        <p:nvSpPr>
          <p:cNvPr id="14" name="Shape 12"/>
          <p:cNvSpPr/>
          <p:nvPr/>
        </p:nvSpPr>
        <p:spPr>
          <a:xfrm>
            <a:off x="347472" y="2578608"/>
            <a:ext cx="8458200" cy="896112"/>
          </a:xfrm>
          <a:prstGeom prst="roundRect">
            <a:avLst>
              <a:gd name="adj" fmla="val 6122"/>
            </a:avLst>
          </a:prstGeom>
          <a:solidFill>
            <a:srgbClr val="F2EBD9"/>
          </a:solidFill>
          <a:ln w="12700">
            <a:solidFill>
              <a:srgbClr val="F5DFA0"/>
            </a:solidFill>
            <a:prstDash val="solid"/>
          </a:ln>
        </p:spPr>
      </p:sp>
      <p:sp>
        <p:nvSpPr>
          <p:cNvPr id="15" name="Text 13"/>
          <p:cNvSpPr/>
          <p:nvPr/>
        </p:nvSpPr>
        <p:spPr>
          <a:xfrm>
            <a:off x="502920" y="2651760"/>
            <a:ext cx="2194560" cy="347472"/>
          </a:xfrm>
          <a:prstGeom prst="rect">
            <a:avLst/>
          </a:prstGeom>
          <a:noFill/>
          <a:ln/>
        </p:spPr>
        <p:txBody>
          <a:bodyPr wrap="square" rtlCol="0" anchor="ctr"/>
          <a:lstStyle/>
          <a:p>
            <a:pPr indent="0" marL="0">
              <a:buNone/>
            </a:pPr>
            <a:r>
              <a:rPr lang="en-US" sz="1300" b="1" dirty="0">
                <a:solidFill>
                  <a:srgbClr val="8C6914"/>
                </a:solidFill>
                <a:latin typeface="Georgia" pitchFamily="34" charset="0"/>
                <a:ea typeface="Georgia" pitchFamily="34" charset="-122"/>
                <a:cs typeface="Georgia" pitchFamily="34" charset="-120"/>
              </a:rPr>
              <a:t>Guest List / Stakeholders</a:t>
            </a:r>
            <a:endParaRPr lang="en-US" sz="1300" dirty="0"/>
          </a:p>
        </p:txBody>
      </p:sp>
      <p:sp>
        <p:nvSpPr>
          <p:cNvPr id="16" name="Text 14"/>
          <p:cNvSpPr/>
          <p:nvPr/>
        </p:nvSpPr>
        <p:spPr>
          <a:xfrm>
            <a:off x="2743200" y="2651760"/>
            <a:ext cx="2743200" cy="347472"/>
          </a:xfrm>
          <a:prstGeom prst="rect">
            <a:avLst/>
          </a:prstGeom>
          <a:noFill/>
          <a:ln/>
        </p:spPr>
        <p:txBody>
          <a:bodyPr wrap="square" rtlCol="0" anchor="ctr"/>
          <a:lstStyle/>
          <a:p>
            <a:pPr indent="0" marL="0">
              <a:buNone/>
            </a:pPr>
            <a:r>
              <a:rPr lang="en-US" sz="1150" dirty="0">
                <a:solidFill>
                  <a:srgbClr val="B5451B"/>
                </a:solidFill>
                <a:latin typeface="Calibri" pitchFamily="34" charset="0"/>
                <a:ea typeface="Calibri" pitchFamily="34" charset="-122"/>
                <a:cs typeface="Calibri" pitchFamily="34" charset="-120"/>
              </a:rPr>
              <a:t>Thanksgiving: Who is coming? Who's bringing what?</a:t>
            </a:r>
            <a:endParaRPr lang="en-US" sz="1150" dirty="0"/>
          </a:p>
        </p:txBody>
      </p:sp>
      <p:sp>
        <p:nvSpPr>
          <p:cNvPr id="17" name="Text 15"/>
          <p:cNvSpPr/>
          <p:nvPr/>
        </p:nvSpPr>
        <p:spPr>
          <a:xfrm>
            <a:off x="5577840" y="2651760"/>
            <a:ext cx="3108960" cy="347472"/>
          </a:xfrm>
          <a:prstGeom prst="rect">
            <a:avLst/>
          </a:prstGeom>
          <a:noFill/>
          <a:ln/>
        </p:spPr>
        <p:txBody>
          <a:bodyPr wrap="square" rtlCol="0" anchor="ctr"/>
          <a:lstStyle/>
          <a:p>
            <a:pPr indent="0" marL="0">
              <a:buNone/>
            </a:pPr>
            <a:r>
              <a:rPr lang="en-US" sz="1150" dirty="0">
                <a:solidFill>
                  <a:srgbClr val="2B1F0F"/>
                </a:solidFill>
                <a:latin typeface="Calibri" pitchFamily="34" charset="0"/>
                <a:ea typeface="Calibri" pitchFamily="34" charset="-122"/>
                <a:cs typeface="Calibri" pitchFamily="34" charset="-120"/>
              </a:rPr>
              <a:t>At work: Who has a role? Who has a stake in the outcome?</a:t>
            </a:r>
            <a:endParaRPr lang="en-US" sz="1150" dirty="0"/>
          </a:p>
        </p:txBody>
      </p:sp>
      <p:sp>
        <p:nvSpPr>
          <p:cNvPr id="18" name="Shape 16"/>
          <p:cNvSpPr/>
          <p:nvPr/>
        </p:nvSpPr>
        <p:spPr>
          <a:xfrm>
            <a:off x="502920" y="3054096"/>
            <a:ext cx="8138160" cy="0"/>
          </a:xfrm>
          <a:prstGeom prst="line">
            <a:avLst/>
          </a:prstGeom>
          <a:noFill/>
          <a:ln w="6350">
            <a:solidFill>
              <a:srgbClr val="F5DFA0"/>
            </a:solidFill>
            <a:prstDash val="solid"/>
          </a:ln>
        </p:spPr>
      </p:sp>
      <p:sp>
        <p:nvSpPr>
          <p:cNvPr id="19" name="Text 17"/>
          <p:cNvSpPr/>
          <p:nvPr/>
        </p:nvSpPr>
        <p:spPr>
          <a:xfrm>
            <a:off x="502920" y="3099816"/>
            <a:ext cx="8138160" cy="274320"/>
          </a:xfrm>
          <a:prstGeom prst="rect">
            <a:avLst/>
          </a:prstGeom>
          <a:noFill/>
          <a:ln/>
        </p:spPr>
        <p:txBody>
          <a:bodyPr wrap="square" rtlCol="0" anchor="ctr"/>
          <a:lstStyle/>
          <a:p>
            <a:pPr indent="0" marL="0">
              <a:buNone/>
            </a:pPr>
            <a:r>
              <a:rPr lang="en-US" sz="1050" i="1" dirty="0">
                <a:solidFill>
                  <a:srgbClr val="6B5740"/>
                </a:solidFill>
                <a:latin typeface="Calibri" pitchFamily="34" charset="0"/>
                <a:ea typeface="Calibri" pitchFamily="34" charset="-122"/>
                <a:cs typeface="Calibri" pitchFamily="34" charset="-120"/>
              </a:rPr>
              <a:t>"Be realistic. Don't plan a 6-course feast if you've never peeled a potato."</a:t>
            </a:r>
            <a:endParaRPr lang="en-US" sz="1050" dirty="0"/>
          </a:p>
        </p:txBody>
      </p:sp>
      <p:sp>
        <p:nvSpPr>
          <p:cNvPr id="20" name="Shape 18"/>
          <p:cNvSpPr/>
          <p:nvPr/>
        </p:nvSpPr>
        <p:spPr>
          <a:xfrm>
            <a:off x="347472" y="3584448"/>
            <a:ext cx="8458200" cy="896112"/>
          </a:xfrm>
          <a:prstGeom prst="roundRect">
            <a:avLst>
              <a:gd name="adj" fmla="val 6122"/>
            </a:avLst>
          </a:prstGeom>
          <a:solidFill>
            <a:srgbClr val="FDF8E8"/>
          </a:solidFill>
          <a:ln w="12700">
            <a:solidFill>
              <a:srgbClr val="F5DFA0"/>
            </a:solidFill>
            <a:prstDash val="solid"/>
          </a:ln>
        </p:spPr>
      </p:sp>
      <p:sp>
        <p:nvSpPr>
          <p:cNvPr id="21" name="Text 19"/>
          <p:cNvSpPr/>
          <p:nvPr/>
        </p:nvSpPr>
        <p:spPr>
          <a:xfrm>
            <a:off x="502920" y="3657600"/>
            <a:ext cx="2194560" cy="347472"/>
          </a:xfrm>
          <a:prstGeom prst="rect">
            <a:avLst/>
          </a:prstGeom>
          <a:noFill/>
          <a:ln/>
        </p:spPr>
        <p:txBody>
          <a:bodyPr wrap="square" rtlCol="0" anchor="ctr"/>
          <a:lstStyle/>
          <a:p>
            <a:pPr indent="0" marL="0">
              <a:buNone/>
            </a:pPr>
            <a:r>
              <a:rPr lang="en-US" sz="1300" b="1" dirty="0">
                <a:solidFill>
                  <a:srgbClr val="8C6914"/>
                </a:solidFill>
                <a:latin typeface="Georgia" pitchFamily="34" charset="0"/>
                <a:ea typeface="Georgia" pitchFamily="34" charset="-122"/>
                <a:cs typeface="Georgia" pitchFamily="34" charset="-120"/>
              </a:rPr>
              <a:t>Seating / Resources</a:t>
            </a:r>
            <a:endParaRPr lang="en-US" sz="1300" dirty="0"/>
          </a:p>
        </p:txBody>
      </p:sp>
      <p:sp>
        <p:nvSpPr>
          <p:cNvPr id="22" name="Text 20"/>
          <p:cNvSpPr/>
          <p:nvPr/>
        </p:nvSpPr>
        <p:spPr>
          <a:xfrm>
            <a:off x="2743200" y="3657600"/>
            <a:ext cx="2743200" cy="347472"/>
          </a:xfrm>
          <a:prstGeom prst="rect">
            <a:avLst/>
          </a:prstGeom>
          <a:noFill/>
          <a:ln/>
        </p:spPr>
        <p:txBody>
          <a:bodyPr wrap="square" rtlCol="0" anchor="ctr"/>
          <a:lstStyle/>
          <a:p>
            <a:pPr indent="0" marL="0">
              <a:buNone/>
            </a:pPr>
            <a:r>
              <a:rPr lang="en-US" sz="1150" dirty="0">
                <a:solidFill>
                  <a:srgbClr val="B5451B"/>
                </a:solidFill>
                <a:latin typeface="Calibri" pitchFamily="34" charset="0"/>
                <a:ea typeface="Calibri" pitchFamily="34" charset="-122"/>
                <a:cs typeface="Calibri" pitchFamily="34" charset="-120"/>
              </a:rPr>
              <a:t>Thanksgiving: Who sits where? Who needs accommodating?</a:t>
            </a:r>
            <a:endParaRPr lang="en-US" sz="1150" dirty="0"/>
          </a:p>
        </p:txBody>
      </p:sp>
      <p:sp>
        <p:nvSpPr>
          <p:cNvPr id="23" name="Text 21"/>
          <p:cNvSpPr/>
          <p:nvPr/>
        </p:nvSpPr>
        <p:spPr>
          <a:xfrm>
            <a:off x="5577840" y="3657600"/>
            <a:ext cx="3108960" cy="347472"/>
          </a:xfrm>
          <a:prstGeom prst="rect">
            <a:avLst/>
          </a:prstGeom>
          <a:noFill/>
          <a:ln/>
        </p:spPr>
        <p:txBody>
          <a:bodyPr wrap="square" rtlCol="0" anchor="ctr"/>
          <a:lstStyle/>
          <a:p>
            <a:pPr indent="0" marL="0">
              <a:buNone/>
            </a:pPr>
            <a:r>
              <a:rPr lang="en-US" sz="1150" dirty="0">
                <a:solidFill>
                  <a:srgbClr val="2B1F0F"/>
                </a:solidFill>
                <a:latin typeface="Calibri" pitchFamily="34" charset="0"/>
                <a:ea typeface="Calibri" pitchFamily="34" charset="-122"/>
                <a:cs typeface="Calibri" pitchFamily="34" charset="-120"/>
              </a:rPr>
              <a:t>At work: Who is doing what? What resources do you need?</a:t>
            </a:r>
            <a:endParaRPr lang="en-US" sz="1150" dirty="0"/>
          </a:p>
        </p:txBody>
      </p:sp>
      <p:sp>
        <p:nvSpPr>
          <p:cNvPr id="24" name="Shape 22"/>
          <p:cNvSpPr/>
          <p:nvPr/>
        </p:nvSpPr>
        <p:spPr>
          <a:xfrm>
            <a:off x="502920" y="4059936"/>
            <a:ext cx="8138160" cy="0"/>
          </a:xfrm>
          <a:prstGeom prst="line">
            <a:avLst/>
          </a:prstGeom>
          <a:noFill/>
          <a:ln w="6350">
            <a:solidFill>
              <a:srgbClr val="F5DFA0"/>
            </a:solidFill>
            <a:prstDash val="solid"/>
          </a:ln>
        </p:spPr>
      </p:sp>
      <p:sp>
        <p:nvSpPr>
          <p:cNvPr id="25" name="Text 23"/>
          <p:cNvSpPr/>
          <p:nvPr/>
        </p:nvSpPr>
        <p:spPr>
          <a:xfrm>
            <a:off x="502920" y="4105656"/>
            <a:ext cx="8138160" cy="274320"/>
          </a:xfrm>
          <a:prstGeom prst="rect">
            <a:avLst/>
          </a:prstGeom>
          <a:noFill/>
          <a:ln/>
        </p:spPr>
        <p:txBody>
          <a:bodyPr wrap="square" rtlCol="0" anchor="ctr"/>
          <a:lstStyle/>
          <a:p>
            <a:pPr indent="0" marL="0">
              <a:buNone/>
            </a:pPr>
            <a:r>
              <a:rPr lang="en-US" sz="1050" i="1" dirty="0">
                <a:solidFill>
                  <a:srgbClr val="6B5740"/>
                </a:solidFill>
                <a:latin typeface="Calibri" pitchFamily="34" charset="0"/>
                <a:ea typeface="Calibri" pitchFamily="34" charset="-122"/>
                <a:cs typeface="Calibri" pitchFamily="34" charset="-120"/>
              </a:rPr>
              <a:t>"Be realistic. Don't plan a 6-course feast if you've never peeled a potato."</a:t>
            </a:r>
            <a:endParaRPr lang="en-US" sz="1050" dirty="0"/>
          </a:p>
        </p:txBody>
      </p:sp>
      <p:sp>
        <p:nvSpPr>
          <p:cNvPr id="26" name="Shape 24"/>
          <p:cNvSpPr/>
          <p:nvPr/>
        </p:nvSpPr>
        <p:spPr>
          <a:xfrm>
            <a:off x="347472" y="4590288"/>
            <a:ext cx="8458200" cy="896112"/>
          </a:xfrm>
          <a:prstGeom prst="roundRect">
            <a:avLst>
              <a:gd name="adj" fmla="val 6122"/>
            </a:avLst>
          </a:prstGeom>
          <a:solidFill>
            <a:srgbClr val="F2EBD9"/>
          </a:solidFill>
          <a:ln w="12700">
            <a:solidFill>
              <a:srgbClr val="F5DFA0"/>
            </a:solidFill>
            <a:prstDash val="solid"/>
          </a:ln>
        </p:spPr>
      </p:sp>
      <p:sp>
        <p:nvSpPr>
          <p:cNvPr id="27" name="Text 25"/>
          <p:cNvSpPr/>
          <p:nvPr/>
        </p:nvSpPr>
        <p:spPr>
          <a:xfrm>
            <a:off x="502920" y="4663440"/>
            <a:ext cx="2194560" cy="347472"/>
          </a:xfrm>
          <a:prstGeom prst="rect">
            <a:avLst/>
          </a:prstGeom>
          <a:noFill/>
          <a:ln/>
        </p:spPr>
        <p:txBody>
          <a:bodyPr wrap="square" rtlCol="0" anchor="ctr"/>
          <a:lstStyle/>
          <a:p>
            <a:pPr indent="0" marL="0">
              <a:buNone/>
            </a:pPr>
            <a:r>
              <a:rPr lang="en-US" sz="1300" b="1" dirty="0">
                <a:solidFill>
                  <a:srgbClr val="8C6914"/>
                </a:solidFill>
                <a:latin typeface="Georgia" pitchFamily="34" charset="0"/>
                <a:ea typeface="Georgia" pitchFamily="34" charset="-122"/>
                <a:cs typeface="Georgia" pitchFamily="34" charset="-120"/>
              </a:rPr>
              <a:t>Shopping List / WBS</a:t>
            </a:r>
            <a:endParaRPr lang="en-US" sz="1300" dirty="0"/>
          </a:p>
        </p:txBody>
      </p:sp>
      <p:sp>
        <p:nvSpPr>
          <p:cNvPr id="28" name="Text 26"/>
          <p:cNvSpPr/>
          <p:nvPr/>
        </p:nvSpPr>
        <p:spPr>
          <a:xfrm>
            <a:off x="2743200" y="4663440"/>
            <a:ext cx="2743200" cy="347472"/>
          </a:xfrm>
          <a:prstGeom prst="rect">
            <a:avLst/>
          </a:prstGeom>
          <a:noFill/>
          <a:ln/>
        </p:spPr>
        <p:txBody>
          <a:bodyPr wrap="square" rtlCol="0" anchor="ctr"/>
          <a:lstStyle/>
          <a:p>
            <a:pPr indent="0" marL="0">
              <a:buNone/>
            </a:pPr>
            <a:r>
              <a:rPr lang="en-US" sz="1150" dirty="0">
                <a:solidFill>
                  <a:srgbClr val="B5451B"/>
                </a:solidFill>
                <a:latin typeface="Calibri" pitchFamily="34" charset="0"/>
                <a:ea typeface="Calibri" pitchFamily="34" charset="-122"/>
                <a:cs typeface="Calibri" pitchFamily="34" charset="-120"/>
              </a:rPr>
              <a:t>Thanksgiving: Everything you need to buy, by store.</a:t>
            </a:r>
            <a:endParaRPr lang="en-US" sz="1150" dirty="0"/>
          </a:p>
        </p:txBody>
      </p:sp>
      <p:sp>
        <p:nvSpPr>
          <p:cNvPr id="29" name="Text 27"/>
          <p:cNvSpPr/>
          <p:nvPr/>
        </p:nvSpPr>
        <p:spPr>
          <a:xfrm>
            <a:off x="5577840" y="4663440"/>
            <a:ext cx="3108960" cy="347472"/>
          </a:xfrm>
          <a:prstGeom prst="rect">
            <a:avLst/>
          </a:prstGeom>
          <a:noFill/>
          <a:ln/>
        </p:spPr>
        <p:txBody>
          <a:bodyPr wrap="square" rtlCol="0" anchor="ctr"/>
          <a:lstStyle/>
          <a:p>
            <a:pPr indent="0" marL="0">
              <a:buNone/>
            </a:pPr>
            <a:r>
              <a:rPr lang="en-US" sz="1150" dirty="0">
                <a:solidFill>
                  <a:srgbClr val="2B1F0F"/>
                </a:solidFill>
                <a:latin typeface="Calibri" pitchFamily="34" charset="0"/>
                <a:ea typeface="Calibri" pitchFamily="34" charset="-122"/>
                <a:cs typeface="Calibri" pitchFamily="34" charset="-120"/>
              </a:rPr>
              <a:t>At work: Work Breakdown Structure - every task, decomposed.</a:t>
            </a:r>
            <a:endParaRPr lang="en-US" sz="1150" dirty="0"/>
          </a:p>
        </p:txBody>
      </p:sp>
      <p:sp>
        <p:nvSpPr>
          <p:cNvPr id="30" name="Shape 28"/>
          <p:cNvSpPr/>
          <p:nvPr/>
        </p:nvSpPr>
        <p:spPr>
          <a:xfrm>
            <a:off x="502920" y="5065776"/>
            <a:ext cx="8138160" cy="0"/>
          </a:xfrm>
          <a:prstGeom prst="line">
            <a:avLst/>
          </a:prstGeom>
          <a:noFill/>
          <a:ln w="6350">
            <a:solidFill>
              <a:srgbClr val="F5DFA0"/>
            </a:solidFill>
            <a:prstDash val="solid"/>
          </a:ln>
        </p:spPr>
      </p:sp>
      <p:sp>
        <p:nvSpPr>
          <p:cNvPr id="31" name="Text 29"/>
          <p:cNvSpPr/>
          <p:nvPr/>
        </p:nvSpPr>
        <p:spPr>
          <a:xfrm>
            <a:off x="502920" y="5111496"/>
            <a:ext cx="8138160" cy="274320"/>
          </a:xfrm>
          <a:prstGeom prst="rect">
            <a:avLst/>
          </a:prstGeom>
          <a:noFill/>
          <a:ln/>
        </p:spPr>
        <p:txBody>
          <a:bodyPr wrap="square" rtlCol="0" anchor="ctr"/>
          <a:lstStyle/>
          <a:p>
            <a:pPr indent="0" marL="0">
              <a:buNone/>
            </a:pPr>
            <a:r>
              <a:rPr lang="en-US" sz="1050" i="1" dirty="0">
                <a:solidFill>
                  <a:srgbClr val="6B5740"/>
                </a:solidFill>
                <a:latin typeface="Calibri" pitchFamily="34" charset="0"/>
                <a:ea typeface="Calibri" pitchFamily="34" charset="-122"/>
                <a:cs typeface="Calibri" pitchFamily="34" charset="-120"/>
              </a:rPr>
              <a:t>"Be realistic. Don't plan a 6-course feast if you've never peeled a potato."</a:t>
            </a:r>
            <a:endParaRPr lang="en-US" sz="1050" dirty="0"/>
          </a:p>
        </p:txBody>
      </p:sp>
      <p:sp>
        <p:nvSpPr>
          <p:cNvPr id="32" name="Text 30"/>
          <p:cNvSpPr/>
          <p:nvPr/>
        </p:nvSpPr>
        <p:spPr>
          <a:xfrm>
            <a:off x="7863840" y="6217920"/>
            <a:ext cx="1097280" cy="228600"/>
          </a:xfrm>
          <a:prstGeom prst="rect">
            <a:avLst/>
          </a:prstGeom>
          <a:noFill/>
          <a:ln/>
        </p:spPr>
        <p:txBody>
          <a:bodyPr wrap="square" rtlCol="0" anchor="ctr"/>
          <a:lstStyle/>
          <a:p>
            <a:pPr algn="r" indent="0" marL="0">
              <a:buNone/>
            </a:pPr>
            <a:r>
              <a:rPr lang="en-US" sz="900" dirty="0">
                <a:solidFill>
                  <a:srgbClr val="C8BCA8"/>
                </a:solidFill>
                <a:latin typeface="Calibri" pitchFamily="34" charset="0"/>
                <a:ea typeface="Calibri" pitchFamily="34" charset="-122"/>
                <a:cs typeface="Calibri"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1208"/>
          </a:solidFill>
          <a:ln w="12700">
            <a:solidFill>
              <a:srgbClr val="1C1208"/>
            </a:solidFill>
            <a:prstDash val="solid"/>
          </a:ln>
        </p:spPr>
      </p:sp>
      <p:sp>
        <p:nvSpPr>
          <p:cNvPr id="3" name="Shape 1"/>
          <p:cNvSpPr/>
          <p:nvPr/>
        </p:nvSpPr>
        <p:spPr>
          <a:xfrm>
            <a:off x="0" y="0"/>
            <a:ext cx="164592" cy="5143500"/>
          </a:xfrm>
          <a:prstGeom prst="rect">
            <a:avLst/>
          </a:prstGeom>
          <a:solidFill>
            <a:srgbClr val="B5451B"/>
          </a:solidFill>
          <a:ln w="12700">
            <a:solidFill>
              <a:srgbClr val="B5451B"/>
            </a:solidFill>
            <a:prstDash val="solid"/>
          </a:ln>
        </p:spPr>
      </p:sp>
      <p:sp>
        <p:nvSpPr>
          <p:cNvPr id="4" name="Shape 2"/>
          <p:cNvSpPr/>
          <p:nvPr/>
        </p:nvSpPr>
        <p:spPr>
          <a:xfrm>
            <a:off x="411480" y="201168"/>
            <a:ext cx="1289304" cy="292608"/>
          </a:xfrm>
          <a:prstGeom prst="roundRect">
            <a:avLst>
              <a:gd name="adj" fmla="val 25000"/>
            </a:avLst>
          </a:prstGeom>
          <a:solidFill>
            <a:srgbClr val="3A2010"/>
          </a:solidFill>
          <a:ln w="12700">
            <a:solidFill>
              <a:srgbClr val="3A2010"/>
            </a:solidFill>
            <a:prstDash val="solid"/>
          </a:ln>
        </p:spPr>
      </p:sp>
      <p:sp>
        <p:nvSpPr>
          <p:cNvPr id="5" name="Text 3"/>
          <p:cNvSpPr/>
          <p:nvPr/>
        </p:nvSpPr>
        <p:spPr>
          <a:xfrm>
            <a:off x="448056" y="219456"/>
            <a:ext cx="1216152" cy="256032"/>
          </a:xfrm>
          <a:prstGeom prst="rect">
            <a:avLst/>
          </a:prstGeom>
          <a:noFill/>
          <a:ln/>
        </p:spPr>
        <p:txBody>
          <a:bodyPr wrap="square" rtlCol="0" anchor="ctr"/>
          <a:lstStyle/>
          <a:p>
            <a:pPr indent="0" marL="0">
              <a:buNone/>
            </a:pPr>
            <a:r>
              <a:rPr lang="en-US" sz="1100" b="1" dirty="0">
                <a:solidFill>
                  <a:srgbClr val="B5451B"/>
                </a:solidFill>
                <a:latin typeface="Calibri" pitchFamily="34" charset="0"/>
                <a:ea typeface="Calibri" pitchFamily="34" charset="-122"/>
                <a:cs typeface="Calibri" pitchFamily="34" charset="-120"/>
              </a:rPr>
              <a:t>Step 03</a:t>
            </a:r>
            <a:endParaRPr lang="en-US" sz="1100" dirty="0"/>
          </a:p>
        </p:txBody>
      </p:sp>
      <p:sp>
        <p:nvSpPr>
          <p:cNvPr id="6" name="Text 4"/>
          <p:cNvSpPr/>
          <p:nvPr/>
        </p:nvSpPr>
        <p:spPr>
          <a:xfrm>
            <a:off x="411480" y="512064"/>
            <a:ext cx="8321040" cy="548640"/>
          </a:xfrm>
          <a:prstGeom prst="rect">
            <a:avLst/>
          </a:prstGeom>
          <a:noFill/>
          <a:ln/>
        </p:spPr>
        <p:txBody>
          <a:bodyPr wrap="square" rtlCol="0" anchor="ctr"/>
          <a:lstStyle/>
          <a:p>
            <a:pPr indent="0" marL="0">
              <a:buNone/>
            </a:pPr>
            <a:r>
              <a:rPr lang="en-US" sz="2800" b="1" dirty="0">
                <a:solidFill>
                  <a:srgbClr val="FBF6EE"/>
                </a:solidFill>
                <a:latin typeface="Georgia" pitchFamily="34" charset="0"/>
                <a:ea typeface="Georgia" pitchFamily="34" charset="-122"/>
                <a:cs typeface="Georgia" pitchFamily="34" charset="-120"/>
              </a:rPr>
              <a:t>Map Your Timeline + Critical Path</a:t>
            </a:r>
            <a:endParaRPr lang="en-US" sz="2800" dirty="0"/>
          </a:p>
        </p:txBody>
      </p:sp>
      <p:sp>
        <p:nvSpPr>
          <p:cNvPr id="7" name="Text 5"/>
          <p:cNvSpPr/>
          <p:nvPr/>
        </p:nvSpPr>
        <p:spPr>
          <a:xfrm>
            <a:off x="411480" y="1078992"/>
            <a:ext cx="8321040" cy="347472"/>
          </a:xfrm>
          <a:prstGeom prst="rect">
            <a:avLst/>
          </a:prstGeom>
          <a:noFill/>
          <a:ln/>
        </p:spPr>
        <p:txBody>
          <a:bodyPr wrap="square" rtlCol="0" anchor="ctr"/>
          <a:lstStyle/>
          <a:p>
            <a:pPr indent="0" marL="0">
              <a:buNone/>
            </a:pPr>
            <a:r>
              <a:rPr lang="en-US" sz="1300" i="1" dirty="0">
                <a:solidFill>
                  <a:srgbClr val="A89070"/>
                </a:solidFill>
                <a:latin typeface="Calibri" pitchFamily="34" charset="0"/>
                <a:ea typeface="Calibri" pitchFamily="34" charset="-122"/>
                <a:cs typeface="Calibri" pitchFamily="34" charset="-120"/>
              </a:rPr>
              <a:t>Every PM lesson in this deck fits on a dinner table. This one shows up under every real deadline.</a:t>
            </a:r>
            <a:endParaRPr lang="en-US" sz="1300" dirty="0"/>
          </a:p>
        </p:txBody>
      </p:sp>
      <p:sp>
        <p:nvSpPr>
          <p:cNvPr id="8" name="Text 6"/>
          <p:cNvSpPr/>
          <p:nvPr/>
        </p:nvSpPr>
        <p:spPr>
          <a:xfrm>
            <a:off x="411480" y="1508760"/>
            <a:ext cx="2286000" cy="320040"/>
          </a:xfrm>
          <a:prstGeom prst="rect">
            <a:avLst/>
          </a:prstGeom>
          <a:noFill/>
          <a:ln/>
        </p:spPr>
        <p:txBody>
          <a:bodyPr wrap="square" rtlCol="0" anchor="ctr"/>
          <a:lstStyle/>
          <a:p>
            <a:pPr indent="0" marL="0">
              <a:buNone/>
            </a:pPr>
            <a:r>
              <a:rPr lang="en-US" sz="1200" b="1" spc="100" kern="0" dirty="0">
                <a:solidFill>
                  <a:srgbClr val="B5451B"/>
                </a:solidFill>
                <a:latin typeface="Georgia" pitchFamily="34" charset="0"/>
                <a:ea typeface="Georgia" pitchFamily="34" charset="-122"/>
                <a:cs typeface="Georgia" pitchFamily="34" charset="-120"/>
              </a:rPr>
              <a:t>Critical Path</a:t>
            </a:r>
            <a:endParaRPr lang="en-US" sz="1200" dirty="0"/>
          </a:p>
        </p:txBody>
      </p:sp>
      <p:sp>
        <p:nvSpPr>
          <p:cNvPr id="9" name="Shape 7"/>
          <p:cNvSpPr/>
          <p:nvPr/>
        </p:nvSpPr>
        <p:spPr>
          <a:xfrm>
            <a:off x="411480" y="1874520"/>
            <a:ext cx="1828800" cy="804672"/>
          </a:xfrm>
          <a:prstGeom prst="roundRect">
            <a:avLst>
              <a:gd name="adj" fmla="val 6818"/>
            </a:avLst>
          </a:prstGeom>
          <a:solidFill>
            <a:srgbClr val="2C1A08"/>
          </a:solidFill>
          <a:ln w="19050">
            <a:solidFill>
              <a:srgbClr val="B5451B"/>
            </a:solidFill>
            <a:prstDash val="solid"/>
          </a:ln>
        </p:spPr>
      </p:sp>
      <p:sp>
        <p:nvSpPr>
          <p:cNvPr id="10" name="Text 8"/>
          <p:cNvSpPr/>
          <p:nvPr/>
        </p:nvSpPr>
        <p:spPr>
          <a:xfrm>
            <a:off x="502920" y="1938528"/>
            <a:ext cx="1645920" cy="365760"/>
          </a:xfrm>
          <a:prstGeom prst="rect">
            <a:avLst/>
          </a:prstGeom>
          <a:noFill/>
          <a:ln/>
        </p:spPr>
        <p:txBody>
          <a:bodyPr wrap="square" rtlCol="0" anchor="ctr"/>
          <a:lstStyle/>
          <a:p>
            <a:pPr indent="0" marL="0">
              <a:buNone/>
            </a:pPr>
            <a:r>
              <a:rPr lang="en-US" sz="1250" b="1" dirty="0">
                <a:solidFill>
                  <a:srgbClr val="FBF6EE"/>
                </a:solidFill>
                <a:latin typeface="Calibri" pitchFamily="34" charset="0"/>
                <a:ea typeface="Calibri" pitchFamily="34" charset="-122"/>
                <a:cs typeface="Calibri" pitchFamily="34" charset="-120"/>
              </a:rPr>
              <a:t>Make Stuffing</a:t>
            </a:r>
            <a:endParaRPr lang="en-US" sz="1250" dirty="0"/>
          </a:p>
        </p:txBody>
      </p:sp>
      <p:sp>
        <p:nvSpPr>
          <p:cNvPr id="11" name="Text 9"/>
          <p:cNvSpPr/>
          <p:nvPr/>
        </p:nvSpPr>
        <p:spPr>
          <a:xfrm>
            <a:off x="502920" y="2304288"/>
            <a:ext cx="1645920" cy="274320"/>
          </a:xfrm>
          <a:prstGeom prst="rect">
            <a:avLst/>
          </a:prstGeom>
          <a:noFill/>
          <a:ln/>
        </p:spPr>
        <p:txBody>
          <a:bodyPr wrap="square" rtlCol="0" anchor="ctr"/>
          <a:lstStyle/>
          <a:p>
            <a:pPr indent="0" marL="0">
              <a:buNone/>
            </a:pPr>
            <a:r>
              <a:rPr lang="en-US" sz="1100" dirty="0">
                <a:solidFill>
                  <a:srgbClr val="B5451B"/>
                </a:solidFill>
                <a:latin typeface="Georgia" pitchFamily="34" charset="0"/>
                <a:ea typeface="Georgia" pitchFamily="34" charset="-122"/>
                <a:cs typeface="Georgia" pitchFamily="34" charset="-120"/>
              </a:rPr>
              <a:t>30 min</a:t>
            </a:r>
            <a:endParaRPr lang="en-US" sz="1100" dirty="0"/>
          </a:p>
        </p:txBody>
      </p:sp>
      <p:sp>
        <p:nvSpPr>
          <p:cNvPr id="12" name="Shape 10"/>
          <p:cNvSpPr/>
          <p:nvPr/>
        </p:nvSpPr>
        <p:spPr>
          <a:xfrm>
            <a:off x="2240280" y="2276856"/>
            <a:ext cx="274320" cy="0"/>
          </a:xfrm>
          <a:prstGeom prst="line">
            <a:avLst/>
          </a:prstGeom>
          <a:noFill/>
          <a:ln w="25400">
            <a:solidFill>
              <a:srgbClr val="B5451B"/>
            </a:solidFill>
            <a:prstDash val="solid"/>
          </a:ln>
        </p:spPr>
      </p:sp>
      <p:sp>
        <p:nvSpPr>
          <p:cNvPr id="13" name="Shape 11"/>
          <p:cNvSpPr/>
          <p:nvPr/>
        </p:nvSpPr>
        <p:spPr>
          <a:xfrm>
            <a:off x="2514600" y="1874520"/>
            <a:ext cx="1828800" cy="804672"/>
          </a:xfrm>
          <a:prstGeom prst="roundRect">
            <a:avLst>
              <a:gd name="adj" fmla="val 6818"/>
            </a:avLst>
          </a:prstGeom>
          <a:solidFill>
            <a:srgbClr val="2C1A08"/>
          </a:solidFill>
          <a:ln w="19050">
            <a:solidFill>
              <a:srgbClr val="B5451B"/>
            </a:solidFill>
            <a:prstDash val="solid"/>
          </a:ln>
        </p:spPr>
      </p:sp>
      <p:sp>
        <p:nvSpPr>
          <p:cNvPr id="14" name="Text 12"/>
          <p:cNvSpPr/>
          <p:nvPr/>
        </p:nvSpPr>
        <p:spPr>
          <a:xfrm>
            <a:off x="2606040" y="1938528"/>
            <a:ext cx="1645920" cy="365760"/>
          </a:xfrm>
          <a:prstGeom prst="rect">
            <a:avLst/>
          </a:prstGeom>
          <a:noFill/>
          <a:ln/>
        </p:spPr>
        <p:txBody>
          <a:bodyPr wrap="square" rtlCol="0" anchor="ctr"/>
          <a:lstStyle/>
          <a:p>
            <a:pPr indent="0" marL="0">
              <a:buNone/>
            </a:pPr>
            <a:r>
              <a:rPr lang="en-US" sz="1250" b="1" dirty="0">
                <a:solidFill>
                  <a:srgbClr val="FBF6EE"/>
                </a:solidFill>
                <a:latin typeface="Calibri" pitchFamily="34" charset="0"/>
                <a:ea typeface="Calibri" pitchFamily="34" charset="-122"/>
                <a:cs typeface="Calibri" pitchFamily="34" charset="-120"/>
              </a:rPr>
              <a:t>Stuff Turkey</a:t>
            </a:r>
            <a:endParaRPr lang="en-US" sz="1250" dirty="0"/>
          </a:p>
        </p:txBody>
      </p:sp>
      <p:sp>
        <p:nvSpPr>
          <p:cNvPr id="15" name="Text 13"/>
          <p:cNvSpPr/>
          <p:nvPr/>
        </p:nvSpPr>
        <p:spPr>
          <a:xfrm>
            <a:off x="2606040" y="2304288"/>
            <a:ext cx="1645920" cy="274320"/>
          </a:xfrm>
          <a:prstGeom prst="rect">
            <a:avLst/>
          </a:prstGeom>
          <a:noFill/>
          <a:ln/>
        </p:spPr>
        <p:txBody>
          <a:bodyPr wrap="square" rtlCol="0" anchor="ctr"/>
          <a:lstStyle/>
          <a:p>
            <a:pPr indent="0" marL="0">
              <a:buNone/>
            </a:pPr>
            <a:r>
              <a:rPr lang="en-US" sz="1100" dirty="0">
                <a:solidFill>
                  <a:srgbClr val="B5451B"/>
                </a:solidFill>
                <a:latin typeface="Georgia" pitchFamily="34" charset="0"/>
                <a:ea typeface="Georgia" pitchFamily="34" charset="-122"/>
                <a:cs typeface="Georgia" pitchFamily="34" charset="-120"/>
              </a:rPr>
              <a:t>15 min</a:t>
            </a:r>
            <a:endParaRPr lang="en-US" sz="1100" dirty="0"/>
          </a:p>
        </p:txBody>
      </p:sp>
      <p:sp>
        <p:nvSpPr>
          <p:cNvPr id="16" name="Shape 14"/>
          <p:cNvSpPr/>
          <p:nvPr/>
        </p:nvSpPr>
        <p:spPr>
          <a:xfrm>
            <a:off x="4343400" y="2276856"/>
            <a:ext cx="274320" cy="0"/>
          </a:xfrm>
          <a:prstGeom prst="line">
            <a:avLst/>
          </a:prstGeom>
          <a:noFill/>
          <a:ln w="25400">
            <a:solidFill>
              <a:srgbClr val="B5451B"/>
            </a:solidFill>
            <a:prstDash val="solid"/>
          </a:ln>
        </p:spPr>
      </p:sp>
      <p:sp>
        <p:nvSpPr>
          <p:cNvPr id="17" name="Shape 15"/>
          <p:cNvSpPr/>
          <p:nvPr/>
        </p:nvSpPr>
        <p:spPr>
          <a:xfrm>
            <a:off x="4617720" y="1874520"/>
            <a:ext cx="1828800" cy="804672"/>
          </a:xfrm>
          <a:prstGeom prst="roundRect">
            <a:avLst>
              <a:gd name="adj" fmla="val 6818"/>
            </a:avLst>
          </a:prstGeom>
          <a:solidFill>
            <a:srgbClr val="2C1A08"/>
          </a:solidFill>
          <a:ln w="19050">
            <a:solidFill>
              <a:srgbClr val="B5451B"/>
            </a:solidFill>
            <a:prstDash val="solid"/>
          </a:ln>
        </p:spPr>
      </p:sp>
      <p:sp>
        <p:nvSpPr>
          <p:cNvPr id="18" name="Text 16"/>
          <p:cNvSpPr/>
          <p:nvPr/>
        </p:nvSpPr>
        <p:spPr>
          <a:xfrm>
            <a:off x="4709160" y="1938528"/>
            <a:ext cx="1645920" cy="365760"/>
          </a:xfrm>
          <a:prstGeom prst="rect">
            <a:avLst/>
          </a:prstGeom>
          <a:noFill/>
          <a:ln/>
        </p:spPr>
        <p:txBody>
          <a:bodyPr wrap="square" rtlCol="0" anchor="ctr"/>
          <a:lstStyle/>
          <a:p>
            <a:pPr indent="0" marL="0">
              <a:buNone/>
            </a:pPr>
            <a:r>
              <a:rPr lang="en-US" sz="1250" b="1" dirty="0">
                <a:solidFill>
                  <a:srgbClr val="FBF6EE"/>
                </a:solidFill>
                <a:latin typeface="Calibri" pitchFamily="34" charset="0"/>
                <a:ea typeface="Calibri" pitchFamily="34" charset="-122"/>
                <a:cs typeface="Calibri" pitchFamily="34" charset="-120"/>
              </a:rPr>
              <a:t>Roast Turkey</a:t>
            </a:r>
            <a:endParaRPr lang="en-US" sz="1250" dirty="0"/>
          </a:p>
        </p:txBody>
      </p:sp>
      <p:sp>
        <p:nvSpPr>
          <p:cNvPr id="19" name="Text 17"/>
          <p:cNvSpPr/>
          <p:nvPr/>
        </p:nvSpPr>
        <p:spPr>
          <a:xfrm>
            <a:off x="4709160" y="2304288"/>
            <a:ext cx="1645920" cy="274320"/>
          </a:xfrm>
          <a:prstGeom prst="rect">
            <a:avLst/>
          </a:prstGeom>
          <a:noFill/>
          <a:ln/>
        </p:spPr>
        <p:txBody>
          <a:bodyPr wrap="square" rtlCol="0" anchor="ctr"/>
          <a:lstStyle/>
          <a:p>
            <a:pPr indent="0" marL="0">
              <a:buNone/>
            </a:pPr>
            <a:r>
              <a:rPr lang="en-US" sz="1100" dirty="0">
                <a:solidFill>
                  <a:srgbClr val="B5451B"/>
                </a:solidFill>
                <a:latin typeface="Georgia" pitchFamily="34" charset="0"/>
                <a:ea typeface="Georgia" pitchFamily="34" charset="-122"/>
                <a:cs typeface="Georgia" pitchFamily="34" charset="-120"/>
              </a:rPr>
              <a:t>4 hrs</a:t>
            </a:r>
            <a:endParaRPr lang="en-US" sz="1100" dirty="0"/>
          </a:p>
        </p:txBody>
      </p:sp>
      <p:sp>
        <p:nvSpPr>
          <p:cNvPr id="20" name="Shape 18"/>
          <p:cNvSpPr/>
          <p:nvPr/>
        </p:nvSpPr>
        <p:spPr>
          <a:xfrm>
            <a:off x="6446520" y="2276856"/>
            <a:ext cx="274320" cy="0"/>
          </a:xfrm>
          <a:prstGeom prst="line">
            <a:avLst/>
          </a:prstGeom>
          <a:noFill/>
          <a:ln w="25400">
            <a:solidFill>
              <a:srgbClr val="B5451B"/>
            </a:solidFill>
            <a:prstDash val="solid"/>
          </a:ln>
        </p:spPr>
      </p:sp>
      <p:sp>
        <p:nvSpPr>
          <p:cNvPr id="21" name="Shape 19"/>
          <p:cNvSpPr/>
          <p:nvPr/>
        </p:nvSpPr>
        <p:spPr>
          <a:xfrm>
            <a:off x="6720840" y="1874520"/>
            <a:ext cx="1828800" cy="804672"/>
          </a:xfrm>
          <a:prstGeom prst="roundRect">
            <a:avLst>
              <a:gd name="adj" fmla="val 6818"/>
            </a:avLst>
          </a:prstGeom>
          <a:solidFill>
            <a:srgbClr val="2C1A08"/>
          </a:solidFill>
          <a:ln w="19050">
            <a:solidFill>
              <a:srgbClr val="B5451B"/>
            </a:solidFill>
            <a:prstDash val="solid"/>
          </a:ln>
        </p:spPr>
      </p:sp>
      <p:sp>
        <p:nvSpPr>
          <p:cNvPr id="22" name="Text 20"/>
          <p:cNvSpPr/>
          <p:nvPr/>
        </p:nvSpPr>
        <p:spPr>
          <a:xfrm>
            <a:off x="6812280" y="1938528"/>
            <a:ext cx="1645920" cy="365760"/>
          </a:xfrm>
          <a:prstGeom prst="rect">
            <a:avLst/>
          </a:prstGeom>
          <a:noFill/>
          <a:ln/>
        </p:spPr>
        <p:txBody>
          <a:bodyPr wrap="square" rtlCol="0" anchor="ctr"/>
          <a:lstStyle/>
          <a:p>
            <a:pPr indent="0" marL="0">
              <a:buNone/>
            </a:pPr>
            <a:r>
              <a:rPr lang="en-US" sz="1250" b="1" dirty="0">
                <a:solidFill>
                  <a:srgbClr val="FBF6EE"/>
                </a:solidFill>
                <a:latin typeface="Calibri" pitchFamily="34" charset="0"/>
                <a:ea typeface="Calibri" pitchFamily="34" charset="-122"/>
                <a:cs typeface="Calibri" pitchFamily="34" charset="-120"/>
              </a:rPr>
              <a:t>Make Gravy</a:t>
            </a:r>
            <a:endParaRPr lang="en-US" sz="1250" dirty="0"/>
          </a:p>
        </p:txBody>
      </p:sp>
      <p:sp>
        <p:nvSpPr>
          <p:cNvPr id="23" name="Text 21"/>
          <p:cNvSpPr/>
          <p:nvPr/>
        </p:nvSpPr>
        <p:spPr>
          <a:xfrm>
            <a:off x="6812280" y="2304288"/>
            <a:ext cx="1645920" cy="274320"/>
          </a:xfrm>
          <a:prstGeom prst="rect">
            <a:avLst/>
          </a:prstGeom>
          <a:noFill/>
          <a:ln/>
        </p:spPr>
        <p:txBody>
          <a:bodyPr wrap="square" rtlCol="0" anchor="ctr"/>
          <a:lstStyle/>
          <a:p>
            <a:pPr indent="0" marL="0">
              <a:buNone/>
            </a:pPr>
            <a:r>
              <a:rPr lang="en-US" sz="1100" dirty="0">
                <a:solidFill>
                  <a:srgbClr val="B5451B"/>
                </a:solidFill>
                <a:latin typeface="Georgia" pitchFamily="34" charset="0"/>
                <a:ea typeface="Georgia" pitchFamily="34" charset="-122"/>
                <a:cs typeface="Georgia" pitchFamily="34" charset="-120"/>
              </a:rPr>
              <a:t>20 min</a:t>
            </a:r>
            <a:endParaRPr lang="en-US" sz="1100" dirty="0"/>
          </a:p>
        </p:txBody>
      </p:sp>
      <p:sp>
        <p:nvSpPr>
          <p:cNvPr id="24" name="Text 22"/>
          <p:cNvSpPr/>
          <p:nvPr/>
        </p:nvSpPr>
        <p:spPr>
          <a:xfrm>
            <a:off x="411480" y="2834640"/>
            <a:ext cx="2743200" cy="320040"/>
          </a:xfrm>
          <a:prstGeom prst="rect">
            <a:avLst/>
          </a:prstGeom>
          <a:noFill/>
          <a:ln/>
        </p:spPr>
        <p:txBody>
          <a:bodyPr wrap="square" rtlCol="0" anchor="ctr"/>
          <a:lstStyle/>
          <a:p>
            <a:pPr indent="0" marL="0">
              <a:buNone/>
            </a:pPr>
            <a:r>
              <a:rPr lang="en-US" sz="1200" b="1" spc="100" kern="0" dirty="0">
                <a:solidFill>
                  <a:srgbClr val="3D6145"/>
                </a:solidFill>
                <a:latin typeface="Georgia" pitchFamily="34" charset="0"/>
                <a:ea typeface="Georgia" pitchFamily="34" charset="-122"/>
                <a:cs typeface="Georgia" pitchFamily="34" charset="-120"/>
              </a:rPr>
              <a:t>Parallel (not critical)</a:t>
            </a:r>
            <a:endParaRPr lang="en-US" sz="1200" dirty="0"/>
          </a:p>
        </p:txBody>
      </p:sp>
      <p:sp>
        <p:nvSpPr>
          <p:cNvPr id="25" name="Shape 23"/>
          <p:cNvSpPr/>
          <p:nvPr/>
        </p:nvSpPr>
        <p:spPr>
          <a:xfrm>
            <a:off x="411480" y="3218688"/>
            <a:ext cx="1828800" cy="548640"/>
          </a:xfrm>
          <a:prstGeom prst="roundRect">
            <a:avLst>
              <a:gd name="adj" fmla="val 10000"/>
            </a:avLst>
          </a:prstGeom>
          <a:solidFill>
            <a:srgbClr val="0E2010"/>
          </a:solidFill>
          <a:ln w="12700">
            <a:solidFill>
              <a:srgbClr val="3D6145"/>
            </a:solidFill>
            <a:prstDash val="solid"/>
          </a:ln>
        </p:spPr>
      </p:sp>
      <p:sp>
        <p:nvSpPr>
          <p:cNvPr id="26" name="Text 24"/>
          <p:cNvSpPr/>
          <p:nvPr/>
        </p:nvSpPr>
        <p:spPr>
          <a:xfrm>
            <a:off x="502920" y="3273552"/>
            <a:ext cx="1645920" cy="438912"/>
          </a:xfrm>
          <a:prstGeom prst="rect">
            <a:avLst/>
          </a:prstGeom>
          <a:noFill/>
          <a:ln/>
        </p:spPr>
        <p:txBody>
          <a:bodyPr wrap="square" rtlCol="0" anchor="ctr"/>
          <a:lstStyle/>
          <a:p>
            <a:pPr indent="0" marL="0">
              <a:buNone/>
            </a:pPr>
            <a:r>
              <a:rPr lang="en-US" sz="1050" dirty="0">
                <a:solidFill>
                  <a:srgbClr val="C4DBC8"/>
                </a:solidFill>
                <a:latin typeface="Calibri" pitchFamily="34" charset="0"/>
                <a:ea typeface="Calibri" pitchFamily="34" charset="-122"/>
                <a:cs typeface="Calibri" pitchFamily="34" charset="-120"/>
              </a:rPr>
              <a:t>Bake Pie (oven overlap or ahead)</a:t>
            </a:r>
            <a:endParaRPr lang="en-US" sz="1050" dirty="0"/>
          </a:p>
        </p:txBody>
      </p:sp>
      <p:sp>
        <p:nvSpPr>
          <p:cNvPr id="27" name="Shape 25"/>
          <p:cNvSpPr/>
          <p:nvPr/>
        </p:nvSpPr>
        <p:spPr>
          <a:xfrm>
            <a:off x="2514600" y="3218688"/>
            <a:ext cx="1828800" cy="548640"/>
          </a:xfrm>
          <a:prstGeom prst="roundRect">
            <a:avLst>
              <a:gd name="adj" fmla="val 10000"/>
            </a:avLst>
          </a:prstGeom>
          <a:solidFill>
            <a:srgbClr val="0E2010"/>
          </a:solidFill>
          <a:ln w="12700">
            <a:solidFill>
              <a:srgbClr val="3D6145"/>
            </a:solidFill>
            <a:prstDash val="solid"/>
          </a:ln>
        </p:spPr>
      </p:sp>
      <p:sp>
        <p:nvSpPr>
          <p:cNvPr id="28" name="Text 26"/>
          <p:cNvSpPr/>
          <p:nvPr/>
        </p:nvSpPr>
        <p:spPr>
          <a:xfrm>
            <a:off x="2606040" y="3273552"/>
            <a:ext cx="1645920" cy="438912"/>
          </a:xfrm>
          <a:prstGeom prst="rect">
            <a:avLst/>
          </a:prstGeom>
          <a:noFill/>
          <a:ln/>
        </p:spPr>
        <p:txBody>
          <a:bodyPr wrap="square" rtlCol="0" anchor="ctr"/>
          <a:lstStyle/>
          <a:p>
            <a:pPr indent="0" marL="0">
              <a:buNone/>
            </a:pPr>
            <a:r>
              <a:rPr lang="en-US" sz="1050" dirty="0">
                <a:solidFill>
                  <a:srgbClr val="C4DBC8"/>
                </a:solidFill>
                <a:latin typeface="Calibri" pitchFamily="34" charset="0"/>
                <a:ea typeface="Calibri" pitchFamily="34" charset="-122"/>
                <a:cs typeface="Calibri" pitchFamily="34" charset="-120"/>
              </a:rPr>
              <a:t>Mashed Potatoes (separate cooktop)</a:t>
            </a:r>
            <a:endParaRPr lang="en-US" sz="1050" dirty="0"/>
          </a:p>
        </p:txBody>
      </p:sp>
      <p:sp>
        <p:nvSpPr>
          <p:cNvPr id="29" name="Shape 27"/>
          <p:cNvSpPr/>
          <p:nvPr/>
        </p:nvSpPr>
        <p:spPr>
          <a:xfrm>
            <a:off x="4617720" y="3218688"/>
            <a:ext cx="1828800" cy="548640"/>
          </a:xfrm>
          <a:prstGeom prst="roundRect">
            <a:avLst>
              <a:gd name="adj" fmla="val 10000"/>
            </a:avLst>
          </a:prstGeom>
          <a:solidFill>
            <a:srgbClr val="0E2010"/>
          </a:solidFill>
          <a:ln w="12700">
            <a:solidFill>
              <a:srgbClr val="3D6145"/>
            </a:solidFill>
            <a:prstDash val="solid"/>
          </a:ln>
        </p:spPr>
      </p:sp>
      <p:sp>
        <p:nvSpPr>
          <p:cNvPr id="30" name="Text 28"/>
          <p:cNvSpPr/>
          <p:nvPr/>
        </p:nvSpPr>
        <p:spPr>
          <a:xfrm>
            <a:off x="4709160" y="3273552"/>
            <a:ext cx="1645920" cy="438912"/>
          </a:xfrm>
          <a:prstGeom prst="rect">
            <a:avLst/>
          </a:prstGeom>
          <a:noFill/>
          <a:ln/>
        </p:spPr>
        <p:txBody>
          <a:bodyPr wrap="square" rtlCol="0" anchor="ctr"/>
          <a:lstStyle/>
          <a:p>
            <a:pPr indent="0" marL="0">
              <a:buNone/>
            </a:pPr>
            <a:r>
              <a:rPr lang="en-US" sz="1050" dirty="0">
                <a:solidFill>
                  <a:srgbClr val="C4DBC8"/>
                </a:solidFill>
                <a:latin typeface="Calibri" pitchFamily="34" charset="0"/>
                <a:ea typeface="Calibri" pitchFamily="34" charset="-122"/>
                <a:cs typeface="Calibri" pitchFamily="34" charset="-120"/>
              </a:rPr>
              <a:t>Green Beans (separate cooktop)</a:t>
            </a:r>
            <a:endParaRPr lang="en-US" sz="1050" dirty="0"/>
          </a:p>
        </p:txBody>
      </p:sp>
      <p:sp>
        <p:nvSpPr>
          <p:cNvPr id="31" name="Shape 29"/>
          <p:cNvSpPr/>
          <p:nvPr/>
        </p:nvSpPr>
        <p:spPr>
          <a:xfrm>
            <a:off x="6720840" y="3218688"/>
            <a:ext cx="1828800" cy="548640"/>
          </a:xfrm>
          <a:prstGeom prst="roundRect">
            <a:avLst>
              <a:gd name="adj" fmla="val 10000"/>
            </a:avLst>
          </a:prstGeom>
          <a:solidFill>
            <a:srgbClr val="0E2010"/>
          </a:solidFill>
          <a:ln w="12700">
            <a:solidFill>
              <a:srgbClr val="3D6145"/>
            </a:solidFill>
            <a:prstDash val="solid"/>
          </a:ln>
        </p:spPr>
      </p:sp>
      <p:sp>
        <p:nvSpPr>
          <p:cNvPr id="32" name="Text 30"/>
          <p:cNvSpPr/>
          <p:nvPr/>
        </p:nvSpPr>
        <p:spPr>
          <a:xfrm>
            <a:off x="6812280" y="3273552"/>
            <a:ext cx="1645920" cy="438912"/>
          </a:xfrm>
          <a:prstGeom prst="rect">
            <a:avLst/>
          </a:prstGeom>
          <a:noFill/>
          <a:ln/>
        </p:spPr>
        <p:txBody>
          <a:bodyPr wrap="square" rtlCol="0" anchor="ctr"/>
          <a:lstStyle/>
          <a:p>
            <a:pPr indent="0" marL="0">
              <a:buNone/>
            </a:pPr>
            <a:r>
              <a:rPr lang="en-US" sz="1050" dirty="0">
                <a:solidFill>
                  <a:srgbClr val="C4DBC8"/>
                </a:solidFill>
                <a:latin typeface="Calibri" pitchFamily="34" charset="0"/>
                <a:ea typeface="Calibri" pitchFamily="34" charset="-122"/>
                <a:cs typeface="Calibri" pitchFamily="34" charset="-120"/>
              </a:rPr>
              <a:t>Tossed Salad (no heat needed)</a:t>
            </a:r>
            <a:endParaRPr lang="en-US" sz="1050" dirty="0"/>
          </a:p>
        </p:txBody>
      </p:sp>
      <p:sp>
        <p:nvSpPr>
          <p:cNvPr id="33" name="Shape 31"/>
          <p:cNvSpPr/>
          <p:nvPr/>
        </p:nvSpPr>
        <p:spPr>
          <a:xfrm>
            <a:off x="347472" y="3931920"/>
            <a:ext cx="8458200" cy="1353312"/>
          </a:xfrm>
          <a:prstGeom prst="roundRect">
            <a:avLst>
              <a:gd name="adj" fmla="val 4730"/>
            </a:avLst>
          </a:prstGeom>
          <a:solidFill>
            <a:srgbClr val="221508"/>
          </a:solidFill>
          <a:ln w="12700">
            <a:solidFill>
              <a:srgbClr val="3A2810"/>
            </a:solidFill>
            <a:prstDash val="solid"/>
          </a:ln>
        </p:spPr>
      </p:sp>
      <p:sp>
        <p:nvSpPr>
          <p:cNvPr id="34" name="Text 32"/>
          <p:cNvSpPr/>
          <p:nvPr/>
        </p:nvSpPr>
        <p:spPr>
          <a:xfrm>
            <a:off x="548640" y="4041648"/>
            <a:ext cx="3657600" cy="347472"/>
          </a:xfrm>
          <a:prstGeom prst="rect">
            <a:avLst/>
          </a:prstGeom>
          <a:noFill/>
          <a:ln/>
        </p:spPr>
        <p:txBody>
          <a:bodyPr wrap="square" rtlCol="0" anchor="ctr"/>
          <a:lstStyle/>
          <a:p>
            <a:pPr indent="0" marL="0">
              <a:buNone/>
            </a:pPr>
            <a:r>
              <a:rPr lang="en-US" sz="1400" b="1" dirty="0">
                <a:solidFill>
                  <a:srgbClr val="B5451B"/>
                </a:solidFill>
                <a:latin typeface="Georgia" pitchFamily="34" charset="0"/>
                <a:ea typeface="Georgia" pitchFamily="34" charset="-122"/>
                <a:cs typeface="Georgia" pitchFamily="34" charset="-120"/>
              </a:rPr>
              <a:t>The Critical Path Principle</a:t>
            </a:r>
            <a:endParaRPr lang="en-US" sz="1400" dirty="0"/>
          </a:p>
        </p:txBody>
      </p:sp>
      <p:sp>
        <p:nvSpPr>
          <p:cNvPr id="35" name="Text 33"/>
          <p:cNvSpPr/>
          <p:nvPr/>
        </p:nvSpPr>
        <p:spPr>
          <a:xfrm>
            <a:off x="548640" y="4407408"/>
            <a:ext cx="8229600" cy="749808"/>
          </a:xfrm>
          <a:prstGeom prst="rect">
            <a:avLst/>
          </a:prstGeom>
          <a:noFill/>
          <a:ln/>
        </p:spPr>
        <p:txBody>
          <a:bodyPr wrap="square" rtlCol="0" anchor="ctr"/>
          <a:lstStyle/>
          <a:p>
            <a:pPr indent="0" marL="0">
              <a:lnSpc>
                <a:spcPct val="135000"/>
              </a:lnSpc>
              <a:buNone/>
            </a:pPr>
            <a:r>
              <a:rPr lang="en-US" sz="1200" dirty="0">
                <a:solidFill>
                  <a:srgbClr val="D4C4A0"/>
                </a:solidFill>
                <a:latin typeface="Calibri" pitchFamily="34" charset="0"/>
                <a:ea typeface="Calibri" pitchFamily="34" charset="-122"/>
                <a:cs typeface="Calibri" pitchFamily="34" charset="-120"/>
              </a:rPr>
              <a:t>The longest chain of dependent tasks determines when you finish - not the total volume of work. Delay the turkey, everything after it slips. Delay the salad, nothing else changes. Identify your critical path before you start, not after something goes wrong.</a:t>
            </a:r>
            <a:endParaRPr lang="en-US" sz="1200" dirty="0"/>
          </a:p>
        </p:txBody>
      </p:sp>
      <p:sp>
        <p:nvSpPr>
          <p:cNvPr id="36" name="Text 34"/>
          <p:cNvSpPr/>
          <p:nvPr/>
        </p:nvSpPr>
        <p:spPr>
          <a:xfrm>
            <a:off x="411480" y="5376672"/>
            <a:ext cx="8412480" cy="274320"/>
          </a:xfrm>
          <a:prstGeom prst="rect">
            <a:avLst/>
          </a:prstGeom>
          <a:noFill/>
          <a:ln/>
        </p:spPr>
        <p:txBody>
          <a:bodyPr wrap="square" rtlCol="0" anchor="ctr"/>
          <a:lstStyle/>
          <a:p>
            <a:pPr indent="0" marL="0">
              <a:buNone/>
            </a:pPr>
            <a:r>
              <a:rPr lang="en-US" sz="1050" i="1" dirty="0">
                <a:solidFill>
                  <a:srgbClr val="6B5030"/>
                </a:solidFill>
                <a:latin typeface="Calibri" pitchFamily="34" charset="0"/>
                <a:ea typeface="Calibri" pitchFamily="34" charset="-122"/>
                <a:cs typeface="Calibri" pitchFamily="34" charset="-120"/>
              </a:rPr>
              <a:t>PM Tip: Do the risky thing first. Don't try homemade cranberry sauce for the first time an hour before dinner.</a:t>
            </a:r>
            <a:endParaRPr lang="en-US" sz="1050" dirty="0"/>
          </a:p>
        </p:txBody>
      </p:sp>
      <p:sp>
        <p:nvSpPr>
          <p:cNvPr id="37" name="Text 35"/>
          <p:cNvSpPr/>
          <p:nvPr/>
        </p:nvSpPr>
        <p:spPr>
          <a:xfrm>
            <a:off x="7863840" y="6217920"/>
            <a:ext cx="1097280" cy="228600"/>
          </a:xfrm>
          <a:prstGeom prst="rect">
            <a:avLst/>
          </a:prstGeom>
          <a:noFill/>
          <a:ln/>
        </p:spPr>
        <p:txBody>
          <a:bodyPr wrap="square" rtlCol="0" anchor="ctr"/>
          <a:lstStyle/>
          <a:p>
            <a:pPr algn="r" indent="0" marL="0">
              <a:buNone/>
            </a:pPr>
            <a:r>
              <a:rPr lang="en-US" sz="900" dirty="0">
                <a:solidFill>
                  <a:srgbClr val="C8BCA8"/>
                </a:solidFill>
                <a:latin typeface="Calibri" pitchFamily="34" charset="0"/>
                <a:ea typeface="Calibri" pitchFamily="34" charset="-122"/>
                <a:cs typeface="Calibri"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6EE"/>
          </a:solidFill>
          <a:ln w="12700">
            <a:solidFill>
              <a:srgbClr val="FBF6EE"/>
            </a:solidFill>
            <a:prstDash val="solid"/>
          </a:ln>
        </p:spPr>
      </p:sp>
      <p:sp>
        <p:nvSpPr>
          <p:cNvPr id="3" name="Shape 1"/>
          <p:cNvSpPr/>
          <p:nvPr/>
        </p:nvSpPr>
        <p:spPr>
          <a:xfrm>
            <a:off x="0" y="0"/>
            <a:ext cx="164592" cy="5143500"/>
          </a:xfrm>
          <a:prstGeom prst="rect">
            <a:avLst/>
          </a:prstGeom>
          <a:solidFill>
            <a:srgbClr val="3D6145"/>
          </a:solidFill>
          <a:ln w="12700">
            <a:solidFill>
              <a:srgbClr val="3D6145"/>
            </a:solidFill>
            <a:prstDash val="solid"/>
          </a:ln>
        </p:spPr>
      </p:sp>
      <p:sp>
        <p:nvSpPr>
          <p:cNvPr id="4" name="Shape 2"/>
          <p:cNvSpPr/>
          <p:nvPr/>
        </p:nvSpPr>
        <p:spPr>
          <a:xfrm>
            <a:off x="411480" y="201168"/>
            <a:ext cx="1289304" cy="292608"/>
          </a:xfrm>
          <a:prstGeom prst="roundRect">
            <a:avLst>
              <a:gd name="adj" fmla="val 25000"/>
            </a:avLst>
          </a:prstGeom>
          <a:solidFill>
            <a:srgbClr val="C4DBC8"/>
          </a:solidFill>
          <a:ln w="12700">
            <a:solidFill>
              <a:srgbClr val="C4DBC8"/>
            </a:solidFill>
            <a:prstDash val="solid"/>
          </a:ln>
        </p:spPr>
      </p:sp>
      <p:sp>
        <p:nvSpPr>
          <p:cNvPr id="5" name="Text 3"/>
          <p:cNvSpPr/>
          <p:nvPr/>
        </p:nvSpPr>
        <p:spPr>
          <a:xfrm>
            <a:off x="448056" y="219456"/>
            <a:ext cx="1216152" cy="256032"/>
          </a:xfrm>
          <a:prstGeom prst="rect">
            <a:avLst/>
          </a:prstGeom>
          <a:noFill/>
          <a:ln/>
        </p:spPr>
        <p:txBody>
          <a:bodyPr wrap="square" rtlCol="0" anchor="ctr"/>
          <a:lstStyle/>
          <a:p>
            <a:pPr indent="0" marL="0">
              <a:buNone/>
            </a:pPr>
            <a:r>
              <a:rPr lang="en-US" sz="1100" b="1" dirty="0">
                <a:solidFill>
                  <a:srgbClr val="B5451B"/>
                </a:solidFill>
                <a:latin typeface="Calibri" pitchFamily="34" charset="0"/>
                <a:ea typeface="Calibri" pitchFamily="34" charset="-122"/>
                <a:cs typeface="Calibri" pitchFamily="34" charset="-120"/>
              </a:rPr>
              <a:t>Step 04</a:t>
            </a:r>
            <a:endParaRPr lang="en-US" sz="1100" dirty="0"/>
          </a:p>
        </p:txBody>
      </p:sp>
      <p:sp>
        <p:nvSpPr>
          <p:cNvPr id="6" name="Text 4"/>
          <p:cNvSpPr/>
          <p:nvPr/>
        </p:nvSpPr>
        <p:spPr>
          <a:xfrm>
            <a:off x="411480" y="512064"/>
            <a:ext cx="8321040" cy="548640"/>
          </a:xfrm>
          <a:prstGeom prst="rect">
            <a:avLst/>
          </a:prstGeom>
          <a:noFill/>
          <a:ln/>
        </p:spPr>
        <p:txBody>
          <a:bodyPr wrap="square" rtlCol="0" anchor="ctr"/>
          <a:lstStyle/>
          <a:p>
            <a:pPr indent="0" marL="0">
              <a:buNone/>
            </a:pPr>
            <a:r>
              <a:rPr lang="en-US" sz="3000" b="1" dirty="0">
                <a:solidFill>
                  <a:srgbClr val="2B1F0F"/>
                </a:solidFill>
                <a:latin typeface="Georgia" pitchFamily="34" charset="0"/>
                <a:ea typeface="Georgia" pitchFamily="34" charset="-122"/>
                <a:cs typeface="Georgia" pitchFamily="34" charset="-120"/>
              </a:rPr>
              <a:t>Assess the Risks</a:t>
            </a:r>
            <a:endParaRPr lang="en-US" sz="3000" dirty="0"/>
          </a:p>
        </p:txBody>
      </p:sp>
      <p:sp>
        <p:nvSpPr>
          <p:cNvPr id="7" name="Text 5"/>
          <p:cNvSpPr/>
          <p:nvPr/>
        </p:nvSpPr>
        <p:spPr>
          <a:xfrm>
            <a:off x="411480" y="1115568"/>
            <a:ext cx="8321040" cy="329184"/>
          </a:xfrm>
          <a:prstGeom prst="rect">
            <a:avLst/>
          </a:prstGeom>
          <a:noFill/>
          <a:ln/>
        </p:spPr>
        <p:txBody>
          <a:bodyPr wrap="square" rtlCol="0" anchor="ctr"/>
          <a:lstStyle/>
          <a:p>
            <a:pPr indent="0" marL="0">
              <a:buNone/>
            </a:pPr>
            <a:r>
              <a:rPr lang="en-US" sz="1300" i="1" dirty="0">
                <a:solidFill>
                  <a:srgbClr val="6B5740"/>
                </a:solidFill>
                <a:latin typeface="Calibri" pitchFamily="34" charset="0"/>
                <a:ea typeface="Calibri" pitchFamily="34" charset="-122"/>
                <a:cs typeface="Calibri" pitchFamily="34" charset="-120"/>
              </a:rPr>
              <a:t>Not every risk deserves a backup plan. Here's how to tell which ones do:</a:t>
            </a:r>
            <a:endParaRPr lang="en-US" sz="1300" dirty="0"/>
          </a:p>
        </p:txBody>
      </p:sp>
      <p:sp>
        <p:nvSpPr>
          <p:cNvPr id="8" name="Shape 6"/>
          <p:cNvSpPr/>
          <p:nvPr/>
        </p:nvSpPr>
        <p:spPr>
          <a:xfrm>
            <a:off x="347472" y="1536192"/>
            <a:ext cx="2926080" cy="347472"/>
          </a:xfrm>
          <a:prstGeom prst="rect">
            <a:avLst/>
          </a:prstGeom>
          <a:solidFill>
            <a:srgbClr val="3D6145"/>
          </a:solidFill>
          <a:ln w="12700">
            <a:solidFill>
              <a:srgbClr val="3D6145"/>
            </a:solidFill>
            <a:prstDash val="solid"/>
          </a:ln>
        </p:spPr>
      </p:sp>
      <p:sp>
        <p:nvSpPr>
          <p:cNvPr id="9" name="Text 7"/>
          <p:cNvSpPr/>
          <p:nvPr/>
        </p:nvSpPr>
        <p:spPr>
          <a:xfrm>
            <a:off x="438912" y="1554480"/>
            <a:ext cx="2834640" cy="310896"/>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Risk</a:t>
            </a:r>
            <a:endParaRPr lang="en-US" sz="1150" dirty="0"/>
          </a:p>
        </p:txBody>
      </p:sp>
      <p:sp>
        <p:nvSpPr>
          <p:cNvPr id="10" name="Shape 8"/>
          <p:cNvSpPr/>
          <p:nvPr/>
        </p:nvSpPr>
        <p:spPr>
          <a:xfrm>
            <a:off x="3273552" y="1536192"/>
            <a:ext cx="1371600" cy="347472"/>
          </a:xfrm>
          <a:prstGeom prst="rect">
            <a:avLst/>
          </a:prstGeom>
          <a:solidFill>
            <a:srgbClr val="3D6145"/>
          </a:solidFill>
          <a:ln w="12700">
            <a:solidFill>
              <a:srgbClr val="3D6145"/>
            </a:solidFill>
            <a:prstDash val="solid"/>
          </a:ln>
        </p:spPr>
      </p:sp>
      <p:sp>
        <p:nvSpPr>
          <p:cNvPr id="11" name="Text 9"/>
          <p:cNvSpPr/>
          <p:nvPr/>
        </p:nvSpPr>
        <p:spPr>
          <a:xfrm>
            <a:off x="3364992" y="1554480"/>
            <a:ext cx="1280160" cy="310896"/>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Likelihood</a:t>
            </a:r>
            <a:endParaRPr lang="en-US" sz="1150" dirty="0"/>
          </a:p>
        </p:txBody>
      </p:sp>
      <p:sp>
        <p:nvSpPr>
          <p:cNvPr id="12" name="Shape 10"/>
          <p:cNvSpPr/>
          <p:nvPr/>
        </p:nvSpPr>
        <p:spPr>
          <a:xfrm>
            <a:off x="4645152" y="1536192"/>
            <a:ext cx="1280160" cy="347472"/>
          </a:xfrm>
          <a:prstGeom prst="rect">
            <a:avLst/>
          </a:prstGeom>
          <a:solidFill>
            <a:srgbClr val="3D6145"/>
          </a:solidFill>
          <a:ln w="12700">
            <a:solidFill>
              <a:srgbClr val="3D6145"/>
            </a:solidFill>
            <a:prstDash val="solid"/>
          </a:ln>
        </p:spPr>
      </p:sp>
      <p:sp>
        <p:nvSpPr>
          <p:cNvPr id="13" name="Text 11"/>
          <p:cNvSpPr/>
          <p:nvPr/>
        </p:nvSpPr>
        <p:spPr>
          <a:xfrm>
            <a:off x="4736592" y="1554480"/>
            <a:ext cx="1188720" cy="310896"/>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Impact</a:t>
            </a:r>
            <a:endParaRPr lang="en-US" sz="1150" dirty="0"/>
          </a:p>
        </p:txBody>
      </p:sp>
      <p:sp>
        <p:nvSpPr>
          <p:cNvPr id="14" name="Shape 12"/>
          <p:cNvSpPr/>
          <p:nvPr/>
        </p:nvSpPr>
        <p:spPr>
          <a:xfrm>
            <a:off x="5925312" y="1536192"/>
            <a:ext cx="2834640" cy="347472"/>
          </a:xfrm>
          <a:prstGeom prst="rect">
            <a:avLst/>
          </a:prstGeom>
          <a:solidFill>
            <a:srgbClr val="3D6145"/>
          </a:solidFill>
          <a:ln w="12700">
            <a:solidFill>
              <a:srgbClr val="3D6145"/>
            </a:solidFill>
            <a:prstDash val="solid"/>
          </a:ln>
        </p:spPr>
      </p:sp>
      <p:sp>
        <p:nvSpPr>
          <p:cNvPr id="15" name="Text 13"/>
          <p:cNvSpPr/>
          <p:nvPr/>
        </p:nvSpPr>
        <p:spPr>
          <a:xfrm>
            <a:off x="6016752" y="1554480"/>
            <a:ext cx="2743200" cy="310896"/>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Response</a:t>
            </a:r>
            <a:endParaRPr lang="en-US" sz="1150" dirty="0"/>
          </a:p>
        </p:txBody>
      </p:sp>
      <p:sp>
        <p:nvSpPr>
          <p:cNvPr id="16" name="Shape 14"/>
          <p:cNvSpPr/>
          <p:nvPr/>
        </p:nvSpPr>
        <p:spPr>
          <a:xfrm>
            <a:off x="347472" y="1883664"/>
            <a:ext cx="2926080" cy="658368"/>
          </a:xfrm>
          <a:prstGeom prst="rect">
            <a:avLst/>
          </a:prstGeom>
          <a:solidFill>
            <a:srgbClr val="FBF6EE"/>
          </a:solidFill>
          <a:ln w="6350">
            <a:solidFill>
              <a:srgbClr val="DDD5C5"/>
            </a:solidFill>
            <a:prstDash val="solid"/>
          </a:ln>
        </p:spPr>
      </p:sp>
      <p:sp>
        <p:nvSpPr>
          <p:cNvPr id="17" name="Text 15"/>
          <p:cNvSpPr/>
          <p:nvPr/>
        </p:nvSpPr>
        <p:spPr>
          <a:xfrm>
            <a:off x="438912" y="1920240"/>
            <a:ext cx="2798064" cy="548640"/>
          </a:xfrm>
          <a:prstGeom prst="rect">
            <a:avLst/>
          </a:prstGeom>
          <a:noFill/>
          <a:ln/>
        </p:spPr>
        <p:txBody>
          <a:bodyPr wrap="square" rtlCol="0" anchor="ctr"/>
          <a:lstStyle/>
          <a:p>
            <a:pPr indent="0" marL="0">
              <a:buNone/>
            </a:pPr>
            <a:r>
              <a:rPr lang="en-US" sz="1100" dirty="0">
                <a:solidFill>
                  <a:srgbClr val="2B1F0F"/>
                </a:solidFill>
                <a:latin typeface="Calibri" pitchFamily="34" charset="0"/>
                <a:ea typeface="Calibri" pitchFamily="34" charset="-122"/>
                <a:cs typeface="Calibri" pitchFamily="34" charset="-120"/>
              </a:rPr>
              <a:t>Cousin going Paleo this year</a:t>
            </a:r>
            <a:endParaRPr lang="en-US" sz="1100" dirty="0"/>
          </a:p>
        </p:txBody>
      </p:sp>
      <p:sp>
        <p:nvSpPr>
          <p:cNvPr id="18" name="Shape 16"/>
          <p:cNvSpPr/>
          <p:nvPr/>
        </p:nvSpPr>
        <p:spPr>
          <a:xfrm>
            <a:off x="3273552" y="1883664"/>
            <a:ext cx="1371600" cy="658368"/>
          </a:xfrm>
          <a:prstGeom prst="rect">
            <a:avLst/>
          </a:prstGeom>
          <a:solidFill>
            <a:srgbClr val="FBF6EE"/>
          </a:solidFill>
          <a:ln w="6350">
            <a:solidFill>
              <a:srgbClr val="DDD5C5"/>
            </a:solidFill>
            <a:prstDash val="solid"/>
          </a:ln>
        </p:spPr>
      </p:sp>
      <p:sp>
        <p:nvSpPr>
          <p:cNvPr id="19" name="Text 17"/>
          <p:cNvSpPr/>
          <p:nvPr/>
        </p:nvSpPr>
        <p:spPr>
          <a:xfrm>
            <a:off x="3364992" y="1920240"/>
            <a:ext cx="1243584" cy="548640"/>
          </a:xfrm>
          <a:prstGeom prst="rect">
            <a:avLst/>
          </a:prstGeom>
          <a:noFill/>
          <a:ln/>
        </p:spPr>
        <p:txBody>
          <a:bodyPr wrap="square" rtlCol="0" anchor="ctr"/>
          <a:lstStyle/>
          <a:p>
            <a:pPr indent="0" marL="0">
              <a:buNone/>
            </a:pPr>
            <a:r>
              <a:rPr lang="en-US" sz="1100" b="1" dirty="0">
                <a:solidFill>
                  <a:srgbClr val="8C6914"/>
                </a:solidFill>
                <a:latin typeface="Calibri" pitchFamily="34" charset="0"/>
                <a:ea typeface="Calibri" pitchFamily="34" charset="-122"/>
                <a:cs typeface="Calibri" pitchFamily="34" charset="-120"/>
              </a:rPr>
              <a:t>Medium</a:t>
            </a:r>
            <a:endParaRPr lang="en-US" sz="1100" dirty="0"/>
          </a:p>
        </p:txBody>
      </p:sp>
      <p:sp>
        <p:nvSpPr>
          <p:cNvPr id="20" name="Shape 18"/>
          <p:cNvSpPr/>
          <p:nvPr/>
        </p:nvSpPr>
        <p:spPr>
          <a:xfrm>
            <a:off x="4645152" y="1883664"/>
            <a:ext cx="1280160" cy="658368"/>
          </a:xfrm>
          <a:prstGeom prst="rect">
            <a:avLst/>
          </a:prstGeom>
          <a:solidFill>
            <a:srgbClr val="FBF6EE"/>
          </a:solidFill>
          <a:ln w="6350">
            <a:solidFill>
              <a:srgbClr val="DDD5C5"/>
            </a:solidFill>
            <a:prstDash val="solid"/>
          </a:ln>
        </p:spPr>
      </p:sp>
      <p:sp>
        <p:nvSpPr>
          <p:cNvPr id="21" name="Text 19"/>
          <p:cNvSpPr/>
          <p:nvPr/>
        </p:nvSpPr>
        <p:spPr>
          <a:xfrm>
            <a:off x="4736592" y="1920240"/>
            <a:ext cx="1152144" cy="548640"/>
          </a:xfrm>
          <a:prstGeom prst="rect">
            <a:avLst/>
          </a:prstGeom>
          <a:noFill/>
          <a:ln/>
        </p:spPr>
        <p:txBody>
          <a:bodyPr wrap="square" rtlCol="0" anchor="ctr"/>
          <a:lstStyle/>
          <a:p>
            <a:pPr indent="0" marL="0">
              <a:buNone/>
            </a:pPr>
            <a:r>
              <a:rPr lang="en-US" sz="1100" b="1" dirty="0">
                <a:solidFill>
                  <a:srgbClr val="2B1F0F"/>
                </a:solidFill>
                <a:latin typeface="Calibri" pitchFamily="34" charset="0"/>
                <a:ea typeface="Calibri" pitchFamily="34" charset="-122"/>
                <a:cs typeface="Calibri" pitchFamily="34" charset="-120"/>
              </a:rPr>
              <a:t>Low</a:t>
            </a:r>
            <a:endParaRPr lang="en-US" sz="1100" dirty="0"/>
          </a:p>
        </p:txBody>
      </p:sp>
      <p:sp>
        <p:nvSpPr>
          <p:cNvPr id="22" name="Shape 20"/>
          <p:cNvSpPr/>
          <p:nvPr/>
        </p:nvSpPr>
        <p:spPr>
          <a:xfrm>
            <a:off x="5925312" y="1883664"/>
            <a:ext cx="2834640" cy="658368"/>
          </a:xfrm>
          <a:prstGeom prst="rect">
            <a:avLst/>
          </a:prstGeom>
          <a:solidFill>
            <a:srgbClr val="FBF6EE"/>
          </a:solidFill>
          <a:ln w="6350">
            <a:solidFill>
              <a:srgbClr val="DDD5C5"/>
            </a:solidFill>
            <a:prstDash val="solid"/>
          </a:ln>
        </p:spPr>
      </p:sp>
      <p:sp>
        <p:nvSpPr>
          <p:cNvPr id="23" name="Text 21"/>
          <p:cNvSpPr/>
          <p:nvPr/>
        </p:nvSpPr>
        <p:spPr>
          <a:xfrm>
            <a:off x="6016752" y="1920240"/>
            <a:ext cx="2706624" cy="548640"/>
          </a:xfrm>
          <a:prstGeom prst="rect">
            <a:avLst/>
          </a:prstGeom>
          <a:noFill/>
          <a:ln/>
        </p:spPr>
        <p:txBody>
          <a:bodyPr wrap="square" rtlCol="0" anchor="ctr"/>
          <a:lstStyle/>
          <a:p>
            <a:pPr indent="0" marL="0">
              <a:buNone/>
            </a:pPr>
            <a:r>
              <a:rPr lang="en-US" sz="1100" dirty="0">
                <a:solidFill>
                  <a:srgbClr val="2B1F0F"/>
                </a:solidFill>
                <a:latin typeface="Calibri" pitchFamily="34" charset="0"/>
                <a:ea typeface="Calibri" pitchFamily="34" charset="-122"/>
                <a:cs typeface="Calibri" pitchFamily="34" charset="-120"/>
              </a:rPr>
              <a:t>Add a big salad. Cover 80% of her needs, move on.</a:t>
            </a:r>
            <a:endParaRPr lang="en-US" sz="1100" dirty="0"/>
          </a:p>
        </p:txBody>
      </p:sp>
      <p:sp>
        <p:nvSpPr>
          <p:cNvPr id="24" name="Shape 22"/>
          <p:cNvSpPr/>
          <p:nvPr/>
        </p:nvSpPr>
        <p:spPr>
          <a:xfrm>
            <a:off x="347472" y="2560320"/>
            <a:ext cx="2926080" cy="658368"/>
          </a:xfrm>
          <a:prstGeom prst="rect">
            <a:avLst/>
          </a:prstGeom>
          <a:solidFill>
            <a:srgbClr val="F2EBD9"/>
          </a:solidFill>
          <a:ln w="6350">
            <a:solidFill>
              <a:srgbClr val="DDD5C5"/>
            </a:solidFill>
            <a:prstDash val="solid"/>
          </a:ln>
        </p:spPr>
      </p:sp>
      <p:sp>
        <p:nvSpPr>
          <p:cNvPr id="25" name="Text 23"/>
          <p:cNvSpPr/>
          <p:nvPr/>
        </p:nvSpPr>
        <p:spPr>
          <a:xfrm>
            <a:off x="438912" y="2596896"/>
            <a:ext cx="2798064" cy="548640"/>
          </a:xfrm>
          <a:prstGeom prst="rect">
            <a:avLst/>
          </a:prstGeom>
          <a:noFill/>
          <a:ln/>
        </p:spPr>
        <p:txBody>
          <a:bodyPr wrap="square" rtlCol="0" anchor="ctr"/>
          <a:lstStyle/>
          <a:p>
            <a:pPr indent="0" marL="0">
              <a:buNone/>
            </a:pPr>
            <a:r>
              <a:rPr lang="en-US" sz="1100" dirty="0">
                <a:solidFill>
                  <a:srgbClr val="2B1F0F"/>
                </a:solidFill>
                <a:latin typeface="Calibri" pitchFamily="34" charset="0"/>
                <a:ea typeface="Calibri" pitchFamily="34" charset="-122"/>
                <a:cs typeface="Calibri" pitchFamily="34" charset="-120"/>
              </a:rPr>
              <a:t>Turkey undercooked</a:t>
            </a:r>
            <a:endParaRPr lang="en-US" sz="1100" dirty="0"/>
          </a:p>
        </p:txBody>
      </p:sp>
      <p:sp>
        <p:nvSpPr>
          <p:cNvPr id="26" name="Shape 24"/>
          <p:cNvSpPr/>
          <p:nvPr/>
        </p:nvSpPr>
        <p:spPr>
          <a:xfrm>
            <a:off x="3273552" y="2560320"/>
            <a:ext cx="1371600" cy="658368"/>
          </a:xfrm>
          <a:prstGeom prst="rect">
            <a:avLst/>
          </a:prstGeom>
          <a:solidFill>
            <a:srgbClr val="F2EBD9"/>
          </a:solidFill>
          <a:ln w="6350">
            <a:solidFill>
              <a:srgbClr val="DDD5C5"/>
            </a:solidFill>
            <a:prstDash val="solid"/>
          </a:ln>
        </p:spPr>
      </p:sp>
      <p:sp>
        <p:nvSpPr>
          <p:cNvPr id="27" name="Text 25"/>
          <p:cNvSpPr/>
          <p:nvPr/>
        </p:nvSpPr>
        <p:spPr>
          <a:xfrm>
            <a:off x="3364992" y="2596896"/>
            <a:ext cx="1243584" cy="548640"/>
          </a:xfrm>
          <a:prstGeom prst="rect">
            <a:avLst/>
          </a:prstGeom>
          <a:noFill/>
          <a:ln/>
        </p:spPr>
        <p:txBody>
          <a:bodyPr wrap="square" rtlCol="0" anchor="ctr"/>
          <a:lstStyle/>
          <a:p>
            <a:pPr indent="0" marL="0">
              <a:buNone/>
            </a:pPr>
            <a:r>
              <a:rPr lang="en-US" sz="1100" b="1" dirty="0">
                <a:solidFill>
                  <a:srgbClr val="3D6145"/>
                </a:solidFill>
                <a:latin typeface="Calibri" pitchFamily="34" charset="0"/>
                <a:ea typeface="Calibri" pitchFamily="34" charset="-122"/>
                <a:cs typeface="Calibri" pitchFamily="34" charset="-120"/>
              </a:rPr>
              <a:t>Low</a:t>
            </a:r>
            <a:endParaRPr lang="en-US" sz="1100" dirty="0"/>
          </a:p>
        </p:txBody>
      </p:sp>
      <p:sp>
        <p:nvSpPr>
          <p:cNvPr id="28" name="Shape 26"/>
          <p:cNvSpPr/>
          <p:nvPr/>
        </p:nvSpPr>
        <p:spPr>
          <a:xfrm>
            <a:off x="4645152" y="2560320"/>
            <a:ext cx="1280160" cy="658368"/>
          </a:xfrm>
          <a:prstGeom prst="rect">
            <a:avLst/>
          </a:prstGeom>
          <a:solidFill>
            <a:srgbClr val="F2EBD9"/>
          </a:solidFill>
          <a:ln w="6350">
            <a:solidFill>
              <a:srgbClr val="DDD5C5"/>
            </a:solidFill>
            <a:prstDash val="solid"/>
          </a:ln>
        </p:spPr>
      </p:sp>
      <p:sp>
        <p:nvSpPr>
          <p:cNvPr id="29" name="Text 27"/>
          <p:cNvSpPr/>
          <p:nvPr/>
        </p:nvSpPr>
        <p:spPr>
          <a:xfrm>
            <a:off x="4736592" y="2596896"/>
            <a:ext cx="1152144" cy="548640"/>
          </a:xfrm>
          <a:prstGeom prst="rect">
            <a:avLst/>
          </a:prstGeom>
          <a:noFill/>
          <a:ln/>
        </p:spPr>
        <p:txBody>
          <a:bodyPr wrap="square" rtlCol="0" anchor="ctr"/>
          <a:lstStyle/>
          <a:p>
            <a:pPr indent="0" marL="0">
              <a:buNone/>
            </a:pPr>
            <a:r>
              <a:rPr lang="en-US" sz="1100" b="1" dirty="0">
                <a:solidFill>
                  <a:srgbClr val="2B1F0F"/>
                </a:solidFill>
                <a:latin typeface="Calibri" pitchFamily="34" charset="0"/>
                <a:ea typeface="Calibri" pitchFamily="34" charset="-122"/>
                <a:cs typeface="Calibri" pitchFamily="34" charset="-120"/>
              </a:rPr>
              <a:t>High</a:t>
            </a:r>
            <a:endParaRPr lang="en-US" sz="1100" dirty="0"/>
          </a:p>
        </p:txBody>
      </p:sp>
      <p:sp>
        <p:nvSpPr>
          <p:cNvPr id="30" name="Shape 28"/>
          <p:cNvSpPr/>
          <p:nvPr/>
        </p:nvSpPr>
        <p:spPr>
          <a:xfrm>
            <a:off x="5925312" y="2560320"/>
            <a:ext cx="2834640" cy="658368"/>
          </a:xfrm>
          <a:prstGeom prst="rect">
            <a:avLst/>
          </a:prstGeom>
          <a:solidFill>
            <a:srgbClr val="F2EBD9"/>
          </a:solidFill>
          <a:ln w="6350">
            <a:solidFill>
              <a:srgbClr val="DDD5C5"/>
            </a:solidFill>
            <a:prstDash val="solid"/>
          </a:ln>
        </p:spPr>
      </p:sp>
      <p:sp>
        <p:nvSpPr>
          <p:cNvPr id="31" name="Text 29"/>
          <p:cNvSpPr/>
          <p:nvPr/>
        </p:nvSpPr>
        <p:spPr>
          <a:xfrm>
            <a:off x="6016752" y="2596896"/>
            <a:ext cx="2706624" cy="548640"/>
          </a:xfrm>
          <a:prstGeom prst="rect">
            <a:avLst/>
          </a:prstGeom>
          <a:noFill/>
          <a:ln/>
        </p:spPr>
        <p:txBody>
          <a:bodyPr wrap="square" rtlCol="0" anchor="ctr"/>
          <a:lstStyle/>
          <a:p>
            <a:pPr indent="0" marL="0">
              <a:buNone/>
            </a:pPr>
            <a:r>
              <a:rPr lang="en-US" sz="1100" dirty="0">
                <a:solidFill>
                  <a:srgbClr val="2B1F0F"/>
                </a:solidFill>
                <a:latin typeface="Calibri" pitchFamily="34" charset="0"/>
                <a:ea typeface="Calibri" pitchFamily="34" charset="-122"/>
                <a:cs typeface="Calibri" pitchFamily="34" charset="-120"/>
              </a:rPr>
              <a:t>Start early. Use a meat thermometer. Have a pizza place on speed dial.</a:t>
            </a:r>
            <a:endParaRPr lang="en-US" sz="1100" dirty="0"/>
          </a:p>
        </p:txBody>
      </p:sp>
      <p:sp>
        <p:nvSpPr>
          <p:cNvPr id="32" name="Shape 30"/>
          <p:cNvSpPr/>
          <p:nvPr/>
        </p:nvSpPr>
        <p:spPr>
          <a:xfrm>
            <a:off x="347472" y="3236976"/>
            <a:ext cx="2926080" cy="658368"/>
          </a:xfrm>
          <a:prstGeom prst="rect">
            <a:avLst/>
          </a:prstGeom>
          <a:solidFill>
            <a:srgbClr val="FBF6EE"/>
          </a:solidFill>
          <a:ln w="6350">
            <a:solidFill>
              <a:srgbClr val="DDD5C5"/>
            </a:solidFill>
            <a:prstDash val="solid"/>
          </a:ln>
        </p:spPr>
      </p:sp>
      <p:sp>
        <p:nvSpPr>
          <p:cNvPr id="33" name="Text 31"/>
          <p:cNvSpPr/>
          <p:nvPr/>
        </p:nvSpPr>
        <p:spPr>
          <a:xfrm>
            <a:off x="438912" y="3273552"/>
            <a:ext cx="2798064" cy="548640"/>
          </a:xfrm>
          <a:prstGeom prst="rect">
            <a:avLst/>
          </a:prstGeom>
          <a:noFill/>
          <a:ln/>
        </p:spPr>
        <p:txBody>
          <a:bodyPr wrap="square" rtlCol="0" anchor="ctr"/>
          <a:lstStyle/>
          <a:p>
            <a:pPr indent="0" marL="0">
              <a:buNone/>
            </a:pPr>
            <a:r>
              <a:rPr lang="en-US" sz="1100" dirty="0">
                <a:solidFill>
                  <a:srgbClr val="2B1F0F"/>
                </a:solidFill>
                <a:latin typeface="Calibri" pitchFamily="34" charset="0"/>
                <a:ea typeface="Calibri" pitchFamily="34" charset="-122"/>
                <a:cs typeface="Calibri" pitchFamily="34" charset="-120"/>
              </a:rPr>
              <a:t>Kitchen chaos, nothing on time</a:t>
            </a:r>
            <a:endParaRPr lang="en-US" sz="1100" dirty="0"/>
          </a:p>
        </p:txBody>
      </p:sp>
      <p:sp>
        <p:nvSpPr>
          <p:cNvPr id="34" name="Shape 32"/>
          <p:cNvSpPr/>
          <p:nvPr/>
        </p:nvSpPr>
        <p:spPr>
          <a:xfrm>
            <a:off x="3273552" y="3236976"/>
            <a:ext cx="1371600" cy="658368"/>
          </a:xfrm>
          <a:prstGeom prst="rect">
            <a:avLst/>
          </a:prstGeom>
          <a:solidFill>
            <a:srgbClr val="FBF6EE"/>
          </a:solidFill>
          <a:ln w="6350">
            <a:solidFill>
              <a:srgbClr val="DDD5C5"/>
            </a:solidFill>
            <a:prstDash val="solid"/>
          </a:ln>
        </p:spPr>
      </p:sp>
      <p:sp>
        <p:nvSpPr>
          <p:cNvPr id="35" name="Text 33"/>
          <p:cNvSpPr/>
          <p:nvPr/>
        </p:nvSpPr>
        <p:spPr>
          <a:xfrm>
            <a:off x="3364992" y="3273552"/>
            <a:ext cx="1243584" cy="548640"/>
          </a:xfrm>
          <a:prstGeom prst="rect">
            <a:avLst/>
          </a:prstGeom>
          <a:noFill/>
          <a:ln/>
        </p:spPr>
        <p:txBody>
          <a:bodyPr wrap="square" rtlCol="0" anchor="ctr"/>
          <a:lstStyle/>
          <a:p>
            <a:pPr indent="0" marL="0">
              <a:buNone/>
            </a:pPr>
            <a:r>
              <a:rPr lang="en-US" sz="1100" b="1" dirty="0">
                <a:solidFill>
                  <a:srgbClr val="8C6914"/>
                </a:solidFill>
                <a:latin typeface="Calibri" pitchFamily="34" charset="0"/>
                <a:ea typeface="Calibri" pitchFamily="34" charset="-122"/>
                <a:cs typeface="Calibri" pitchFamily="34" charset="-120"/>
              </a:rPr>
              <a:t>Medium</a:t>
            </a:r>
            <a:endParaRPr lang="en-US" sz="1100" dirty="0"/>
          </a:p>
        </p:txBody>
      </p:sp>
      <p:sp>
        <p:nvSpPr>
          <p:cNvPr id="36" name="Shape 34"/>
          <p:cNvSpPr/>
          <p:nvPr/>
        </p:nvSpPr>
        <p:spPr>
          <a:xfrm>
            <a:off x="4645152" y="3236976"/>
            <a:ext cx="1280160" cy="658368"/>
          </a:xfrm>
          <a:prstGeom prst="rect">
            <a:avLst/>
          </a:prstGeom>
          <a:solidFill>
            <a:srgbClr val="FBF6EE"/>
          </a:solidFill>
          <a:ln w="6350">
            <a:solidFill>
              <a:srgbClr val="DDD5C5"/>
            </a:solidFill>
            <a:prstDash val="solid"/>
          </a:ln>
        </p:spPr>
      </p:sp>
      <p:sp>
        <p:nvSpPr>
          <p:cNvPr id="37" name="Text 35"/>
          <p:cNvSpPr/>
          <p:nvPr/>
        </p:nvSpPr>
        <p:spPr>
          <a:xfrm>
            <a:off x="4736592" y="3273552"/>
            <a:ext cx="1152144" cy="548640"/>
          </a:xfrm>
          <a:prstGeom prst="rect">
            <a:avLst/>
          </a:prstGeom>
          <a:noFill/>
          <a:ln/>
        </p:spPr>
        <p:txBody>
          <a:bodyPr wrap="square" rtlCol="0" anchor="ctr"/>
          <a:lstStyle/>
          <a:p>
            <a:pPr indent="0" marL="0">
              <a:buNone/>
            </a:pPr>
            <a:r>
              <a:rPr lang="en-US" sz="1100" b="1" dirty="0">
                <a:solidFill>
                  <a:srgbClr val="2B1F0F"/>
                </a:solidFill>
                <a:latin typeface="Calibri" pitchFamily="34" charset="0"/>
                <a:ea typeface="Calibri" pitchFamily="34" charset="-122"/>
                <a:cs typeface="Calibri" pitchFamily="34" charset="-120"/>
              </a:rPr>
              <a:t>High</a:t>
            </a:r>
            <a:endParaRPr lang="en-US" sz="1100" dirty="0"/>
          </a:p>
        </p:txBody>
      </p:sp>
      <p:sp>
        <p:nvSpPr>
          <p:cNvPr id="38" name="Shape 36"/>
          <p:cNvSpPr/>
          <p:nvPr/>
        </p:nvSpPr>
        <p:spPr>
          <a:xfrm>
            <a:off x="5925312" y="3236976"/>
            <a:ext cx="2834640" cy="658368"/>
          </a:xfrm>
          <a:prstGeom prst="rect">
            <a:avLst/>
          </a:prstGeom>
          <a:solidFill>
            <a:srgbClr val="FBF6EE"/>
          </a:solidFill>
          <a:ln w="6350">
            <a:solidFill>
              <a:srgbClr val="DDD5C5"/>
            </a:solidFill>
            <a:prstDash val="solid"/>
          </a:ln>
        </p:spPr>
      </p:sp>
      <p:sp>
        <p:nvSpPr>
          <p:cNvPr id="39" name="Text 37"/>
          <p:cNvSpPr/>
          <p:nvPr/>
        </p:nvSpPr>
        <p:spPr>
          <a:xfrm>
            <a:off x="6016752" y="3273552"/>
            <a:ext cx="2706624" cy="548640"/>
          </a:xfrm>
          <a:prstGeom prst="rect">
            <a:avLst/>
          </a:prstGeom>
          <a:noFill/>
          <a:ln/>
        </p:spPr>
        <p:txBody>
          <a:bodyPr wrap="square" rtlCol="0" anchor="ctr"/>
          <a:lstStyle/>
          <a:p>
            <a:pPr indent="0" marL="0">
              <a:buNone/>
            </a:pPr>
            <a:r>
              <a:rPr lang="en-US" sz="1100" dirty="0">
                <a:solidFill>
                  <a:srgbClr val="2B1F0F"/>
                </a:solidFill>
                <a:latin typeface="Calibri" pitchFamily="34" charset="0"/>
                <a:ea typeface="Calibri" pitchFamily="34" charset="-122"/>
                <a:cs typeface="Calibri" pitchFamily="34" charset="-120"/>
              </a:rPr>
              <a:t>Build 30-min buffer into every oven window. Delegate aggressively.</a:t>
            </a:r>
            <a:endParaRPr lang="en-US" sz="1100" dirty="0"/>
          </a:p>
        </p:txBody>
      </p:sp>
      <p:sp>
        <p:nvSpPr>
          <p:cNvPr id="40" name="Shape 38"/>
          <p:cNvSpPr/>
          <p:nvPr/>
        </p:nvSpPr>
        <p:spPr>
          <a:xfrm>
            <a:off x="347472" y="3913632"/>
            <a:ext cx="2926080" cy="658368"/>
          </a:xfrm>
          <a:prstGeom prst="rect">
            <a:avLst/>
          </a:prstGeom>
          <a:solidFill>
            <a:srgbClr val="F2EBD9"/>
          </a:solidFill>
          <a:ln w="6350">
            <a:solidFill>
              <a:srgbClr val="DDD5C5"/>
            </a:solidFill>
            <a:prstDash val="solid"/>
          </a:ln>
        </p:spPr>
      </p:sp>
      <p:sp>
        <p:nvSpPr>
          <p:cNvPr id="41" name="Text 39"/>
          <p:cNvSpPr/>
          <p:nvPr/>
        </p:nvSpPr>
        <p:spPr>
          <a:xfrm>
            <a:off x="438912" y="3950208"/>
            <a:ext cx="2798064" cy="548640"/>
          </a:xfrm>
          <a:prstGeom prst="rect">
            <a:avLst/>
          </a:prstGeom>
          <a:noFill/>
          <a:ln/>
        </p:spPr>
        <p:txBody>
          <a:bodyPr wrap="square" rtlCol="0" anchor="ctr"/>
          <a:lstStyle/>
          <a:p>
            <a:pPr indent="0" marL="0">
              <a:buNone/>
            </a:pPr>
            <a:r>
              <a:rPr lang="en-US" sz="1100" dirty="0">
                <a:solidFill>
                  <a:srgbClr val="2B1F0F"/>
                </a:solidFill>
                <a:latin typeface="Calibri" pitchFamily="34" charset="0"/>
                <a:ea typeface="Calibri" pitchFamily="34" charset="-122"/>
                <a:cs typeface="Calibri" pitchFamily="34" charset="-120"/>
              </a:rPr>
              <a:t>Someone drops the gravy boat</a:t>
            </a:r>
            <a:endParaRPr lang="en-US" sz="1100" dirty="0"/>
          </a:p>
        </p:txBody>
      </p:sp>
      <p:sp>
        <p:nvSpPr>
          <p:cNvPr id="42" name="Shape 40"/>
          <p:cNvSpPr/>
          <p:nvPr/>
        </p:nvSpPr>
        <p:spPr>
          <a:xfrm>
            <a:off x="3273552" y="3913632"/>
            <a:ext cx="1371600" cy="658368"/>
          </a:xfrm>
          <a:prstGeom prst="rect">
            <a:avLst/>
          </a:prstGeom>
          <a:solidFill>
            <a:srgbClr val="F2EBD9"/>
          </a:solidFill>
          <a:ln w="6350">
            <a:solidFill>
              <a:srgbClr val="DDD5C5"/>
            </a:solidFill>
            <a:prstDash val="solid"/>
          </a:ln>
        </p:spPr>
      </p:sp>
      <p:sp>
        <p:nvSpPr>
          <p:cNvPr id="43" name="Text 41"/>
          <p:cNvSpPr/>
          <p:nvPr/>
        </p:nvSpPr>
        <p:spPr>
          <a:xfrm>
            <a:off x="3364992" y="3950208"/>
            <a:ext cx="1243584" cy="548640"/>
          </a:xfrm>
          <a:prstGeom prst="rect">
            <a:avLst/>
          </a:prstGeom>
          <a:noFill/>
          <a:ln/>
        </p:spPr>
        <p:txBody>
          <a:bodyPr wrap="square" rtlCol="0" anchor="ctr"/>
          <a:lstStyle/>
          <a:p>
            <a:pPr indent="0" marL="0">
              <a:buNone/>
            </a:pPr>
            <a:r>
              <a:rPr lang="en-US" sz="1100" b="1" dirty="0">
                <a:solidFill>
                  <a:srgbClr val="3D6145"/>
                </a:solidFill>
                <a:latin typeface="Calibri" pitchFamily="34" charset="0"/>
                <a:ea typeface="Calibri" pitchFamily="34" charset="-122"/>
                <a:cs typeface="Calibri" pitchFamily="34" charset="-120"/>
              </a:rPr>
              <a:t>Low</a:t>
            </a:r>
            <a:endParaRPr lang="en-US" sz="1100" dirty="0"/>
          </a:p>
        </p:txBody>
      </p:sp>
      <p:sp>
        <p:nvSpPr>
          <p:cNvPr id="44" name="Shape 42"/>
          <p:cNvSpPr/>
          <p:nvPr/>
        </p:nvSpPr>
        <p:spPr>
          <a:xfrm>
            <a:off x="4645152" y="3913632"/>
            <a:ext cx="1280160" cy="658368"/>
          </a:xfrm>
          <a:prstGeom prst="rect">
            <a:avLst/>
          </a:prstGeom>
          <a:solidFill>
            <a:srgbClr val="F2EBD9"/>
          </a:solidFill>
          <a:ln w="6350">
            <a:solidFill>
              <a:srgbClr val="DDD5C5"/>
            </a:solidFill>
            <a:prstDash val="solid"/>
          </a:ln>
        </p:spPr>
      </p:sp>
      <p:sp>
        <p:nvSpPr>
          <p:cNvPr id="45" name="Text 43"/>
          <p:cNvSpPr/>
          <p:nvPr/>
        </p:nvSpPr>
        <p:spPr>
          <a:xfrm>
            <a:off x="4736592" y="3950208"/>
            <a:ext cx="1152144" cy="548640"/>
          </a:xfrm>
          <a:prstGeom prst="rect">
            <a:avLst/>
          </a:prstGeom>
          <a:noFill/>
          <a:ln/>
        </p:spPr>
        <p:txBody>
          <a:bodyPr wrap="square" rtlCol="0" anchor="ctr"/>
          <a:lstStyle/>
          <a:p>
            <a:pPr indent="0" marL="0">
              <a:buNone/>
            </a:pPr>
            <a:r>
              <a:rPr lang="en-US" sz="1100" b="1" dirty="0">
                <a:solidFill>
                  <a:srgbClr val="2B1F0F"/>
                </a:solidFill>
                <a:latin typeface="Calibri" pitchFamily="34" charset="0"/>
                <a:ea typeface="Calibri" pitchFamily="34" charset="-122"/>
                <a:cs typeface="Calibri" pitchFamily="34" charset="-120"/>
              </a:rPr>
              <a:t>Low</a:t>
            </a:r>
            <a:endParaRPr lang="en-US" sz="1100" dirty="0"/>
          </a:p>
        </p:txBody>
      </p:sp>
      <p:sp>
        <p:nvSpPr>
          <p:cNvPr id="46" name="Shape 44"/>
          <p:cNvSpPr/>
          <p:nvPr/>
        </p:nvSpPr>
        <p:spPr>
          <a:xfrm>
            <a:off x="5925312" y="3913632"/>
            <a:ext cx="2834640" cy="658368"/>
          </a:xfrm>
          <a:prstGeom prst="rect">
            <a:avLst/>
          </a:prstGeom>
          <a:solidFill>
            <a:srgbClr val="F2EBD9"/>
          </a:solidFill>
          <a:ln w="6350">
            <a:solidFill>
              <a:srgbClr val="DDD5C5"/>
            </a:solidFill>
            <a:prstDash val="solid"/>
          </a:ln>
        </p:spPr>
      </p:sp>
      <p:sp>
        <p:nvSpPr>
          <p:cNvPr id="47" name="Text 45"/>
          <p:cNvSpPr/>
          <p:nvPr/>
        </p:nvSpPr>
        <p:spPr>
          <a:xfrm>
            <a:off x="6016752" y="3950208"/>
            <a:ext cx="2706624" cy="548640"/>
          </a:xfrm>
          <a:prstGeom prst="rect">
            <a:avLst/>
          </a:prstGeom>
          <a:noFill/>
          <a:ln/>
        </p:spPr>
        <p:txBody>
          <a:bodyPr wrap="square" rtlCol="0" anchor="ctr"/>
          <a:lstStyle/>
          <a:p>
            <a:pPr indent="0" marL="0">
              <a:buNone/>
            </a:pPr>
            <a:r>
              <a:rPr lang="en-US" sz="1100" dirty="0">
                <a:solidFill>
                  <a:srgbClr val="2B1F0F"/>
                </a:solidFill>
                <a:latin typeface="Calibri" pitchFamily="34" charset="0"/>
                <a:ea typeface="Calibri" pitchFamily="34" charset="-122"/>
                <a:cs typeface="Calibri" pitchFamily="34" charset="-120"/>
              </a:rPr>
              <a:t>Accept it. Gravy is not a deliverable. Smile and keep moving.</a:t>
            </a:r>
            <a:endParaRPr lang="en-US" sz="1100" dirty="0"/>
          </a:p>
        </p:txBody>
      </p:sp>
      <p:sp>
        <p:nvSpPr>
          <p:cNvPr id="48" name="Shape 46"/>
          <p:cNvSpPr/>
          <p:nvPr/>
        </p:nvSpPr>
        <p:spPr>
          <a:xfrm>
            <a:off x="347472" y="4590288"/>
            <a:ext cx="2926080" cy="658368"/>
          </a:xfrm>
          <a:prstGeom prst="rect">
            <a:avLst/>
          </a:prstGeom>
          <a:solidFill>
            <a:srgbClr val="FBF6EE"/>
          </a:solidFill>
          <a:ln w="6350">
            <a:solidFill>
              <a:srgbClr val="DDD5C5"/>
            </a:solidFill>
            <a:prstDash val="solid"/>
          </a:ln>
        </p:spPr>
      </p:sp>
      <p:sp>
        <p:nvSpPr>
          <p:cNvPr id="49" name="Text 47"/>
          <p:cNvSpPr/>
          <p:nvPr/>
        </p:nvSpPr>
        <p:spPr>
          <a:xfrm>
            <a:off x="438912" y="4626864"/>
            <a:ext cx="2798064" cy="548640"/>
          </a:xfrm>
          <a:prstGeom prst="rect">
            <a:avLst/>
          </a:prstGeom>
          <a:noFill/>
          <a:ln/>
        </p:spPr>
        <p:txBody>
          <a:bodyPr wrap="square" rtlCol="0" anchor="ctr"/>
          <a:lstStyle/>
          <a:p>
            <a:pPr indent="0" marL="0">
              <a:buNone/>
            </a:pPr>
            <a:r>
              <a:rPr lang="en-US" sz="1100" dirty="0">
                <a:solidFill>
                  <a:srgbClr val="2B1F0F"/>
                </a:solidFill>
                <a:latin typeface="Calibri" pitchFamily="34" charset="0"/>
                <a:ea typeface="Calibri" pitchFamily="34" charset="-122"/>
                <a:cs typeface="Calibri" pitchFamily="34" charset="-120"/>
              </a:rPr>
              <a:t>Key cook cancels last minute</a:t>
            </a:r>
            <a:endParaRPr lang="en-US" sz="1100" dirty="0"/>
          </a:p>
        </p:txBody>
      </p:sp>
      <p:sp>
        <p:nvSpPr>
          <p:cNvPr id="50" name="Shape 48"/>
          <p:cNvSpPr/>
          <p:nvPr/>
        </p:nvSpPr>
        <p:spPr>
          <a:xfrm>
            <a:off x="3273552" y="4590288"/>
            <a:ext cx="1371600" cy="658368"/>
          </a:xfrm>
          <a:prstGeom prst="rect">
            <a:avLst/>
          </a:prstGeom>
          <a:solidFill>
            <a:srgbClr val="FBF6EE"/>
          </a:solidFill>
          <a:ln w="6350">
            <a:solidFill>
              <a:srgbClr val="DDD5C5"/>
            </a:solidFill>
            <a:prstDash val="solid"/>
          </a:ln>
        </p:spPr>
      </p:sp>
      <p:sp>
        <p:nvSpPr>
          <p:cNvPr id="51" name="Text 49"/>
          <p:cNvSpPr/>
          <p:nvPr/>
        </p:nvSpPr>
        <p:spPr>
          <a:xfrm>
            <a:off x="3364992" y="4626864"/>
            <a:ext cx="1243584" cy="548640"/>
          </a:xfrm>
          <a:prstGeom prst="rect">
            <a:avLst/>
          </a:prstGeom>
          <a:noFill/>
          <a:ln/>
        </p:spPr>
        <p:txBody>
          <a:bodyPr wrap="square" rtlCol="0" anchor="ctr"/>
          <a:lstStyle/>
          <a:p>
            <a:pPr indent="0" marL="0">
              <a:buNone/>
            </a:pPr>
            <a:r>
              <a:rPr lang="en-US" sz="1100" b="1" dirty="0">
                <a:solidFill>
                  <a:srgbClr val="3D6145"/>
                </a:solidFill>
                <a:latin typeface="Calibri" pitchFamily="34" charset="0"/>
                <a:ea typeface="Calibri" pitchFamily="34" charset="-122"/>
                <a:cs typeface="Calibri" pitchFamily="34" charset="-120"/>
              </a:rPr>
              <a:t>Low</a:t>
            </a:r>
            <a:endParaRPr lang="en-US" sz="1100" dirty="0"/>
          </a:p>
        </p:txBody>
      </p:sp>
      <p:sp>
        <p:nvSpPr>
          <p:cNvPr id="52" name="Shape 50"/>
          <p:cNvSpPr/>
          <p:nvPr/>
        </p:nvSpPr>
        <p:spPr>
          <a:xfrm>
            <a:off x="4645152" y="4590288"/>
            <a:ext cx="1280160" cy="658368"/>
          </a:xfrm>
          <a:prstGeom prst="rect">
            <a:avLst/>
          </a:prstGeom>
          <a:solidFill>
            <a:srgbClr val="FBF6EE"/>
          </a:solidFill>
          <a:ln w="6350">
            <a:solidFill>
              <a:srgbClr val="DDD5C5"/>
            </a:solidFill>
            <a:prstDash val="solid"/>
          </a:ln>
        </p:spPr>
      </p:sp>
      <p:sp>
        <p:nvSpPr>
          <p:cNvPr id="53" name="Text 51"/>
          <p:cNvSpPr/>
          <p:nvPr/>
        </p:nvSpPr>
        <p:spPr>
          <a:xfrm>
            <a:off x="4736592" y="4626864"/>
            <a:ext cx="1152144" cy="548640"/>
          </a:xfrm>
          <a:prstGeom prst="rect">
            <a:avLst/>
          </a:prstGeom>
          <a:noFill/>
          <a:ln/>
        </p:spPr>
        <p:txBody>
          <a:bodyPr wrap="square" rtlCol="0" anchor="ctr"/>
          <a:lstStyle/>
          <a:p>
            <a:pPr indent="0" marL="0">
              <a:buNone/>
            </a:pPr>
            <a:r>
              <a:rPr lang="en-US" sz="1100" b="1" dirty="0">
                <a:solidFill>
                  <a:srgbClr val="2B1F0F"/>
                </a:solidFill>
                <a:latin typeface="Calibri" pitchFamily="34" charset="0"/>
                <a:ea typeface="Calibri" pitchFamily="34" charset="-122"/>
                <a:cs typeface="Calibri" pitchFamily="34" charset="-120"/>
              </a:rPr>
              <a:t>High</a:t>
            </a:r>
            <a:endParaRPr lang="en-US" sz="1100" dirty="0"/>
          </a:p>
        </p:txBody>
      </p:sp>
      <p:sp>
        <p:nvSpPr>
          <p:cNvPr id="54" name="Shape 52"/>
          <p:cNvSpPr/>
          <p:nvPr/>
        </p:nvSpPr>
        <p:spPr>
          <a:xfrm>
            <a:off x="5925312" y="4590288"/>
            <a:ext cx="2834640" cy="658368"/>
          </a:xfrm>
          <a:prstGeom prst="rect">
            <a:avLst/>
          </a:prstGeom>
          <a:solidFill>
            <a:srgbClr val="FBF6EE"/>
          </a:solidFill>
          <a:ln w="6350">
            <a:solidFill>
              <a:srgbClr val="DDD5C5"/>
            </a:solidFill>
            <a:prstDash val="solid"/>
          </a:ln>
        </p:spPr>
      </p:sp>
      <p:sp>
        <p:nvSpPr>
          <p:cNvPr id="55" name="Text 53"/>
          <p:cNvSpPr/>
          <p:nvPr/>
        </p:nvSpPr>
        <p:spPr>
          <a:xfrm>
            <a:off x="6016752" y="4626864"/>
            <a:ext cx="2706624" cy="548640"/>
          </a:xfrm>
          <a:prstGeom prst="rect">
            <a:avLst/>
          </a:prstGeom>
          <a:noFill/>
          <a:ln/>
        </p:spPr>
        <p:txBody>
          <a:bodyPr wrap="square" rtlCol="0" anchor="ctr"/>
          <a:lstStyle/>
          <a:p>
            <a:pPr indent="0" marL="0">
              <a:buNone/>
            </a:pPr>
            <a:r>
              <a:rPr lang="en-US" sz="1100" dirty="0">
                <a:solidFill>
                  <a:srgbClr val="2B1F0F"/>
                </a:solidFill>
                <a:latin typeface="Calibri" pitchFamily="34" charset="0"/>
                <a:ea typeface="Calibri" pitchFamily="34" charset="-122"/>
                <a:cs typeface="Calibri" pitchFamily="34" charset="-120"/>
              </a:rPr>
              <a:t>Know who can step in. Have simplified version of complex dishes.</a:t>
            </a:r>
            <a:endParaRPr lang="en-US" sz="1100" dirty="0"/>
          </a:p>
        </p:txBody>
      </p:sp>
      <p:sp>
        <p:nvSpPr>
          <p:cNvPr id="56" name="Text 54"/>
          <p:cNvSpPr/>
          <p:nvPr/>
        </p:nvSpPr>
        <p:spPr>
          <a:xfrm>
            <a:off x="347472" y="5321808"/>
            <a:ext cx="8458200" cy="420624"/>
          </a:xfrm>
          <a:prstGeom prst="rect">
            <a:avLst/>
          </a:prstGeom>
          <a:noFill/>
          <a:ln/>
        </p:spPr>
        <p:txBody>
          <a:bodyPr wrap="square" rtlCol="0" anchor="ctr"/>
          <a:lstStyle/>
          <a:p>
            <a:pPr indent="0" marL="0">
              <a:buNone/>
            </a:pPr>
            <a:r>
              <a:rPr lang="en-US" sz="1050" i="1" dirty="0">
                <a:solidFill>
                  <a:srgbClr val="6B5740"/>
                </a:solidFill>
                <a:latin typeface="Calibri" pitchFamily="34" charset="0"/>
                <a:ea typeface="Calibri" pitchFamily="34" charset="-122"/>
                <a:cs typeface="Calibri" pitchFamily="34" charset="-120"/>
              </a:rPr>
              <a:t>PM Tip: Not everything is worth worrying about. If a risk won't materially impact the outcome, don't build a mitigation plan. Triage your RAID log the same way.</a:t>
            </a:r>
            <a:endParaRPr lang="en-US" sz="1050" dirty="0"/>
          </a:p>
        </p:txBody>
      </p:sp>
      <p:sp>
        <p:nvSpPr>
          <p:cNvPr id="57" name="Text 55"/>
          <p:cNvSpPr/>
          <p:nvPr/>
        </p:nvSpPr>
        <p:spPr>
          <a:xfrm>
            <a:off x="7863840" y="6217920"/>
            <a:ext cx="1097280" cy="228600"/>
          </a:xfrm>
          <a:prstGeom prst="rect">
            <a:avLst/>
          </a:prstGeom>
          <a:noFill/>
          <a:ln/>
        </p:spPr>
        <p:txBody>
          <a:bodyPr wrap="square" rtlCol="0" anchor="ctr"/>
          <a:lstStyle/>
          <a:p>
            <a:pPr algn="r" indent="0" marL="0">
              <a:buNone/>
            </a:pPr>
            <a:r>
              <a:rPr lang="en-US" sz="900" dirty="0">
                <a:solidFill>
                  <a:srgbClr val="C8BCA8"/>
                </a:solidFill>
                <a:latin typeface="Calibri" pitchFamily="34" charset="0"/>
                <a:ea typeface="Calibri" pitchFamily="34" charset="-122"/>
                <a:cs typeface="Calibri"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6EE"/>
          </a:solidFill>
          <a:ln w="12700">
            <a:solidFill>
              <a:srgbClr val="FBF6EE"/>
            </a:solidFill>
            <a:prstDash val="solid"/>
          </a:ln>
        </p:spPr>
      </p:sp>
      <p:sp>
        <p:nvSpPr>
          <p:cNvPr id="3" name="Shape 1"/>
          <p:cNvSpPr/>
          <p:nvPr/>
        </p:nvSpPr>
        <p:spPr>
          <a:xfrm>
            <a:off x="0" y="0"/>
            <a:ext cx="164592" cy="5143500"/>
          </a:xfrm>
          <a:prstGeom prst="rect">
            <a:avLst/>
          </a:prstGeom>
          <a:solidFill>
            <a:srgbClr val="B5451B"/>
          </a:solidFill>
          <a:ln w="12700">
            <a:solidFill>
              <a:srgbClr val="B5451B"/>
            </a:solidFill>
            <a:prstDash val="solid"/>
          </a:ln>
        </p:spPr>
      </p:sp>
      <p:sp>
        <p:nvSpPr>
          <p:cNvPr id="4" name="Shape 2"/>
          <p:cNvSpPr/>
          <p:nvPr/>
        </p:nvSpPr>
        <p:spPr>
          <a:xfrm>
            <a:off x="411480" y="201168"/>
            <a:ext cx="1289304" cy="292608"/>
          </a:xfrm>
          <a:prstGeom prst="roundRect">
            <a:avLst>
              <a:gd name="adj" fmla="val 25000"/>
            </a:avLst>
          </a:prstGeom>
          <a:solidFill>
            <a:srgbClr val="F0C9B0"/>
          </a:solidFill>
          <a:ln w="12700">
            <a:solidFill>
              <a:srgbClr val="F0C9B0"/>
            </a:solidFill>
            <a:prstDash val="solid"/>
          </a:ln>
        </p:spPr>
      </p:sp>
      <p:sp>
        <p:nvSpPr>
          <p:cNvPr id="5" name="Text 3"/>
          <p:cNvSpPr/>
          <p:nvPr/>
        </p:nvSpPr>
        <p:spPr>
          <a:xfrm>
            <a:off x="448056" y="219456"/>
            <a:ext cx="1216152" cy="256032"/>
          </a:xfrm>
          <a:prstGeom prst="rect">
            <a:avLst/>
          </a:prstGeom>
          <a:noFill/>
          <a:ln/>
        </p:spPr>
        <p:txBody>
          <a:bodyPr wrap="square" rtlCol="0" anchor="ctr"/>
          <a:lstStyle/>
          <a:p>
            <a:pPr indent="0" marL="0">
              <a:buNone/>
            </a:pPr>
            <a:r>
              <a:rPr lang="en-US" sz="1100" b="1" dirty="0">
                <a:solidFill>
                  <a:srgbClr val="B5451B"/>
                </a:solidFill>
                <a:latin typeface="Calibri" pitchFamily="34" charset="0"/>
                <a:ea typeface="Calibri" pitchFamily="34" charset="-122"/>
                <a:cs typeface="Calibri" pitchFamily="34" charset="-120"/>
              </a:rPr>
              <a:t>Step 05</a:t>
            </a:r>
            <a:endParaRPr lang="en-US" sz="1100" dirty="0"/>
          </a:p>
        </p:txBody>
      </p:sp>
      <p:sp>
        <p:nvSpPr>
          <p:cNvPr id="6" name="Text 4"/>
          <p:cNvSpPr/>
          <p:nvPr/>
        </p:nvSpPr>
        <p:spPr>
          <a:xfrm>
            <a:off x="411480" y="512064"/>
            <a:ext cx="8321040" cy="548640"/>
          </a:xfrm>
          <a:prstGeom prst="rect">
            <a:avLst/>
          </a:prstGeom>
          <a:noFill/>
          <a:ln/>
        </p:spPr>
        <p:txBody>
          <a:bodyPr wrap="square" rtlCol="0" anchor="ctr"/>
          <a:lstStyle/>
          <a:p>
            <a:pPr indent="0" marL="0">
              <a:buNone/>
            </a:pPr>
            <a:r>
              <a:rPr lang="en-US" sz="2800" b="1" dirty="0">
                <a:solidFill>
                  <a:srgbClr val="2B1F0F"/>
                </a:solidFill>
                <a:latin typeface="Georgia" pitchFamily="34" charset="0"/>
                <a:ea typeface="Georgia" pitchFamily="34" charset="-122"/>
                <a:cs typeface="Georgia" pitchFamily="34" charset="-120"/>
              </a:rPr>
              <a:t>Work with Your Stakeholders</a:t>
            </a:r>
            <a:endParaRPr lang="en-US" sz="2800" dirty="0"/>
          </a:p>
        </p:txBody>
      </p:sp>
      <p:sp>
        <p:nvSpPr>
          <p:cNvPr id="7" name="Text 5"/>
          <p:cNvSpPr/>
          <p:nvPr/>
        </p:nvSpPr>
        <p:spPr>
          <a:xfrm>
            <a:off x="411480" y="1097280"/>
            <a:ext cx="8321040" cy="347472"/>
          </a:xfrm>
          <a:prstGeom prst="rect">
            <a:avLst/>
          </a:prstGeom>
          <a:noFill/>
          <a:ln/>
        </p:spPr>
        <p:txBody>
          <a:bodyPr wrap="square" rtlCol="0" anchor="ctr"/>
          <a:lstStyle/>
          <a:p>
            <a:pPr indent="0" marL="0">
              <a:buNone/>
            </a:pPr>
            <a:r>
              <a:rPr lang="en-US" sz="1400" i="1" dirty="0">
                <a:solidFill>
                  <a:srgbClr val="6B5740"/>
                </a:solidFill>
                <a:latin typeface="Calibri" pitchFamily="34" charset="0"/>
                <a:ea typeface="Calibri" pitchFamily="34" charset="-122"/>
                <a:cs typeface="Calibri" pitchFamily="34" charset="-120"/>
              </a:rPr>
              <a:t>Ah, family. They're a lovable bunch, but they can be a handful.</a:t>
            </a:r>
            <a:endParaRPr lang="en-US" sz="1400" dirty="0"/>
          </a:p>
        </p:txBody>
      </p:sp>
      <p:sp>
        <p:nvSpPr>
          <p:cNvPr id="8" name="Shape 6"/>
          <p:cNvSpPr/>
          <p:nvPr/>
        </p:nvSpPr>
        <p:spPr>
          <a:xfrm>
            <a:off x="347472" y="1572768"/>
            <a:ext cx="2743200" cy="4069080"/>
          </a:xfrm>
          <a:prstGeom prst="roundRect">
            <a:avLst>
              <a:gd name="adj" fmla="val 2667"/>
            </a:avLst>
          </a:prstGeom>
          <a:solidFill>
            <a:srgbClr val="FDF0EA"/>
          </a:solidFill>
          <a:ln w="15240">
            <a:solidFill>
              <a:srgbClr val="B5451B"/>
            </a:solidFill>
            <a:prstDash val="solid"/>
          </a:ln>
        </p:spPr>
      </p:sp>
      <p:sp>
        <p:nvSpPr>
          <p:cNvPr id="9" name="Shape 7"/>
          <p:cNvSpPr/>
          <p:nvPr/>
        </p:nvSpPr>
        <p:spPr>
          <a:xfrm>
            <a:off x="347472" y="1572768"/>
            <a:ext cx="2743200" cy="438912"/>
          </a:xfrm>
          <a:prstGeom prst="roundRect">
            <a:avLst>
              <a:gd name="adj" fmla="val 16667"/>
            </a:avLst>
          </a:prstGeom>
          <a:solidFill>
            <a:srgbClr val="B5451B"/>
          </a:solidFill>
          <a:ln w="12700">
            <a:solidFill>
              <a:srgbClr val="B5451B"/>
            </a:solidFill>
            <a:prstDash val="solid"/>
          </a:ln>
        </p:spPr>
      </p:sp>
      <p:sp>
        <p:nvSpPr>
          <p:cNvPr id="10" name="Shape 8"/>
          <p:cNvSpPr/>
          <p:nvPr/>
        </p:nvSpPr>
        <p:spPr>
          <a:xfrm>
            <a:off x="347472" y="1755648"/>
            <a:ext cx="2743200" cy="256032"/>
          </a:xfrm>
          <a:prstGeom prst="rect">
            <a:avLst/>
          </a:prstGeom>
          <a:solidFill>
            <a:srgbClr val="B5451B"/>
          </a:solidFill>
          <a:ln w="12700">
            <a:solidFill>
              <a:srgbClr val="B5451B"/>
            </a:solidFill>
            <a:prstDash val="solid"/>
          </a:ln>
        </p:spPr>
      </p:sp>
      <p:sp>
        <p:nvSpPr>
          <p:cNvPr id="11" name="Text 9"/>
          <p:cNvSpPr/>
          <p:nvPr/>
        </p:nvSpPr>
        <p:spPr>
          <a:xfrm>
            <a:off x="457200" y="1609344"/>
            <a:ext cx="2523744" cy="34747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The Expert</a:t>
            </a:r>
            <a:endParaRPr lang="en-US" sz="1300" dirty="0"/>
          </a:p>
        </p:txBody>
      </p:sp>
      <p:sp>
        <p:nvSpPr>
          <p:cNvPr id="12" name="Text 10"/>
          <p:cNvSpPr/>
          <p:nvPr/>
        </p:nvSpPr>
        <p:spPr>
          <a:xfrm>
            <a:off x="475488" y="2066544"/>
            <a:ext cx="2487168" cy="274320"/>
          </a:xfrm>
          <a:prstGeom prst="rect">
            <a:avLst/>
          </a:prstGeom>
          <a:noFill/>
          <a:ln/>
        </p:spPr>
        <p:txBody>
          <a:bodyPr wrap="square" rtlCol="0" anchor="ctr"/>
          <a:lstStyle/>
          <a:p>
            <a:pPr indent="0" marL="0">
              <a:buNone/>
            </a:pPr>
            <a:r>
              <a:rPr lang="en-US" sz="1000" b="1" dirty="0">
                <a:solidFill>
                  <a:srgbClr val="B5451B"/>
                </a:solidFill>
                <a:latin typeface="Calibri" pitchFamily="34" charset="0"/>
                <a:ea typeface="Calibri" pitchFamily="34" charset="-122"/>
                <a:cs typeface="Calibri" pitchFamily="34" charset="-120"/>
              </a:rPr>
              <a:t>At the table:</a:t>
            </a:r>
            <a:endParaRPr lang="en-US" sz="1000" dirty="0"/>
          </a:p>
        </p:txBody>
      </p:sp>
      <p:sp>
        <p:nvSpPr>
          <p:cNvPr id="13" name="Text 11"/>
          <p:cNvSpPr/>
          <p:nvPr/>
        </p:nvSpPr>
        <p:spPr>
          <a:xfrm>
            <a:off x="475488" y="2322576"/>
            <a:ext cx="2487168" cy="658368"/>
          </a:xfrm>
          <a:prstGeom prst="rect">
            <a:avLst/>
          </a:prstGeom>
          <a:noFill/>
          <a:ln/>
        </p:spPr>
        <p:txBody>
          <a:bodyPr wrap="square" rtlCol="0" anchor="ctr"/>
          <a:lstStyle/>
          <a:p>
            <a:pPr indent="0" marL="0">
              <a:lnSpc>
                <a:spcPct val="130000"/>
              </a:lnSpc>
              <a:buNone/>
            </a:pPr>
            <a:r>
              <a:rPr lang="en-US" sz="1200" dirty="0">
                <a:solidFill>
                  <a:srgbClr val="2B1F0F"/>
                </a:solidFill>
                <a:latin typeface="Calibri" pitchFamily="34" charset="0"/>
                <a:ea typeface="Calibri" pitchFamily="34" charset="-122"/>
                <a:cs typeface="Calibri" pitchFamily="34" charset="-120"/>
              </a:rPr>
              <a:t>Sister-in-law who makes 'the world's best' pumpkin pie</a:t>
            </a:r>
            <a:endParaRPr lang="en-US" sz="1200" dirty="0"/>
          </a:p>
        </p:txBody>
      </p:sp>
      <p:sp>
        <p:nvSpPr>
          <p:cNvPr id="14" name="Shape 12"/>
          <p:cNvSpPr/>
          <p:nvPr/>
        </p:nvSpPr>
        <p:spPr>
          <a:xfrm>
            <a:off x="475488" y="3035808"/>
            <a:ext cx="2487168" cy="0"/>
          </a:xfrm>
          <a:prstGeom prst="line">
            <a:avLst/>
          </a:prstGeom>
          <a:noFill/>
          <a:ln w="6350">
            <a:solidFill>
              <a:srgbClr val="B5451B"/>
            </a:solidFill>
            <a:prstDash val="dash"/>
          </a:ln>
        </p:spPr>
      </p:sp>
      <p:sp>
        <p:nvSpPr>
          <p:cNvPr id="15" name="Text 13"/>
          <p:cNvSpPr/>
          <p:nvPr/>
        </p:nvSpPr>
        <p:spPr>
          <a:xfrm>
            <a:off x="475488" y="3108960"/>
            <a:ext cx="2487168" cy="274320"/>
          </a:xfrm>
          <a:prstGeom prst="rect">
            <a:avLst/>
          </a:prstGeom>
          <a:noFill/>
          <a:ln/>
        </p:spPr>
        <p:txBody>
          <a:bodyPr wrap="square" rtlCol="0" anchor="ctr"/>
          <a:lstStyle/>
          <a:p>
            <a:pPr indent="0" marL="0">
              <a:buNone/>
            </a:pPr>
            <a:r>
              <a:rPr lang="en-US" sz="1000" b="1" dirty="0">
                <a:solidFill>
                  <a:srgbClr val="B5451B"/>
                </a:solidFill>
                <a:latin typeface="Calibri" pitchFamily="34" charset="0"/>
                <a:ea typeface="Calibri" pitchFamily="34" charset="-122"/>
                <a:cs typeface="Calibri" pitchFamily="34" charset="-120"/>
              </a:rPr>
              <a:t>The lesson:</a:t>
            </a:r>
            <a:endParaRPr lang="en-US" sz="1000" dirty="0"/>
          </a:p>
        </p:txBody>
      </p:sp>
      <p:sp>
        <p:nvSpPr>
          <p:cNvPr id="16" name="Text 14"/>
          <p:cNvSpPr/>
          <p:nvPr/>
        </p:nvSpPr>
        <p:spPr>
          <a:xfrm>
            <a:off x="475488" y="3364992"/>
            <a:ext cx="2487168" cy="1280160"/>
          </a:xfrm>
          <a:prstGeom prst="rect">
            <a:avLst/>
          </a:prstGeom>
          <a:noFill/>
          <a:ln/>
        </p:spPr>
        <p:txBody>
          <a:bodyPr wrap="square" rtlCol="0" anchor="ctr"/>
          <a:lstStyle/>
          <a:p>
            <a:pPr indent="0" marL="0">
              <a:lnSpc>
                <a:spcPct val="130000"/>
              </a:lnSpc>
              <a:buNone/>
            </a:pPr>
            <a:r>
              <a:rPr lang="en-US" sz="1150" dirty="0">
                <a:solidFill>
                  <a:srgbClr val="2B1F0F"/>
                </a:solidFill>
                <a:latin typeface="Calibri" pitchFamily="34" charset="0"/>
                <a:ea typeface="Calibri" pitchFamily="34" charset="-122"/>
                <a:cs typeface="Calibri" pitchFamily="34" charset="-120"/>
              </a:rPr>
              <a:t>Don't fight the expertise. Let them contribute where they're strong. You might end up with two pies. That's fine.</a:t>
            </a:r>
            <a:endParaRPr lang="en-US" sz="1150" dirty="0"/>
          </a:p>
        </p:txBody>
      </p:sp>
      <p:sp>
        <p:nvSpPr>
          <p:cNvPr id="17" name="Shape 15"/>
          <p:cNvSpPr/>
          <p:nvPr/>
        </p:nvSpPr>
        <p:spPr>
          <a:xfrm>
            <a:off x="3236976" y="1572768"/>
            <a:ext cx="2743200" cy="4069080"/>
          </a:xfrm>
          <a:prstGeom prst="roundRect">
            <a:avLst>
              <a:gd name="adj" fmla="val 2667"/>
            </a:avLst>
          </a:prstGeom>
          <a:solidFill>
            <a:srgbClr val="FDF8E8"/>
          </a:solidFill>
          <a:ln w="15240">
            <a:solidFill>
              <a:srgbClr val="8C6914"/>
            </a:solidFill>
            <a:prstDash val="solid"/>
          </a:ln>
        </p:spPr>
      </p:sp>
      <p:sp>
        <p:nvSpPr>
          <p:cNvPr id="18" name="Shape 16"/>
          <p:cNvSpPr/>
          <p:nvPr/>
        </p:nvSpPr>
        <p:spPr>
          <a:xfrm>
            <a:off x="3236976" y="1572768"/>
            <a:ext cx="2743200" cy="438912"/>
          </a:xfrm>
          <a:prstGeom prst="roundRect">
            <a:avLst>
              <a:gd name="adj" fmla="val 16667"/>
            </a:avLst>
          </a:prstGeom>
          <a:solidFill>
            <a:srgbClr val="8C6914"/>
          </a:solidFill>
          <a:ln w="12700">
            <a:solidFill>
              <a:srgbClr val="8C6914"/>
            </a:solidFill>
            <a:prstDash val="solid"/>
          </a:ln>
        </p:spPr>
      </p:sp>
      <p:sp>
        <p:nvSpPr>
          <p:cNvPr id="19" name="Shape 17"/>
          <p:cNvSpPr/>
          <p:nvPr/>
        </p:nvSpPr>
        <p:spPr>
          <a:xfrm>
            <a:off x="3236976" y="1755648"/>
            <a:ext cx="2743200" cy="256032"/>
          </a:xfrm>
          <a:prstGeom prst="rect">
            <a:avLst/>
          </a:prstGeom>
          <a:solidFill>
            <a:srgbClr val="8C6914"/>
          </a:solidFill>
          <a:ln w="12700">
            <a:solidFill>
              <a:srgbClr val="8C6914"/>
            </a:solidFill>
            <a:prstDash val="solid"/>
          </a:ln>
        </p:spPr>
      </p:sp>
      <p:sp>
        <p:nvSpPr>
          <p:cNvPr id="20" name="Text 18"/>
          <p:cNvSpPr/>
          <p:nvPr/>
        </p:nvSpPr>
        <p:spPr>
          <a:xfrm>
            <a:off x="3346704" y="1609344"/>
            <a:ext cx="2523744" cy="34747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The Scope Creeper</a:t>
            </a:r>
            <a:endParaRPr lang="en-US" sz="1300" dirty="0"/>
          </a:p>
        </p:txBody>
      </p:sp>
      <p:sp>
        <p:nvSpPr>
          <p:cNvPr id="21" name="Text 19"/>
          <p:cNvSpPr/>
          <p:nvPr/>
        </p:nvSpPr>
        <p:spPr>
          <a:xfrm>
            <a:off x="3364992" y="2066544"/>
            <a:ext cx="2487168" cy="274320"/>
          </a:xfrm>
          <a:prstGeom prst="rect">
            <a:avLst/>
          </a:prstGeom>
          <a:noFill/>
          <a:ln/>
        </p:spPr>
        <p:txBody>
          <a:bodyPr wrap="square" rtlCol="0" anchor="ctr"/>
          <a:lstStyle/>
          <a:p>
            <a:pPr indent="0" marL="0">
              <a:buNone/>
            </a:pPr>
            <a:r>
              <a:rPr lang="en-US" sz="1000" b="1" dirty="0">
                <a:solidFill>
                  <a:srgbClr val="8C6914"/>
                </a:solidFill>
                <a:latin typeface="Calibri" pitchFamily="34" charset="0"/>
                <a:ea typeface="Calibri" pitchFamily="34" charset="-122"/>
                <a:cs typeface="Calibri" pitchFamily="34" charset="-120"/>
              </a:rPr>
              <a:t>At the table:</a:t>
            </a:r>
            <a:endParaRPr lang="en-US" sz="1000" dirty="0"/>
          </a:p>
        </p:txBody>
      </p:sp>
      <p:sp>
        <p:nvSpPr>
          <p:cNvPr id="22" name="Text 20"/>
          <p:cNvSpPr/>
          <p:nvPr/>
        </p:nvSpPr>
        <p:spPr>
          <a:xfrm>
            <a:off x="3364992" y="2322576"/>
            <a:ext cx="2487168" cy="658368"/>
          </a:xfrm>
          <a:prstGeom prst="rect">
            <a:avLst/>
          </a:prstGeom>
          <a:noFill/>
          <a:ln/>
        </p:spPr>
        <p:txBody>
          <a:bodyPr wrap="square" rtlCol="0" anchor="ctr"/>
          <a:lstStyle/>
          <a:p>
            <a:pPr indent="0" marL="0">
              <a:lnSpc>
                <a:spcPct val="130000"/>
              </a:lnSpc>
              <a:buNone/>
            </a:pPr>
            <a:r>
              <a:rPr lang="en-US" sz="1200" dirty="0">
                <a:solidFill>
                  <a:srgbClr val="2B1F0F"/>
                </a:solidFill>
                <a:latin typeface="Calibri" pitchFamily="34" charset="0"/>
                <a:ea typeface="Calibri" pitchFamily="34" charset="-122"/>
                <a:cs typeface="Calibri" pitchFamily="34" charset="-120"/>
              </a:rPr>
              <a:t>Uncle who 'just wants to add one more dish' the morning of</a:t>
            </a:r>
            <a:endParaRPr lang="en-US" sz="1200" dirty="0"/>
          </a:p>
        </p:txBody>
      </p:sp>
      <p:sp>
        <p:nvSpPr>
          <p:cNvPr id="23" name="Shape 21"/>
          <p:cNvSpPr/>
          <p:nvPr/>
        </p:nvSpPr>
        <p:spPr>
          <a:xfrm>
            <a:off x="3364992" y="3035808"/>
            <a:ext cx="2487168" cy="0"/>
          </a:xfrm>
          <a:prstGeom prst="line">
            <a:avLst/>
          </a:prstGeom>
          <a:noFill/>
          <a:ln w="6350">
            <a:solidFill>
              <a:srgbClr val="8C6914"/>
            </a:solidFill>
            <a:prstDash val="dash"/>
          </a:ln>
        </p:spPr>
      </p:sp>
      <p:sp>
        <p:nvSpPr>
          <p:cNvPr id="24" name="Text 22"/>
          <p:cNvSpPr/>
          <p:nvPr/>
        </p:nvSpPr>
        <p:spPr>
          <a:xfrm>
            <a:off x="3364992" y="3108960"/>
            <a:ext cx="2487168" cy="274320"/>
          </a:xfrm>
          <a:prstGeom prst="rect">
            <a:avLst/>
          </a:prstGeom>
          <a:noFill/>
          <a:ln/>
        </p:spPr>
        <p:txBody>
          <a:bodyPr wrap="square" rtlCol="0" anchor="ctr"/>
          <a:lstStyle/>
          <a:p>
            <a:pPr indent="0" marL="0">
              <a:buNone/>
            </a:pPr>
            <a:r>
              <a:rPr lang="en-US" sz="1000" b="1" dirty="0">
                <a:solidFill>
                  <a:srgbClr val="8C6914"/>
                </a:solidFill>
                <a:latin typeface="Calibri" pitchFamily="34" charset="0"/>
                <a:ea typeface="Calibri" pitchFamily="34" charset="-122"/>
                <a:cs typeface="Calibri" pitchFamily="34" charset="-120"/>
              </a:rPr>
              <a:t>The lesson:</a:t>
            </a:r>
            <a:endParaRPr lang="en-US" sz="1000" dirty="0"/>
          </a:p>
        </p:txBody>
      </p:sp>
      <p:sp>
        <p:nvSpPr>
          <p:cNvPr id="25" name="Text 23"/>
          <p:cNvSpPr/>
          <p:nvPr/>
        </p:nvSpPr>
        <p:spPr>
          <a:xfrm>
            <a:off x="3364992" y="3364992"/>
            <a:ext cx="2487168" cy="1280160"/>
          </a:xfrm>
          <a:prstGeom prst="rect">
            <a:avLst/>
          </a:prstGeom>
          <a:noFill/>
          <a:ln/>
        </p:spPr>
        <p:txBody>
          <a:bodyPr wrap="square" rtlCol="0" anchor="ctr"/>
          <a:lstStyle/>
          <a:p>
            <a:pPr indent="0" marL="0">
              <a:lnSpc>
                <a:spcPct val="130000"/>
              </a:lnSpc>
              <a:buNone/>
            </a:pPr>
            <a:r>
              <a:rPr lang="en-US" sz="1150" dirty="0">
                <a:solidFill>
                  <a:srgbClr val="2B1F0F"/>
                </a:solidFill>
                <a:latin typeface="Calibri" pitchFamily="34" charset="0"/>
                <a:ea typeface="Calibri" pitchFamily="34" charset="-122"/>
                <a:cs typeface="Calibri" pitchFamily="34" charset="-120"/>
              </a:rPr>
              <a:t>Late changes cost more than early changes. Establish the menu (scope) by Wednesday. After that, it's a change request.</a:t>
            </a:r>
            <a:endParaRPr lang="en-US" sz="1150" dirty="0"/>
          </a:p>
        </p:txBody>
      </p:sp>
      <p:sp>
        <p:nvSpPr>
          <p:cNvPr id="26" name="Shape 24"/>
          <p:cNvSpPr/>
          <p:nvPr/>
        </p:nvSpPr>
        <p:spPr>
          <a:xfrm>
            <a:off x="6126480" y="1572768"/>
            <a:ext cx="2743200" cy="4069080"/>
          </a:xfrm>
          <a:prstGeom prst="roundRect">
            <a:avLst>
              <a:gd name="adj" fmla="val 2667"/>
            </a:avLst>
          </a:prstGeom>
          <a:solidFill>
            <a:srgbClr val="EEF6EF"/>
          </a:solidFill>
          <a:ln w="15240">
            <a:solidFill>
              <a:srgbClr val="3D6145"/>
            </a:solidFill>
            <a:prstDash val="solid"/>
          </a:ln>
        </p:spPr>
      </p:sp>
      <p:sp>
        <p:nvSpPr>
          <p:cNvPr id="27" name="Shape 25"/>
          <p:cNvSpPr/>
          <p:nvPr/>
        </p:nvSpPr>
        <p:spPr>
          <a:xfrm>
            <a:off x="6126480" y="1572768"/>
            <a:ext cx="2743200" cy="438912"/>
          </a:xfrm>
          <a:prstGeom prst="roundRect">
            <a:avLst>
              <a:gd name="adj" fmla="val 16667"/>
            </a:avLst>
          </a:prstGeom>
          <a:solidFill>
            <a:srgbClr val="3D6145"/>
          </a:solidFill>
          <a:ln w="12700">
            <a:solidFill>
              <a:srgbClr val="3D6145"/>
            </a:solidFill>
            <a:prstDash val="solid"/>
          </a:ln>
        </p:spPr>
      </p:sp>
      <p:sp>
        <p:nvSpPr>
          <p:cNvPr id="28" name="Shape 26"/>
          <p:cNvSpPr/>
          <p:nvPr/>
        </p:nvSpPr>
        <p:spPr>
          <a:xfrm>
            <a:off x="6126480" y="1755648"/>
            <a:ext cx="2743200" cy="256032"/>
          </a:xfrm>
          <a:prstGeom prst="rect">
            <a:avLst/>
          </a:prstGeom>
          <a:solidFill>
            <a:srgbClr val="3D6145"/>
          </a:solidFill>
          <a:ln w="12700">
            <a:solidFill>
              <a:srgbClr val="3D6145"/>
            </a:solidFill>
            <a:prstDash val="solid"/>
          </a:ln>
        </p:spPr>
      </p:sp>
      <p:sp>
        <p:nvSpPr>
          <p:cNvPr id="29" name="Text 27"/>
          <p:cNvSpPr/>
          <p:nvPr/>
        </p:nvSpPr>
        <p:spPr>
          <a:xfrm>
            <a:off x="6236208" y="1609344"/>
            <a:ext cx="2523744" cy="34747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The Silent Stakeholder</a:t>
            </a:r>
            <a:endParaRPr lang="en-US" sz="1300" dirty="0"/>
          </a:p>
        </p:txBody>
      </p:sp>
      <p:sp>
        <p:nvSpPr>
          <p:cNvPr id="30" name="Text 28"/>
          <p:cNvSpPr/>
          <p:nvPr/>
        </p:nvSpPr>
        <p:spPr>
          <a:xfrm>
            <a:off x="6254496" y="2066544"/>
            <a:ext cx="2487168" cy="274320"/>
          </a:xfrm>
          <a:prstGeom prst="rect">
            <a:avLst/>
          </a:prstGeom>
          <a:noFill/>
          <a:ln/>
        </p:spPr>
        <p:txBody>
          <a:bodyPr wrap="square" rtlCol="0" anchor="ctr"/>
          <a:lstStyle/>
          <a:p>
            <a:pPr indent="0" marL="0">
              <a:buNone/>
            </a:pPr>
            <a:r>
              <a:rPr lang="en-US" sz="1000" b="1" dirty="0">
                <a:solidFill>
                  <a:srgbClr val="3D6145"/>
                </a:solidFill>
                <a:latin typeface="Calibri" pitchFamily="34" charset="0"/>
                <a:ea typeface="Calibri" pitchFamily="34" charset="-122"/>
                <a:cs typeface="Calibri" pitchFamily="34" charset="-120"/>
              </a:rPr>
              <a:t>At the table:</a:t>
            </a:r>
            <a:endParaRPr lang="en-US" sz="1000" dirty="0"/>
          </a:p>
        </p:txBody>
      </p:sp>
      <p:sp>
        <p:nvSpPr>
          <p:cNvPr id="31" name="Text 29"/>
          <p:cNvSpPr/>
          <p:nvPr/>
        </p:nvSpPr>
        <p:spPr>
          <a:xfrm>
            <a:off x="6254496" y="2322576"/>
            <a:ext cx="2487168" cy="658368"/>
          </a:xfrm>
          <a:prstGeom prst="rect">
            <a:avLst/>
          </a:prstGeom>
          <a:noFill/>
          <a:ln/>
        </p:spPr>
        <p:txBody>
          <a:bodyPr wrap="square" rtlCol="0" anchor="ctr"/>
          <a:lstStyle/>
          <a:p>
            <a:pPr indent="0" marL="0">
              <a:lnSpc>
                <a:spcPct val="130000"/>
              </a:lnSpc>
              <a:buNone/>
            </a:pPr>
            <a:r>
              <a:rPr lang="en-US" sz="1200" dirty="0">
                <a:solidFill>
                  <a:srgbClr val="2B1F0F"/>
                </a:solidFill>
                <a:latin typeface="Calibri" pitchFamily="34" charset="0"/>
                <a:ea typeface="Calibri" pitchFamily="34" charset="-122"/>
                <a:cs typeface="Calibri" pitchFamily="34" charset="-120"/>
              </a:rPr>
              <a:t>Grandma who didn't mention she can't do stairs until arrival</a:t>
            </a:r>
            <a:endParaRPr lang="en-US" sz="1200" dirty="0"/>
          </a:p>
        </p:txBody>
      </p:sp>
      <p:sp>
        <p:nvSpPr>
          <p:cNvPr id="32" name="Shape 30"/>
          <p:cNvSpPr/>
          <p:nvPr/>
        </p:nvSpPr>
        <p:spPr>
          <a:xfrm>
            <a:off x="6254496" y="3035808"/>
            <a:ext cx="2487168" cy="0"/>
          </a:xfrm>
          <a:prstGeom prst="line">
            <a:avLst/>
          </a:prstGeom>
          <a:noFill/>
          <a:ln w="6350">
            <a:solidFill>
              <a:srgbClr val="3D6145"/>
            </a:solidFill>
            <a:prstDash val="dash"/>
          </a:ln>
        </p:spPr>
      </p:sp>
      <p:sp>
        <p:nvSpPr>
          <p:cNvPr id="33" name="Text 31"/>
          <p:cNvSpPr/>
          <p:nvPr/>
        </p:nvSpPr>
        <p:spPr>
          <a:xfrm>
            <a:off x="6254496" y="3108960"/>
            <a:ext cx="2487168" cy="274320"/>
          </a:xfrm>
          <a:prstGeom prst="rect">
            <a:avLst/>
          </a:prstGeom>
          <a:noFill/>
          <a:ln/>
        </p:spPr>
        <p:txBody>
          <a:bodyPr wrap="square" rtlCol="0" anchor="ctr"/>
          <a:lstStyle/>
          <a:p>
            <a:pPr indent="0" marL="0">
              <a:buNone/>
            </a:pPr>
            <a:r>
              <a:rPr lang="en-US" sz="1000" b="1" dirty="0">
                <a:solidFill>
                  <a:srgbClr val="3D6145"/>
                </a:solidFill>
                <a:latin typeface="Calibri" pitchFamily="34" charset="0"/>
                <a:ea typeface="Calibri" pitchFamily="34" charset="-122"/>
                <a:cs typeface="Calibri" pitchFamily="34" charset="-120"/>
              </a:rPr>
              <a:t>The lesson:</a:t>
            </a:r>
            <a:endParaRPr lang="en-US" sz="1000" dirty="0"/>
          </a:p>
        </p:txBody>
      </p:sp>
      <p:sp>
        <p:nvSpPr>
          <p:cNvPr id="34" name="Text 32"/>
          <p:cNvSpPr/>
          <p:nvPr/>
        </p:nvSpPr>
        <p:spPr>
          <a:xfrm>
            <a:off x="6254496" y="3364992"/>
            <a:ext cx="2487168" cy="1280160"/>
          </a:xfrm>
          <a:prstGeom prst="rect">
            <a:avLst/>
          </a:prstGeom>
          <a:noFill/>
          <a:ln/>
        </p:spPr>
        <p:txBody>
          <a:bodyPr wrap="square" rtlCol="0" anchor="ctr"/>
          <a:lstStyle/>
          <a:p>
            <a:pPr indent="0" marL="0">
              <a:lnSpc>
                <a:spcPct val="130000"/>
              </a:lnSpc>
              <a:buNone/>
            </a:pPr>
            <a:r>
              <a:rPr lang="en-US" sz="1150" dirty="0">
                <a:solidFill>
                  <a:srgbClr val="2B1F0F"/>
                </a:solidFill>
                <a:latin typeface="Calibri" pitchFamily="34" charset="0"/>
                <a:ea typeface="Calibri" pitchFamily="34" charset="-122"/>
                <a:cs typeface="Calibri" pitchFamily="34" charset="-120"/>
              </a:rPr>
              <a:t>Engage stakeholders early. Ask the questions before you finalize the plan. The requirements you miss always surface at the worst moment.</a:t>
            </a:r>
            <a:endParaRPr lang="en-US" sz="1150" dirty="0"/>
          </a:p>
        </p:txBody>
      </p:sp>
      <p:sp>
        <p:nvSpPr>
          <p:cNvPr id="35" name="Text 33"/>
          <p:cNvSpPr/>
          <p:nvPr/>
        </p:nvSpPr>
        <p:spPr>
          <a:xfrm>
            <a:off x="7863840" y="6217920"/>
            <a:ext cx="1097280" cy="228600"/>
          </a:xfrm>
          <a:prstGeom prst="rect">
            <a:avLst/>
          </a:prstGeom>
          <a:noFill/>
          <a:ln/>
        </p:spPr>
        <p:txBody>
          <a:bodyPr wrap="square" rtlCol="0" anchor="ctr"/>
          <a:lstStyle/>
          <a:p>
            <a:pPr algn="r" indent="0" marL="0">
              <a:buNone/>
            </a:pPr>
            <a:r>
              <a:rPr lang="en-US" sz="900" dirty="0">
                <a:solidFill>
                  <a:srgbClr val="C8BCA8"/>
                </a:solidFill>
                <a:latin typeface="Calibri" pitchFamily="34" charset="0"/>
                <a:ea typeface="Calibri" pitchFamily="34" charset="-122"/>
                <a:cs typeface="Calibri"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EBD9"/>
          </a:solidFill>
          <a:ln w="12700">
            <a:solidFill>
              <a:srgbClr val="F2EBD9"/>
            </a:solidFill>
            <a:prstDash val="solid"/>
          </a:ln>
        </p:spPr>
      </p:sp>
      <p:sp>
        <p:nvSpPr>
          <p:cNvPr id="3" name="Shape 1"/>
          <p:cNvSpPr/>
          <p:nvPr/>
        </p:nvSpPr>
        <p:spPr>
          <a:xfrm>
            <a:off x="0" y="0"/>
            <a:ext cx="164592" cy="5143500"/>
          </a:xfrm>
          <a:prstGeom prst="rect">
            <a:avLst/>
          </a:prstGeom>
          <a:solidFill>
            <a:srgbClr val="8C6914"/>
          </a:solidFill>
          <a:ln w="12700">
            <a:solidFill>
              <a:srgbClr val="8C6914"/>
            </a:solidFill>
            <a:prstDash val="solid"/>
          </a:ln>
        </p:spPr>
      </p:sp>
      <p:sp>
        <p:nvSpPr>
          <p:cNvPr id="4" name="Shape 2"/>
          <p:cNvSpPr/>
          <p:nvPr/>
        </p:nvSpPr>
        <p:spPr>
          <a:xfrm>
            <a:off x="411480" y="201168"/>
            <a:ext cx="1289304" cy="292608"/>
          </a:xfrm>
          <a:prstGeom prst="roundRect">
            <a:avLst>
              <a:gd name="adj" fmla="val 25000"/>
            </a:avLst>
          </a:prstGeom>
          <a:solidFill>
            <a:srgbClr val="F5DFA0"/>
          </a:solidFill>
          <a:ln w="12700">
            <a:solidFill>
              <a:srgbClr val="F5DFA0"/>
            </a:solidFill>
            <a:prstDash val="solid"/>
          </a:ln>
        </p:spPr>
      </p:sp>
      <p:sp>
        <p:nvSpPr>
          <p:cNvPr id="5" name="Text 3"/>
          <p:cNvSpPr/>
          <p:nvPr/>
        </p:nvSpPr>
        <p:spPr>
          <a:xfrm>
            <a:off x="448056" y="219456"/>
            <a:ext cx="1216152" cy="256032"/>
          </a:xfrm>
          <a:prstGeom prst="rect">
            <a:avLst/>
          </a:prstGeom>
          <a:noFill/>
          <a:ln/>
        </p:spPr>
        <p:txBody>
          <a:bodyPr wrap="square" rtlCol="0" anchor="ctr"/>
          <a:lstStyle/>
          <a:p>
            <a:pPr indent="0" marL="0">
              <a:buNone/>
            </a:pPr>
            <a:r>
              <a:rPr lang="en-US" sz="1100" b="1" dirty="0">
                <a:solidFill>
                  <a:srgbClr val="B5451B"/>
                </a:solidFill>
                <a:latin typeface="Calibri" pitchFamily="34" charset="0"/>
                <a:ea typeface="Calibri" pitchFamily="34" charset="-122"/>
                <a:cs typeface="Calibri" pitchFamily="34" charset="-120"/>
              </a:rPr>
              <a:t>Step 06</a:t>
            </a:r>
            <a:endParaRPr lang="en-US" sz="1100" dirty="0"/>
          </a:p>
        </p:txBody>
      </p:sp>
      <p:sp>
        <p:nvSpPr>
          <p:cNvPr id="6" name="Text 4"/>
          <p:cNvSpPr/>
          <p:nvPr/>
        </p:nvSpPr>
        <p:spPr>
          <a:xfrm>
            <a:off x="411480" y="512064"/>
            <a:ext cx="8321040" cy="548640"/>
          </a:xfrm>
          <a:prstGeom prst="rect">
            <a:avLst/>
          </a:prstGeom>
          <a:noFill/>
          <a:ln/>
        </p:spPr>
        <p:txBody>
          <a:bodyPr wrap="square" rtlCol="0" anchor="ctr"/>
          <a:lstStyle/>
          <a:p>
            <a:pPr indent="0" marL="0">
              <a:buNone/>
            </a:pPr>
            <a:r>
              <a:rPr lang="en-US" sz="2800" b="1" dirty="0">
                <a:solidFill>
                  <a:srgbClr val="2B1F0F"/>
                </a:solidFill>
                <a:latin typeface="Georgia" pitchFamily="34" charset="0"/>
                <a:ea typeface="Georgia" pitchFamily="34" charset="-122"/>
                <a:cs typeface="Georgia" pitchFamily="34" charset="-120"/>
              </a:rPr>
              <a:t>Collaborate with Your Team</a:t>
            </a:r>
            <a:endParaRPr lang="en-US" sz="2800" dirty="0"/>
          </a:p>
        </p:txBody>
      </p:sp>
      <p:sp>
        <p:nvSpPr>
          <p:cNvPr id="7" name="Shape 5"/>
          <p:cNvSpPr/>
          <p:nvPr/>
        </p:nvSpPr>
        <p:spPr>
          <a:xfrm>
            <a:off x="347472" y="1188720"/>
            <a:ext cx="4160520" cy="4663440"/>
          </a:xfrm>
          <a:prstGeom prst="roundRect">
            <a:avLst>
              <a:gd name="adj" fmla="val 1538"/>
            </a:avLst>
          </a:prstGeom>
          <a:solidFill>
            <a:srgbClr val="FBF6EE"/>
          </a:solidFill>
          <a:ln w="12700">
            <a:solidFill>
              <a:srgbClr val="D0C4B0"/>
            </a:solidFill>
            <a:prstDash val="solid"/>
          </a:ln>
        </p:spPr>
      </p:sp>
      <p:sp>
        <p:nvSpPr>
          <p:cNvPr id="8" name="Text 6"/>
          <p:cNvSpPr/>
          <p:nvPr/>
        </p:nvSpPr>
        <p:spPr>
          <a:xfrm>
            <a:off x="530352" y="1325880"/>
            <a:ext cx="3657600" cy="347472"/>
          </a:xfrm>
          <a:prstGeom prst="rect">
            <a:avLst/>
          </a:prstGeom>
          <a:noFill/>
          <a:ln/>
        </p:spPr>
        <p:txBody>
          <a:bodyPr wrap="square" rtlCol="0" anchor="ctr"/>
          <a:lstStyle/>
          <a:p>
            <a:pPr indent="0" marL="0">
              <a:buNone/>
            </a:pPr>
            <a:r>
              <a:rPr lang="en-US" sz="1400" b="1" dirty="0">
                <a:solidFill>
                  <a:srgbClr val="8C6914"/>
                </a:solidFill>
                <a:latin typeface="Georgia" pitchFamily="34" charset="0"/>
                <a:ea typeface="Georgia" pitchFamily="34" charset="-122"/>
                <a:cs typeface="Georgia" pitchFamily="34" charset="-120"/>
              </a:rPr>
              <a:t>At the Table</a:t>
            </a:r>
            <a:endParaRPr lang="en-US" sz="1400" dirty="0"/>
          </a:p>
        </p:txBody>
      </p:sp>
      <p:sp>
        <p:nvSpPr>
          <p:cNvPr id="9" name="Text 7"/>
          <p:cNvSpPr/>
          <p:nvPr/>
        </p:nvSpPr>
        <p:spPr>
          <a:xfrm>
            <a:off x="530352" y="1792224"/>
            <a:ext cx="1280160" cy="310896"/>
          </a:xfrm>
          <a:prstGeom prst="rect">
            <a:avLst/>
          </a:prstGeom>
          <a:noFill/>
          <a:ln/>
        </p:spPr>
        <p:txBody>
          <a:bodyPr wrap="square" rtlCol="0" anchor="ctr"/>
          <a:lstStyle/>
          <a:p>
            <a:pPr indent="0" marL="0">
              <a:buNone/>
            </a:pPr>
            <a:r>
              <a:rPr lang="en-US" sz="1250" b="1" dirty="0">
                <a:solidFill>
                  <a:srgbClr val="B5451B"/>
                </a:solidFill>
                <a:latin typeface="Georgia" pitchFamily="34" charset="0"/>
                <a:ea typeface="Georgia" pitchFamily="34" charset="-122"/>
                <a:cs typeface="Georgia" pitchFamily="34" charset="-120"/>
              </a:rPr>
              <a:t>Turkey lead</a:t>
            </a:r>
            <a:endParaRPr lang="en-US" sz="1250" dirty="0"/>
          </a:p>
        </p:txBody>
      </p:sp>
      <p:sp>
        <p:nvSpPr>
          <p:cNvPr id="10" name="Text 8"/>
          <p:cNvSpPr/>
          <p:nvPr/>
        </p:nvSpPr>
        <p:spPr>
          <a:xfrm>
            <a:off x="530352" y="2103120"/>
            <a:ext cx="3749040" cy="530352"/>
          </a:xfrm>
          <a:prstGeom prst="rect">
            <a:avLst/>
          </a:prstGeom>
          <a:noFill/>
          <a:ln/>
        </p:spPr>
        <p:txBody>
          <a:bodyPr wrap="square" rtlCol="0" anchor="ctr"/>
          <a:lstStyle/>
          <a:p>
            <a:pPr indent="0" marL="0">
              <a:lnSpc>
                <a:spcPct val="125000"/>
              </a:lnSpc>
              <a:buNone/>
            </a:pPr>
            <a:r>
              <a:rPr lang="en-US" sz="1150" dirty="0">
                <a:solidFill>
                  <a:srgbClr val="2B1F0F"/>
                </a:solidFill>
                <a:latin typeface="Calibri" pitchFamily="34" charset="0"/>
                <a:ea typeface="Calibri" pitchFamily="34" charset="-122"/>
                <a:cs typeface="Calibri" pitchFamily="34" charset="-120"/>
              </a:rPr>
              <a:t>The gaffer. Owns the centerpiece, sets the pace.</a:t>
            </a:r>
            <a:endParaRPr lang="en-US" sz="1150" dirty="0"/>
          </a:p>
        </p:txBody>
      </p:sp>
      <p:sp>
        <p:nvSpPr>
          <p:cNvPr id="11" name="Text 9"/>
          <p:cNvSpPr/>
          <p:nvPr/>
        </p:nvSpPr>
        <p:spPr>
          <a:xfrm>
            <a:off x="530352" y="2743200"/>
            <a:ext cx="1280160" cy="310896"/>
          </a:xfrm>
          <a:prstGeom prst="rect">
            <a:avLst/>
          </a:prstGeom>
          <a:noFill/>
          <a:ln/>
        </p:spPr>
        <p:txBody>
          <a:bodyPr wrap="square" rtlCol="0" anchor="ctr"/>
          <a:lstStyle/>
          <a:p>
            <a:pPr indent="0" marL="0">
              <a:buNone/>
            </a:pPr>
            <a:r>
              <a:rPr lang="en-US" sz="1250" b="1" dirty="0">
                <a:solidFill>
                  <a:srgbClr val="B5451B"/>
                </a:solidFill>
                <a:latin typeface="Georgia" pitchFamily="34" charset="0"/>
                <a:ea typeface="Georgia" pitchFamily="34" charset="-122"/>
                <a:cs typeface="Georgia" pitchFamily="34" charset="-120"/>
              </a:rPr>
              <a:t>Side dish crew</a:t>
            </a:r>
            <a:endParaRPr lang="en-US" sz="1250" dirty="0"/>
          </a:p>
        </p:txBody>
      </p:sp>
      <p:sp>
        <p:nvSpPr>
          <p:cNvPr id="12" name="Text 10"/>
          <p:cNvSpPr/>
          <p:nvPr/>
        </p:nvSpPr>
        <p:spPr>
          <a:xfrm>
            <a:off x="530352" y="3054096"/>
            <a:ext cx="3749040" cy="530352"/>
          </a:xfrm>
          <a:prstGeom prst="rect">
            <a:avLst/>
          </a:prstGeom>
          <a:noFill/>
          <a:ln/>
        </p:spPr>
        <p:txBody>
          <a:bodyPr wrap="square" rtlCol="0" anchor="ctr"/>
          <a:lstStyle/>
          <a:p>
            <a:pPr indent="0" marL="0">
              <a:lnSpc>
                <a:spcPct val="125000"/>
              </a:lnSpc>
              <a:buNone/>
            </a:pPr>
            <a:r>
              <a:rPr lang="en-US" sz="1150" dirty="0">
                <a:solidFill>
                  <a:srgbClr val="2B1F0F"/>
                </a:solidFill>
                <a:latin typeface="Calibri" pitchFamily="34" charset="0"/>
                <a:ea typeface="Calibri" pitchFamily="34" charset="-122"/>
                <a:cs typeface="Calibri" pitchFamily="34" charset="-120"/>
              </a:rPr>
              <a:t>Parallel workstreams. Don't block each other.</a:t>
            </a:r>
            <a:endParaRPr lang="en-US" sz="1150" dirty="0"/>
          </a:p>
        </p:txBody>
      </p:sp>
      <p:sp>
        <p:nvSpPr>
          <p:cNvPr id="13" name="Text 11"/>
          <p:cNvSpPr/>
          <p:nvPr/>
        </p:nvSpPr>
        <p:spPr>
          <a:xfrm>
            <a:off x="530352" y="3694176"/>
            <a:ext cx="1280160" cy="310896"/>
          </a:xfrm>
          <a:prstGeom prst="rect">
            <a:avLst/>
          </a:prstGeom>
          <a:noFill/>
          <a:ln/>
        </p:spPr>
        <p:txBody>
          <a:bodyPr wrap="square" rtlCol="0" anchor="ctr"/>
          <a:lstStyle/>
          <a:p>
            <a:pPr indent="0" marL="0">
              <a:buNone/>
            </a:pPr>
            <a:r>
              <a:rPr lang="en-US" sz="1250" b="1" dirty="0">
                <a:solidFill>
                  <a:srgbClr val="B5451B"/>
                </a:solidFill>
                <a:latin typeface="Georgia" pitchFamily="34" charset="0"/>
                <a:ea typeface="Georgia" pitchFamily="34" charset="-122"/>
                <a:cs typeface="Georgia" pitchFamily="34" charset="-120"/>
              </a:rPr>
              <a:t>Table setter</a:t>
            </a:r>
            <a:endParaRPr lang="en-US" sz="1250" dirty="0"/>
          </a:p>
        </p:txBody>
      </p:sp>
      <p:sp>
        <p:nvSpPr>
          <p:cNvPr id="14" name="Text 12"/>
          <p:cNvSpPr/>
          <p:nvPr/>
        </p:nvSpPr>
        <p:spPr>
          <a:xfrm>
            <a:off x="530352" y="4005072"/>
            <a:ext cx="3749040" cy="530352"/>
          </a:xfrm>
          <a:prstGeom prst="rect">
            <a:avLst/>
          </a:prstGeom>
          <a:noFill/>
          <a:ln/>
        </p:spPr>
        <p:txBody>
          <a:bodyPr wrap="square" rtlCol="0" anchor="ctr"/>
          <a:lstStyle/>
          <a:p>
            <a:pPr indent="0" marL="0">
              <a:lnSpc>
                <a:spcPct val="125000"/>
              </a:lnSpc>
              <a:buNone/>
            </a:pPr>
            <a:r>
              <a:rPr lang="en-US" sz="1150" dirty="0">
                <a:solidFill>
                  <a:srgbClr val="2B1F0F"/>
                </a:solidFill>
                <a:latin typeface="Calibri" pitchFamily="34" charset="0"/>
                <a:ea typeface="Calibri" pitchFamily="34" charset="-122"/>
                <a:cs typeface="Calibri" pitchFamily="34" charset="-120"/>
              </a:rPr>
              <a:t>The person who gets it done quietly while everyone else is in the kitchen.</a:t>
            </a:r>
            <a:endParaRPr lang="en-US" sz="1150" dirty="0"/>
          </a:p>
        </p:txBody>
      </p:sp>
      <p:sp>
        <p:nvSpPr>
          <p:cNvPr id="15" name="Text 13"/>
          <p:cNvSpPr/>
          <p:nvPr/>
        </p:nvSpPr>
        <p:spPr>
          <a:xfrm>
            <a:off x="530352" y="4645152"/>
            <a:ext cx="1280160" cy="310896"/>
          </a:xfrm>
          <a:prstGeom prst="rect">
            <a:avLst/>
          </a:prstGeom>
          <a:noFill/>
          <a:ln/>
        </p:spPr>
        <p:txBody>
          <a:bodyPr wrap="square" rtlCol="0" anchor="ctr"/>
          <a:lstStyle/>
          <a:p>
            <a:pPr indent="0" marL="0">
              <a:buNone/>
            </a:pPr>
            <a:r>
              <a:rPr lang="en-US" sz="1250" b="1" dirty="0">
                <a:solidFill>
                  <a:srgbClr val="B5451B"/>
                </a:solidFill>
                <a:latin typeface="Georgia" pitchFamily="34" charset="0"/>
                <a:ea typeface="Georgia" pitchFamily="34" charset="-122"/>
                <a:cs typeface="Georgia" pitchFamily="34" charset="-120"/>
              </a:rPr>
              <a:t>Cleanup crew</a:t>
            </a:r>
            <a:endParaRPr lang="en-US" sz="1250" dirty="0"/>
          </a:p>
        </p:txBody>
      </p:sp>
      <p:sp>
        <p:nvSpPr>
          <p:cNvPr id="16" name="Text 14"/>
          <p:cNvSpPr/>
          <p:nvPr/>
        </p:nvSpPr>
        <p:spPr>
          <a:xfrm>
            <a:off x="530352" y="4956048"/>
            <a:ext cx="3749040" cy="530352"/>
          </a:xfrm>
          <a:prstGeom prst="rect">
            <a:avLst/>
          </a:prstGeom>
          <a:noFill/>
          <a:ln/>
        </p:spPr>
        <p:txBody>
          <a:bodyPr wrap="square" rtlCol="0" anchor="ctr"/>
          <a:lstStyle/>
          <a:p>
            <a:pPr indent="0" marL="0">
              <a:lnSpc>
                <a:spcPct val="125000"/>
              </a:lnSpc>
              <a:buNone/>
            </a:pPr>
            <a:r>
              <a:rPr lang="en-US" sz="1150" dirty="0">
                <a:solidFill>
                  <a:srgbClr val="2B1F0F"/>
                </a:solidFill>
                <a:latin typeface="Calibri" pitchFamily="34" charset="0"/>
                <a:ea typeface="Calibri" pitchFamily="34" charset="-122"/>
                <a:cs typeface="Calibri" pitchFamily="34" charset="-120"/>
              </a:rPr>
              <a:t>Project close-out. Usually forgotten until it's urgent.</a:t>
            </a:r>
            <a:endParaRPr lang="en-US" sz="1150" dirty="0"/>
          </a:p>
        </p:txBody>
      </p:sp>
      <p:sp>
        <p:nvSpPr>
          <p:cNvPr id="17" name="Shape 15"/>
          <p:cNvSpPr/>
          <p:nvPr/>
        </p:nvSpPr>
        <p:spPr>
          <a:xfrm>
            <a:off x="4645152" y="1188720"/>
            <a:ext cx="4160520" cy="4663440"/>
          </a:xfrm>
          <a:prstGeom prst="roundRect">
            <a:avLst>
              <a:gd name="adj" fmla="val 1538"/>
            </a:avLst>
          </a:prstGeom>
          <a:solidFill>
            <a:srgbClr val="FBF6EE"/>
          </a:solidFill>
          <a:ln w="12700">
            <a:solidFill>
              <a:srgbClr val="D0C4B0"/>
            </a:solidFill>
            <a:prstDash val="solid"/>
          </a:ln>
        </p:spPr>
      </p:sp>
      <p:sp>
        <p:nvSpPr>
          <p:cNvPr id="18" name="Text 16"/>
          <p:cNvSpPr/>
          <p:nvPr/>
        </p:nvSpPr>
        <p:spPr>
          <a:xfrm>
            <a:off x="4828032" y="1325880"/>
            <a:ext cx="3657600" cy="347472"/>
          </a:xfrm>
          <a:prstGeom prst="rect">
            <a:avLst/>
          </a:prstGeom>
          <a:noFill/>
          <a:ln/>
        </p:spPr>
        <p:txBody>
          <a:bodyPr wrap="square" rtlCol="0" anchor="ctr"/>
          <a:lstStyle/>
          <a:p>
            <a:pPr indent="0" marL="0">
              <a:buNone/>
            </a:pPr>
            <a:r>
              <a:rPr lang="en-US" sz="1400" b="1" dirty="0">
                <a:solidFill>
                  <a:srgbClr val="B5451B"/>
                </a:solidFill>
                <a:latin typeface="Georgia" pitchFamily="34" charset="0"/>
                <a:ea typeface="Georgia" pitchFamily="34" charset="-122"/>
                <a:cs typeface="Georgia" pitchFamily="34" charset="-120"/>
              </a:rPr>
              <a:t>At Work</a:t>
            </a:r>
            <a:endParaRPr lang="en-US" sz="1400" dirty="0"/>
          </a:p>
        </p:txBody>
      </p:sp>
      <p:sp>
        <p:nvSpPr>
          <p:cNvPr id="19" name="Shape 17"/>
          <p:cNvSpPr/>
          <p:nvPr/>
        </p:nvSpPr>
        <p:spPr>
          <a:xfrm>
            <a:off x="4828032" y="1847088"/>
            <a:ext cx="201168" cy="201168"/>
          </a:xfrm>
          <a:prstGeom prst="ellipse">
            <a:avLst/>
          </a:prstGeom>
          <a:solidFill>
            <a:srgbClr val="B5451B"/>
          </a:solidFill>
          <a:ln w="12700">
            <a:solidFill>
              <a:srgbClr val="B5451B"/>
            </a:solidFill>
            <a:prstDash val="solid"/>
          </a:ln>
        </p:spPr>
      </p:sp>
      <p:sp>
        <p:nvSpPr>
          <p:cNvPr id="20" name="Text 18"/>
          <p:cNvSpPr/>
          <p:nvPr/>
        </p:nvSpPr>
        <p:spPr>
          <a:xfrm>
            <a:off x="5120640" y="1792224"/>
            <a:ext cx="3474720" cy="713232"/>
          </a:xfrm>
          <a:prstGeom prst="rect">
            <a:avLst/>
          </a:prstGeom>
          <a:noFill/>
          <a:ln/>
        </p:spPr>
        <p:txBody>
          <a:bodyPr wrap="square" rtlCol="0" anchor="ctr"/>
          <a:lstStyle/>
          <a:p>
            <a:pPr indent="0" marL="0">
              <a:lnSpc>
                <a:spcPct val="125000"/>
              </a:lnSpc>
              <a:buNone/>
            </a:pPr>
            <a:r>
              <a:rPr lang="en-US" sz="1150" dirty="0">
                <a:solidFill>
                  <a:srgbClr val="2B1F0F"/>
                </a:solidFill>
                <a:latin typeface="Calibri" pitchFamily="34" charset="0"/>
                <a:ea typeface="Calibri" pitchFamily="34" charset="-122"/>
                <a:cs typeface="Calibri" pitchFamily="34" charset="-120"/>
              </a:rPr>
              <a:t>Delegation is not abdication. Assign ownership, then get out of the way.</a:t>
            </a:r>
            <a:endParaRPr lang="en-US" sz="1150" dirty="0"/>
          </a:p>
        </p:txBody>
      </p:sp>
      <p:sp>
        <p:nvSpPr>
          <p:cNvPr id="21" name="Shape 19"/>
          <p:cNvSpPr/>
          <p:nvPr/>
        </p:nvSpPr>
        <p:spPr>
          <a:xfrm>
            <a:off x="4828032" y="2798064"/>
            <a:ext cx="201168" cy="201168"/>
          </a:xfrm>
          <a:prstGeom prst="ellipse">
            <a:avLst/>
          </a:prstGeom>
          <a:solidFill>
            <a:srgbClr val="B5451B"/>
          </a:solidFill>
          <a:ln w="12700">
            <a:solidFill>
              <a:srgbClr val="B5451B"/>
            </a:solidFill>
            <a:prstDash val="solid"/>
          </a:ln>
        </p:spPr>
      </p:sp>
      <p:sp>
        <p:nvSpPr>
          <p:cNvPr id="22" name="Text 20"/>
          <p:cNvSpPr/>
          <p:nvPr/>
        </p:nvSpPr>
        <p:spPr>
          <a:xfrm>
            <a:off x="5120640" y="2743200"/>
            <a:ext cx="3474720" cy="713232"/>
          </a:xfrm>
          <a:prstGeom prst="rect">
            <a:avLst/>
          </a:prstGeom>
          <a:noFill/>
          <a:ln/>
        </p:spPr>
        <p:txBody>
          <a:bodyPr wrap="square" rtlCol="0" anchor="ctr"/>
          <a:lstStyle/>
          <a:p>
            <a:pPr indent="0" marL="0">
              <a:lnSpc>
                <a:spcPct val="125000"/>
              </a:lnSpc>
              <a:buNone/>
            </a:pPr>
            <a:r>
              <a:rPr lang="en-US" sz="1150" dirty="0">
                <a:solidFill>
                  <a:srgbClr val="2B1F0F"/>
                </a:solidFill>
                <a:latin typeface="Calibri" pitchFamily="34" charset="0"/>
                <a:ea typeface="Calibri" pitchFamily="34" charset="-122"/>
                <a:cs typeface="Calibri" pitchFamily="34" charset="-120"/>
              </a:rPr>
              <a:t>People usually want to help. Ask clearly and they will step up.</a:t>
            </a:r>
            <a:endParaRPr lang="en-US" sz="1150" dirty="0"/>
          </a:p>
        </p:txBody>
      </p:sp>
      <p:sp>
        <p:nvSpPr>
          <p:cNvPr id="23" name="Shape 21"/>
          <p:cNvSpPr/>
          <p:nvPr/>
        </p:nvSpPr>
        <p:spPr>
          <a:xfrm>
            <a:off x="4828032" y="3749040"/>
            <a:ext cx="201168" cy="201168"/>
          </a:xfrm>
          <a:prstGeom prst="ellipse">
            <a:avLst/>
          </a:prstGeom>
          <a:solidFill>
            <a:srgbClr val="B5451B"/>
          </a:solidFill>
          <a:ln w="12700">
            <a:solidFill>
              <a:srgbClr val="B5451B"/>
            </a:solidFill>
            <a:prstDash val="solid"/>
          </a:ln>
        </p:spPr>
      </p:sp>
      <p:sp>
        <p:nvSpPr>
          <p:cNvPr id="24" name="Text 22"/>
          <p:cNvSpPr/>
          <p:nvPr/>
        </p:nvSpPr>
        <p:spPr>
          <a:xfrm>
            <a:off x="5120640" y="3694176"/>
            <a:ext cx="3474720" cy="713232"/>
          </a:xfrm>
          <a:prstGeom prst="rect">
            <a:avLst/>
          </a:prstGeom>
          <a:noFill/>
          <a:ln/>
        </p:spPr>
        <p:txBody>
          <a:bodyPr wrap="square" rtlCol="0" anchor="ctr"/>
          <a:lstStyle/>
          <a:p>
            <a:pPr indent="0" marL="0">
              <a:lnSpc>
                <a:spcPct val="125000"/>
              </a:lnSpc>
              <a:buNone/>
            </a:pPr>
            <a:r>
              <a:rPr lang="en-US" sz="1150" dirty="0">
                <a:solidFill>
                  <a:srgbClr val="2B1F0F"/>
                </a:solidFill>
                <a:latin typeface="Calibri" pitchFamily="34" charset="0"/>
                <a:ea typeface="Calibri" pitchFamily="34" charset="-122"/>
                <a:cs typeface="Calibri" pitchFamily="34" charset="-120"/>
              </a:rPr>
              <a:t>"Manager" doesn't mean everything done your way. If the team wants to try something different, let them. You might get a turducken. Could be great.</a:t>
            </a:r>
            <a:endParaRPr lang="en-US" sz="1150" dirty="0"/>
          </a:p>
        </p:txBody>
      </p:sp>
      <p:sp>
        <p:nvSpPr>
          <p:cNvPr id="25" name="Shape 23"/>
          <p:cNvSpPr/>
          <p:nvPr/>
        </p:nvSpPr>
        <p:spPr>
          <a:xfrm>
            <a:off x="4828032" y="4700016"/>
            <a:ext cx="201168" cy="201168"/>
          </a:xfrm>
          <a:prstGeom prst="ellipse">
            <a:avLst/>
          </a:prstGeom>
          <a:solidFill>
            <a:srgbClr val="B5451B"/>
          </a:solidFill>
          <a:ln w="12700">
            <a:solidFill>
              <a:srgbClr val="B5451B"/>
            </a:solidFill>
            <a:prstDash val="solid"/>
          </a:ln>
        </p:spPr>
      </p:sp>
      <p:sp>
        <p:nvSpPr>
          <p:cNvPr id="26" name="Text 24"/>
          <p:cNvSpPr/>
          <p:nvPr/>
        </p:nvSpPr>
        <p:spPr>
          <a:xfrm>
            <a:off x="5120640" y="4645152"/>
            <a:ext cx="3474720" cy="713232"/>
          </a:xfrm>
          <a:prstGeom prst="rect">
            <a:avLst/>
          </a:prstGeom>
          <a:noFill/>
          <a:ln/>
        </p:spPr>
        <p:txBody>
          <a:bodyPr wrap="square" rtlCol="0" anchor="ctr"/>
          <a:lstStyle/>
          <a:p>
            <a:pPr indent="0" marL="0">
              <a:lnSpc>
                <a:spcPct val="125000"/>
              </a:lnSpc>
              <a:buNone/>
            </a:pPr>
            <a:r>
              <a:rPr lang="en-US" sz="1150" dirty="0">
                <a:solidFill>
                  <a:srgbClr val="2B1F0F"/>
                </a:solidFill>
                <a:latin typeface="Calibri" pitchFamily="34" charset="0"/>
                <a:ea typeface="Calibri" pitchFamily="34" charset="-122"/>
                <a:cs typeface="Calibri" pitchFamily="34" charset="-120"/>
              </a:rPr>
              <a:t>Good collaboration means the team succeeds, not just that you survive the dinner.</a:t>
            </a:r>
            <a:endParaRPr lang="en-US" sz="1150" dirty="0"/>
          </a:p>
        </p:txBody>
      </p:sp>
      <p:sp>
        <p:nvSpPr>
          <p:cNvPr id="27" name="Text 25"/>
          <p:cNvSpPr/>
          <p:nvPr/>
        </p:nvSpPr>
        <p:spPr>
          <a:xfrm>
            <a:off x="7863840" y="6217920"/>
            <a:ext cx="1097280" cy="228600"/>
          </a:xfrm>
          <a:prstGeom prst="rect">
            <a:avLst/>
          </a:prstGeom>
          <a:noFill/>
          <a:ln/>
        </p:spPr>
        <p:txBody>
          <a:bodyPr wrap="square" rtlCol="0" anchor="ctr"/>
          <a:lstStyle/>
          <a:p>
            <a:pPr algn="r" indent="0" marL="0">
              <a:buNone/>
            </a:pPr>
            <a:r>
              <a:rPr lang="en-US" sz="900" dirty="0">
                <a:solidFill>
                  <a:srgbClr val="C8BCA8"/>
                </a:solidFill>
                <a:latin typeface="Calibri" pitchFamily="34" charset="0"/>
                <a:ea typeface="Calibri" pitchFamily="34" charset="-122"/>
                <a:cs typeface="Calibri"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1208"/>
          </a:solidFill>
          <a:ln w="12700">
            <a:solidFill>
              <a:srgbClr val="1C1208"/>
            </a:solidFill>
            <a:prstDash val="solid"/>
          </a:ln>
        </p:spPr>
      </p:sp>
      <p:sp>
        <p:nvSpPr>
          <p:cNvPr id="3" name="Shape 1"/>
          <p:cNvSpPr/>
          <p:nvPr/>
        </p:nvSpPr>
        <p:spPr>
          <a:xfrm>
            <a:off x="0" y="0"/>
            <a:ext cx="164592" cy="5143500"/>
          </a:xfrm>
          <a:prstGeom prst="rect">
            <a:avLst/>
          </a:prstGeom>
          <a:solidFill>
            <a:srgbClr val="3D6145"/>
          </a:solidFill>
          <a:ln w="12700">
            <a:solidFill>
              <a:srgbClr val="3D6145"/>
            </a:solidFill>
            <a:prstDash val="solid"/>
          </a:ln>
        </p:spPr>
      </p:sp>
      <p:sp>
        <p:nvSpPr>
          <p:cNvPr id="4" name="Shape 2"/>
          <p:cNvSpPr/>
          <p:nvPr/>
        </p:nvSpPr>
        <p:spPr>
          <a:xfrm>
            <a:off x="411480" y="201168"/>
            <a:ext cx="1289304" cy="292608"/>
          </a:xfrm>
          <a:prstGeom prst="roundRect">
            <a:avLst>
              <a:gd name="adj" fmla="val 25000"/>
            </a:avLst>
          </a:prstGeom>
          <a:solidFill>
            <a:srgbClr val="0E2010"/>
          </a:solidFill>
          <a:ln w="12700">
            <a:solidFill>
              <a:srgbClr val="0E2010"/>
            </a:solidFill>
            <a:prstDash val="solid"/>
          </a:ln>
        </p:spPr>
      </p:sp>
      <p:sp>
        <p:nvSpPr>
          <p:cNvPr id="5" name="Text 3"/>
          <p:cNvSpPr/>
          <p:nvPr/>
        </p:nvSpPr>
        <p:spPr>
          <a:xfrm>
            <a:off x="448056" y="219456"/>
            <a:ext cx="1216152" cy="256032"/>
          </a:xfrm>
          <a:prstGeom prst="rect">
            <a:avLst/>
          </a:prstGeom>
          <a:noFill/>
          <a:ln/>
        </p:spPr>
        <p:txBody>
          <a:bodyPr wrap="square" rtlCol="0" anchor="ctr"/>
          <a:lstStyle/>
          <a:p>
            <a:pPr indent="0" marL="0">
              <a:buNone/>
            </a:pPr>
            <a:r>
              <a:rPr lang="en-US" sz="1100" b="1" dirty="0">
                <a:solidFill>
                  <a:srgbClr val="B5451B"/>
                </a:solidFill>
                <a:latin typeface="Calibri" pitchFamily="34" charset="0"/>
                <a:ea typeface="Calibri" pitchFamily="34" charset="-122"/>
                <a:cs typeface="Calibri" pitchFamily="34" charset="-120"/>
              </a:rPr>
              <a:t>Step 07</a:t>
            </a:r>
            <a:endParaRPr lang="en-US" sz="1100" dirty="0"/>
          </a:p>
        </p:txBody>
      </p:sp>
      <p:sp>
        <p:nvSpPr>
          <p:cNvPr id="6" name="Text 4"/>
          <p:cNvSpPr/>
          <p:nvPr/>
        </p:nvSpPr>
        <p:spPr>
          <a:xfrm>
            <a:off x="411480" y="512064"/>
            <a:ext cx="8321040" cy="548640"/>
          </a:xfrm>
          <a:prstGeom prst="rect">
            <a:avLst/>
          </a:prstGeom>
          <a:noFill/>
          <a:ln/>
        </p:spPr>
        <p:txBody>
          <a:bodyPr wrap="square" rtlCol="0" anchor="ctr"/>
          <a:lstStyle/>
          <a:p>
            <a:pPr indent="0" marL="0">
              <a:buNone/>
            </a:pPr>
            <a:r>
              <a:rPr lang="en-US" sz="3000" b="1" dirty="0">
                <a:solidFill>
                  <a:srgbClr val="FBF6EE"/>
                </a:solidFill>
                <a:latin typeface="Georgia" pitchFamily="34" charset="0"/>
                <a:ea typeface="Georgia" pitchFamily="34" charset="-122"/>
                <a:cs typeface="Georgia" pitchFamily="34" charset="-120"/>
              </a:rPr>
              <a:t>Run a Retrospective</a:t>
            </a:r>
            <a:endParaRPr lang="en-US" sz="3000" dirty="0"/>
          </a:p>
        </p:txBody>
      </p:sp>
      <p:sp>
        <p:nvSpPr>
          <p:cNvPr id="7" name="Text 5"/>
          <p:cNvSpPr/>
          <p:nvPr/>
        </p:nvSpPr>
        <p:spPr>
          <a:xfrm>
            <a:off x="411480" y="1078992"/>
            <a:ext cx="8321040" cy="347472"/>
          </a:xfrm>
          <a:prstGeom prst="rect">
            <a:avLst/>
          </a:prstGeom>
          <a:noFill/>
          <a:ln/>
        </p:spPr>
        <p:txBody>
          <a:bodyPr wrap="square" rtlCol="0" anchor="ctr"/>
          <a:lstStyle/>
          <a:p>
            <a:pPr indent="0" marL="0">
              <a:buNone/>
            </a:pPr>
            <a:r>
              <a:rPr lang="en-US" sz="1400" i="1" dirty="0">
                <a:solidFill>
                  <a:srgbClr val="8A7A60"/>
                </a:solidFill>
                <a:latin typeface="Calibri" pitchFamily="34" charset="0"/>
                <a:ea typeface="Calibri" pitchFamily="34" charset="-122"/>
                <a:cs typeface="Calibri" pitchFamily="34" charset="-120"/>
              </a:rPr>
              <a:t>At the end of the day, when everyone is drowsy and the sink is full...</a:t>
            </a:r>
            <a:endParaRPr lang="en-US" sz="1400" dirty="0"/>
          </a:p>
        </p:txBody>
      </p:sp>
      <p:sp>
        <p:nvSpPr>
          <p:cNvPr id="8" name="Shape 6"/>
          <p:cNvSpPr/>
          <p:nvPr/>
        </p:nvSpPr>
        <p:spPr>
          <a:xfrm>
            <a:off x="347472" y="1572768"/>
            <a:ext cx="2743200" cy="4069080"/>
          </a:xfrm>
          <a:prstGeom prst="roundRect">
            <a:avLst>
              <a:gd name="adj" fmla="val 2667"/>
            </a:avLst>
          </a:prstGeom>
          <a:solidFill>
            <a:srgbClr val="0D2010"/>
          </a:solidFill>
          <a:ln w="15240">
            <a:solidFill>
              <a:srgbClr val="3D6145"/>
            </a:solidFill>
            <a:prstDash val="solid"/>
          </a:ln>
        </p:spPr>
      </p:sp>
      <p:sp>
        <p:nvSpPr>
          <p:cNvPr id="9" name="Shape 7"/>
          <p:cNvSpPr/>
          <p:nvPr/>
        </p:nvSpPr>
        <p:spPr>
          <a:xfrm>
            <a:off x="347472" y="1572768"/>
            <a:ext cx="2743200" cy="420624"/>
          </a:xfrm>
          <a:prstGeom prst="roundRect">
            <a:avLst>
              <a:gd name="adj" fmla="val 17391"/>
            </a:avLst>
          </a:prstGeom>
          <a:solidFill>
            <a:srgbClr val="3D6145"/>
          </a:solidFill>
          <a:ln w="12700">
            <a:solidFill>
              <a:srgbClr val="3D6145"/>
            </a:solidFill>
            <a:prstDash val="solid"/>
          </a:ln>
        </p:spPr>
      </p:sp>
      <p:sp>
        <p:nvSpPr>
          <p:cNvPr id="10" name="Shape 8"/>
          <p:cNvSpPr/>
          <p:nvPr/>
        </p:nvSpPr>
        <p:spPr>
          <a:xfrm>
            <a:off x="347472" y="1737360"/>
            <a:ext cx="2743200" cy="256032"/>
          </a:xfrm>
          <a:prstGeom prst="rect">
            <a:avLst/>
          </a:prstGeom>
          <a:solidFill>
            <a:srgbClr val="3D6145"/>
          </a:solidFill>
          <a:ln w="12700">
            <a:solidFill>
              <a:srgbClr val="3D6145"/>
            </a:solidFill>
            <a:prstDash val="solid"/>
          </a:ln>
        </p:spPr>
      </p:sp>
      <p:sp>
        <p:nvSpPr>
          <p:cNvPr id="11" name="Text 9"/>
          <p:cNvSpPr/>
          <p:nvPr/>
        </p:nvSpPr>
        <p:spPr>
          <a:xfrm>
            <a:off x="457200" y="1609344"/>
            <a:ext cx="2523744" cy="34747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What went well?</a:t>
            </a:r>
            <a:endParaRPr lang="en-US" sz="1300" dirty="0"/>
          </a:p>
        </p:txBody>
      </p:sp>
      <p:sp>
        <p:nvSpPr>
          <p:cNvPr id="12" name="Text 10"/>
          <p:cNvSpPr/>
          <p:nvPr/>
        </p:nvSpPr>
        <p:spPr>
          <a:xfrm>
            <a:off x="475488" y="2084832"/>
            <a:ext cx="2487168" cy="274320"/>
          </a:xfrm>
          <a:prstGeom prst="rect">
            <a:avLst/>
          </a:prstGeom>
          <a:noFill/>
          <a:ln/>
        </p:spPr>
        <p:txBody>
          <a:bodyPr wrap="square" rtlCol="0" anchor="ctr"/>
          <a:lstStyle/>
          <a:p>
            <a:pPr indent="0" marL="0">
              <a:buNone/>
            </a:pPr>
            <a:r>
              <a:rPr lang="en-US" sz="1000" b="1" dirty="0">
                <a:solidFill>
                  <a:srgbClr val="3D6145"/>
                </a:solidFill>
                <a:latin typeface="Calibri" pitchFamily="34" charset="0"/>
                <a:ea typeface="Calibri" pitchFamily="34" charset="-122"/>
                <a:cs typeface="Calibri" pitchFamily="34" charset="-120"/>
              </a:rPr>
              <a:t>At the table:</a:t>
            </a:r>
            <a:endParaRPr lang="en-US" sz="1000" dirty="0"/>
          </a:p>
        </p:txBody>
      </p:sp>
      <p:sp>
        <p:nvSpPr>
          <p:cNvPr id="13" name="Text 11"/>
          <p:cNvSpPr/>
          <p:nvPr/>
        </p:nvSpPr>
        <p:spPr>
          <a:xfrm>
            <a:off x="475488" y="2340864"/>
            <a:ext cx="2487168" cy="731520"/>
          </a:xfrm>
          <a:prstGeom prst="rect">
            <a:avLst/>
          </a:prstGeom>
          <a:noFill/>
          <a:ln/>
        </p:spPr>
        <p:txBody>
          <a:bodyPr wrap="square" rtlCol="0" anchor="ctr"/>
          <a:lstStyle/>
          <a:p>
            <a:pPr indent="0" marL="0">
              <a:lnSpc>
                <a:spcPct val="130000"/>
              </a:lnSpc>
              <a:buNone/>
            </a:pPr>
            <a:r>
              <a:rPr lang="en-US" sz="1200" dirty="0">
                <a:solidFill>
                  <a:srgbClr val="D4C4A0"/>
                </a:solidFill>
                <a:latin typeface="Calibri" pitchFamily="34" charset="0"/>
                <a:ea typeface="Calibri" pitchFamily="34" charset="-122"/>
                <a:cs typeface="Calibri" pitchFamily="34" charset="-120"/>
              </a:rPr>
              <a:t>Turkey came out perfectly. Table looked great. Nobody cried.</a:t>
            </a:r>
            <a:endParaRPr lang="en-US" sz="1200" dirty="0"/>
          </a:p>
        </p:txBody>
      </p:sp>
      <p:sp>
        <p:nvSpPr>
          <p:cNvPr id="14" name="Shape 12"/>
          <p:cNvSpPr/>
          <p:nvPr/>
        </p:nvSpPr>
        <p:spPr>
          <a:xfrm>
            <a:off x="475488" y="3127248"/>
            <a:ext cx="2487168" cy="0"/>
          </a:xfrm>
          <a:prstGeom prst="line">
            <a:avLst/>
          </a:prstGeom>
          <a:noFill/>
          <a:ln w="6350">
            <a:solidFill>
              <a:srgbClr val="3D6145"/>
            </a:solidFill>
            <a:prstDash val="dash"/>
          </a:ln>
        </p:spPr>
      </p:sp>
      <p:sp>
        <p:nvSpPr>
          <p:cNvPr id="15" name="Text 13"/>
          <p:cNvSpPr/>
          <p:nvPr/>
        </p:nvSpPr>
        <p:spPr>
          <a:xfrm>
            <a:off x="475488" y="3200400"/>
            <a:ext cx="2487168" cy="274320"/>
          </a:xfrm>
          <a:prstGeom prst="rect">
            <a:avLst/>
          </a:prstGeom>
          <a:noFill/>
          <a:ln/>
        </p:spPr>
        <p:txBody>
          <a:bodyPr wrap="square" rtlCol="0" anchor="ctr"/>
          <a:lstStyle/>
          <a:p>
            <a:pPr indent="0" marL="0">
              <a:buNone/>
            </a:pPr>
            <a:r>
              <a:rPr lang="en-US" sz="1000" b="1" dirty="0">
                <a:solidFill>
                  <a:srgbClr val="3D6145"/>
                </a:solidFill>
                <a:latin typeface="Calibri" pitchFamily="34" charset="0"/>
                <a:ea typeface="Calibri" pitchFamily="34" charset="-122"/>
                <a:cs typeface="Calibri" pitchFamily="34" charset="-120"/>
              </a:rPr>
              <a:t>At work:</a:t>
            </a:r>
            <a:endParaRPr lang="en-US" sz="1000" dirty="0"/>
          </a:p>
        </p:txBody>
      </p:sp>
      <p:sp>
        <p:nvSpPr>
          <p:cNvPr id="16" name="Text 14"/>
          <p:cNvSpPr/>
          <p:nvPr/>
        </p:nvSpPr>
        <p:spPr>
          <a:xfrm>
            <a:off x="475488" y="3456432"/>
            <a:ext cx="2487168" cy="1170432"/>
          </a:xfrm>
          <a:prstGeom prst="rect">
            <a:avLst/>
          </a:prstGeom>
          <a:noFill/>
          <a:ln/>
        </p:spPr>
        <p:txBody>
          <a:bodyPr wrap="square" rtlCol="0" anchor="ctr"/>
          <a:lstStyle/>
          <a:p>
            <a:pPr indent="0" marL="0">
              <a:lnSpc>
                <a:spcPct val="130000"/>
              </a:lnSpc>
              <a:buNone/>
            </a:pPr>
            <a:r>
              <a:rPr lang="en-US" sz="1150" dirty="0">
                <a:solidFill>
                  <a:srgbClr val="FBF6EE"/>
                </a:solidFill>
                <a:latin typeface="Calibri" pitchFamily="34" charset="0"/>
                <a:ea typeface="Calibri" pitchFamily="34" charset="-122"/>
                <a:cs typeface="Calibri" pitchFamily="34" charset="-120"/>
              </a:rPr>
              <a:t>Celebrate the wins before you move to the issues. The team needs to hear it.</a:t>
            </a:r>
            <a:endParaRPr lang="en-US" sz="1150" dirty="0"/>
          </a:p>
        </p:txBody>
      </p:sp>
      <p:sp>
        <p:nvSpPr>
          <p:cNvPr id="17" name="Shape 15"/>
          <p:cNvSpPr/>
          <p:nvPr/>
        </p:nvSpPr>
        <p:spPr>
          <a:xfrm>
            <a:off x="3236976" y="1572768"/>
            <a:ext cx="2743200" cy="4069080"/>
          </a:xfrm>
          <a:prstGeom prst="roundRect">
            <a:avLst>
              <a:gd name="adj" fmla="val 2667"/>
            </a:avLst>
          </a:prstGeom>
          <a:solidFill>
            <a:srgbClr val="1A1200"/>
          </a:solidFill>
          <a:ln w="15240">
            <a:solidFill>
              <a:srgbClr val="8C6914"/>
            </a:solidFill>
            <a:prstDash val="solid"/>
          </a:ln>
        </p:spPr>
      </p:sp>
      <p:sp>
        <p:nvSpPr>
          <p:cNvPr id="18" name="Shape 16"/>
          <p:cNvSpPr/>
          <p:nvPr/>
        </p:nvSpPr>
        <p:spPr>
          <a:xfrm>
            <a:off x="3236976" y="1572768"/>
            <a:ext cx="2743200" cy="420624"/>
          </a:xfrm>
          <a:prstGeom prst="roundRect">
            <a:avLst>
              <a:gd name="adj" fmla="val 17391"/>
            </a:avLst>
          </a:prstGeom>
          <a:solidFill>
            <a:srgbClr val="8C6914"/>
          </a:solidFill>
          <a:ln w="12700">
            <a:solidFill>
              <a:srgbClr val="8C6914"/>
            </a:solidFill>
            <a:prstDash val="solid"/>
          </a:ln>
        </p:spPr>
      </p:sp>
      <p:sp>
        <p:nvSpPr>
          <p:cNvPr id="19" name="Shape 17"/>
          <p:cNvSpPr/>
          <p:nvPr/>
        </p:nvSpPr>
        <p:spPr>
          <a:xfrm>
            <a:off x="3236976" y="1737360"/>
            <a:ext cx="2743200" cy="256032"/>
          </a:xfrm>
          <a:prstGeom prst="rect">
            <a:avLst/>
          </a:prstGeom>
          <a:solidFill>
            <a:srgbClr val="8C6914"/>
          </a:solidFill>
          <a:ln w="12700">
            <a:solidFill>
              <a:srgbClr val="8C6914"/>
            </a:solidFill>
            <a:prstDash val="solid"/>
          </a:ln>
        </p:spPr>
      </p:sp>
      <p:sp>
        <p:nvSpPr>
          <p:cNvPr id="20" name="Text 18"/>
          <p:cNvSpPr/>
          <p:nvPr/>
        </p:nvSpPr>
        <p:spPr>
          <a:xfrm>
            <a:off x="3346704" y="1609344"/>
            <a:ext cx="2523744" cy="34747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What could be better?</a:t>
            </a:r>
            <a:endParaRPr lang="en-US" sz="1300" dirty="0"/>
          </a:p>
        </p:txBody>
      </p:sp>
      <p:sp>
        <p:nvSpPr>
          <p:cNvPr id="21" name="Text 19"/>
          <p:cNvSpPr/>
          <p:nvPr/>
        </p:nvSpPr>
        <p:spPr>
          <a:xfrm>
            <a:off x="3364992" y="2084832"/>
            <a:ext cx="2487168" cy="274320"/>
          </a:xfrm>
          <a:prstGeom prst="rect">
            <a:avLst/>
          </a:prstGeom>
          <a:noFill/>
          <a:ln/>
        </p:spPr>
        <p:txBody>
          <a:bodyPr wrap="square" rtlCol="0" anchor="ctr"/>
          <a:lstStyle/>
          <a:p>
            <a:pPr indent="0" marL="0">
              <a:buNone/>
            </a:pPr>
            <a:r>
              <a:rPr lang="en-US" sz="1000" b="1" dirty="0">
                <a:solidFill>
                  <a:srgbClr val="8C6914"/>
                </a:solidFill>
                <a:latin typeface="Calibri" pitchFamily="34" charset="0"/>
                <a:ea typeface="Calibri" pitchFamily="34" charset="-122"/>
                <a:cs typeface="Calibri" pitchFamily="34" charset="-120"/>
              </a:rPr>
              <a:t>At the table:</a:t>
            </a:r>
            <a:endParaRPr lang="en-US" sz="1000" dirty="0"/>
          </a:p>
        </p:txBody>
      </p:sp>
      <p:sp>
        <p:nvSpPr>
          <p:cNvPr id="22" name="Text 20"/>
          <p:cNvSpPr/>
          <p:nvPr/>
        </p:nvSpPr>
        <p:spPr>
          <a:xfrm>
            <a:off x="3364992" y="2340864"/>
            <a:ext cx="2487168" cy="731520"/>
          </a:xfrm>
          <a:prstGeom prst="rect">
            <a:avLst/>
          </a:prstGeom>
          <a:noFill/>
          <a:ln/>
        </p:spPr>
        <p:txBody>
          <a:bodyPr wrap="square" rtlCol="0" anchor="ctr"/>
          <a:lstStyle/>
          <a:p>
            <a:pPr indent="0" marL="0">
              <a:lnSpc>
                <a:spcPct val="130000"/>
              </a:lnSpc>
              <a:buNone/>
            </a:pPr>
            <a:r>
              <a:rPr lang="en-US" sz="1200" dirty="0">
                <a:solidFill>
                  <a:srgbClr val="D4C4A0"/>
                </a:solidFill>
                <a:latin typeface="Calibri" pitchFamily="34" charset="0"/>
                <a:ea typeface="Calibri" pitchFamily="34" charset="-122"/>
                <a:cs typeface="Calibri" pitchFamily="34" charset="-120"/>
              </a:rPr>
              <a:t>Stuffing was late. Forgot to chill the wine. Nobody assigned cleanup.</a:t>
            </a:r>
            <a:endParaRPr lang="en-US" sz="1200" dirty="0"/>
          </a:p>
        </p:txBody>
      </p:sp>
      <p:sp>
        <p:nvSpPr>
          <p:cNvPr id="23" name="Shape 21"/>
          <p:cNvSpPr/>
          <p:nvPr/>
        </p:nvSpPr>
        <p:spPr>
          <a:xfrm>
            <a:off x="3364992" y="3127248"/>
            <a:ext cx="2487168" cy="0"/>
          </a:xfrm>
          <a:prstGeom prst="line">
            <a:avLst/>
          </a:prstGeom>
          <a:noFill/>
          <a:ln w="6350">
            <a:solidFill>
              <a:srgbClr val="8C6914"/>
            </a:solidFill>
            <a:prstDash val="dash"/>
          </a:ln>
        </p:spPr>
      </p:sp>
      <p:sp>
        <p:nvSpPr>
          <p:cNvPr id="24" name="Text 22"/>
          <p:cNvSpPr/>
          <p:nvPr/>
        </p:nvSpPr>
        <p:spPr>
          <a:xfrm>
            <a:off x="3364992" y="3200400"/>
            <a:ext cx="2487168" cy="274320"/>
          </a:xfrm>
          <a:prstGeom prst="rect">
            <a:avLst/>
          </a:prstGeom>
          <a:noFill/>
          <a:ln/>
        </p:spPr>
        <p:txBody>
          <a:bodyPr wrap="square" rtlCol="0" anchor="ctr"/>
          <a:lstStyle/>
          <a:p>
            <a:pPr indent="0" marL="0">
              <a:buNone/>
            </a:pPr>
            <a:r>
              <a:rPr lang="en-US" sz="1000" b="1" dirty="0">
                <a:solidFill>
                  <a:srgbClr val="8C6914"/>
                </a:solidFill>
                <a:latin typeface="Calibri" pitchFamily="34" charset="0"/>
                <a:ea typeface="Calibri" pitchFamily="34" charset="-122"/>
                <a:cs typeface="Calibri" pitchFamily="34" charset="-120"/>
              </a:rPr>
              <a:t>At work:</a:t>
            </a:r>
            <a:endParaRPr lang="en-US" sz="1000" dirty="0"/>
          </a:p>
        </p:txBody>
      </p:sp>
      <p:sp>
        <p:nvSpPr>
          <p:cNvPr id="25" name="Text 23"/>
          <p:cNvSpPr/>
          <p:nvPr/>
        </p:nvSpPr>
        <p:spPr>
          <a:xfrm>
            <a:off x="3364992" y="3456432"/>
            <a:ext cx="2487168" cy="1170432"/>
          </a:xfrm>
          <a:prstGeom prst="rect">
            <a:avLst/>
          </a:prstGeom>
          <a:noFill/>
          <a:ln/>
        </p:spPr>
        <p:txBody>
          <a:bodyPr wrap="square" rtlCol="0" anchor="ctr"/>
          <a:lstStyle/>
          <a:p>
            <a:pPr indent="0" marL="0">
              <a:lnSpc>
                <a:spcPct val="130000"/>
              </a:lnSpc>
              <a:buNone/>
            </a:pPr>
            <a:r>
              <a:rPr lang="en-US" sz="1150" dirty="0">
                <a:solidFill>
                  <a:srgbClr val="FBF6EE"/>
                </a:solidFill>
                <a:latin typeface="Calibri" pitchFamily="34" charset="0"/>
                <a:ea typeface="Calibri" pitchFamily="34" charset="-122"/>
                <a:cs typeface="Calibri" pitchFamily="34" charset="-120"/>
              </a:rPr>
              <a:t>Issues without blame. Focus on the process, not the person.</a:t>
            </a:r>
            <a:endParaRPr lang="en-US" sz="1150" dirty="0"/>
          </a:p>
        </p:txBody>
      </p:sp>
      <p:sp>
        <p:nvSpPr>
          <p:cNvPr id="26" name="Shape 24"/>
          <p:cNvSpPr/>
          <p:nvPr/>
        </p:nvSpPr>
        <p:spPr>
          <a:xfrm>
            <a:off x="6126480" y="1572768"/>
            <a:ext cx="2743200" cy="4069080"/>
          </a:xfrm>
          <a:prstGeom prst="roundRect">
            <a:avLst>
              <a:gd name="adj" fmla="val 2667"/>
            </a:avLst>
          </a:prstGeom>
          <a:solidFill>
            <a:srgbClr val="200C04"/>
          </a:solidFill>
          <a:ln w="15240">
            <a:solidFill>
              <a:srgbClr val="B5451B"/>
            </a:solidFill>
            <a:prstDash val="solid"/>
          </a:ln>
        </p:spPr>
      </p:sp>
      <p:sp>
        <p:nvSpPr>
          <p:cNvPr id="27" name="Shape 25"/>
          <p:cNvSpPr/>
          <p:nvPr/>
        </p:nvSpPr>
        <p:spPr>
          <a:xfrm>
            <a:off x="6126480" y="1572768"/>
            <a:ext cx="2743200" cy="420624"/>
          </a:xfrm>
          <a:prstGeom prst="roundRect">
            <a:avLst>
              <a:gd name="adj" fmla="val 17391"/>
            </a:avLst>
          </a:prstGeom>
          <a:solidFill>
            <a:srgbClr val="B5451B"/>
          </a:solidFill>
          <a:ln w="12700">
            <a:solidFill>
              <a:srgbClr val="B5451B"/>
            </a:solidFill>
            <a:prstDash val="solid"/>
          </a:ln>
        </p:spPr>
      </p:sp>
      <p:sp>
        <p:nvSpPr>
          <p:cNvPr id="28" name="Shape 26"/>
          <p:cNvSpPr/>
          <p:nvPr/>
        </p:nvSpPr>
        <p:spPr>
          <a:xfrm>
            <a:off x="6126480" y="1737360"/>
            <a:ext cx="2743200" cy="256032"/>
          </a:xfrm>
          <a:prstGeom prst="rect">
            <a:avLst/>
          </a:prstGeom>
          <a:solidFill>
            <a:srgbClr val="B5451B"/>
          </a:solidFill>
          <a:ln w="12700">
            <a:solidFill>
              <a:srgbClr val="B5451B"/>
            </a:solidFill>
            <a:prstDash val="solid"/>
          </a:ln>
        </p:spPr>
      </p:sp>
      <p:sp>
        <p:nvSpPr>
          <p:cNvPr id="29" name="Text 27"/>
          <p:cNvSpPr/>
          <p:nvPr/>
        </p:nvSpPr>
        <p:spPr>
          <a:xfrm>
            <a:off x="6236208" y="1609344"/>
            <a:ext cx="2523744" cy="34747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What do we try next time?</a:t>
            </a:r>
            <a:endParaRPr lang="en-US" sz="1300" dirty="0"/>
          </a:p>
        </p:txBody>
      </p:sp>
      <p:sp>
        <p:nvSpPr>
          <p:cNvPr id="30" name="Text 28"/>
          <p:cNvSpPr/>
          <p:nvPr/>
        </p:nvSpPr>
        <p:spPr>
          <a:xfrm>
            <a:off x="6254496" y="2084832"/>
            <a:ext cx="2487168" cy="274320"/>
          </a:xfrm>
          <a:prstGeom prst="rect">
            <a:avLst/>
          </a:prstGeom>
          <a:noFill/>
          <a:ln/>
        </p:spPr>
        <p:txBody>
          <a:bodyPr wrap="square" rtlCol="0" anchor="ctr"/>
          <a:lstStyle/>
          <a:p>
            <a:pPr indent="0" marL="0">
              <a:buNone/>
            </a:pPr>
            <a:r>
              <a:rPr lang="en-US" sz="1000" b="1" dirty="0">
                <a:solidFill>
                  <a:srgbClr val="B5451B"/>
                </a:solidFill>
                <a:latin typeface="Calibri" pitchFamily="34" charset="0"/>
                <a:ea typeface="Calibri" pitchFamily="34" charset="-122"/>
                <a:cs typeface="Calibri" pitchFamily="34" charset="-120"/>
              </a:rPr>
              <a:t>At the table:</a:t>
            </a:r>
            <a:endParaRPr lang="en-US" sz="1000" dirty="0"/>
          </a:p>
        </p:txBody>
      </p:sp>
      <p:sp>
        <p:nvSpPr>
          <p:cNvPr id="31" name="Text 29"/>
          <p:cNvSpPr/>
          <p:nvPr/>
        </p:nvSpPr>
        <p:spPr>
          <a:xfrm>
            <a:off x="6254496" y="2340864"/>
            <a:ext cx="2487168" cy="731520"/>
          </a:xfrm>
          <a:prstGeom prst="rect">
            <a:avLst/>
          </a:prstGeom>
          <a:noFill/>
          <a:ln/>
        </p:spPr>
        <p:txBody>
          <a:bodyPr wrap="square" rtlCol="0" anchor="ctr"/>
          <a:lstStyle/>
          <a:p>
            <a:pPr indent="0" marL="0">
              <a:lnSpc>
                <a:spcPct val="130000"/>
              </a:lnSpc>
              <a:buNone/>
            </a:pPr>
            <a:r>
              <a:rPr lang="en-US" sz="1200" dirty="0">
                <a:solidFill>
                  <a:srgbClr val="D4C4A0"/>
                </a:solidFill>
                <a:latin typeface="Calibri" pitchFamily="34" charset="0"/>
                <a:ea typeface="Calibri" pitchFamily="34" charset="-122"/>
                <a:cs typeface="Calibri" pitchFamily="34" charset="-120"/>
              </a:rPr>
              <a:t>Prep the cranberry sauce two days ahead. Assign a wine steward.</a:t>
            </a:r>
            <a:endParaRPr lang="en-US" sz="1200" dirty="0"/>
          </a:p>
        </p:txBody>
      </p:sp>
      <p:sp>
        <p:nvSpPr>
          <p:cNvPr id="32" name="Shape 30"/>
          <p:cNvSpPr/>
          <p:nvPr/>
        </p:nvSpPr>
        <p:spPr>
          <a:xfrm>
            <a:off x="6254496" y="3127248"/>
            <a:ext cx="2487168" cy="0"/>
          </a:xfrm>
          <a:prstGeom prst="line">
            <a:avLst/>
          </a:prstGeom>
          <a:noFill/>
          <a:ln w="6350">
            <a:solidFill>
              <a:srgbClr val="B5451B"/>
            </a:solidFill>
            <a:prstDash val="dash"/>
          </a:ln>
        </p:spPr>
      </p:sp>
      <p:sp>
        <p:nvSpPr>
          <p:cNvPr id="33" name="Text 31"/>
          <p:cNvSpPr/>
          <p:nvPr/>
        </p:nvSpPr>
        <p:spPr>
          <a:xfrm>
            <a:off x="6254496" y="3200400"/>
            <a:ext cx="2487168" cy="274320"/>
          </a:xfrm>
          <a:prstGeom prst="rect">
            <a:avLst/>
          </a:prstGeom>
          <a:noFill/>
          <a:ln/>
        </p:spPr>
        <p:txBody>
          <a:bodyPr wrap="square" rtlCol="0" anchor="ctr"/>
          <a:lstStyle/>
          <a:p>
            <a:pPr indent="0" marL="0">
              <a:buNone/>
            </a:pPr>
            <a:r>
              <a:rPr lang="en-US" sz="1000" b="1" dirty="0">
                <a:solidFill>
                  <a:srgbClr val="B5451B"/>
                </a:solidFill>
                <a:latin typeface="Calibri" pitchFamily="34" charset="0"/>
                <a:ea typeface="Calibri" pitchFamily="34" charset="-122"/>
                <a:cs typeface="Calibri" pitchFamily="34" charset="-120"/>
              </a:rPr>
              <a:t>At work:</a:t>
            </a:r>
            <a:endParaRPr lang="en-US" sz="1000" dirty="0"/>
          </a:p>
        </p:txBody>
      </p:sp>
      <p:sp>
        <p:nvSpPr>
          <p:cNvPr id="34" name="Text 32"/>
          <p:cNvSpPr/>
          <p:nvPr/>
        </p:nvSpPr>
        <p:spPr>
          <a:xfrm>
            <a:off x="6254496" y="3456432"/>
            <a:ext cx="2487168" cy="1170432"/>
          </a:xfrm>
          <a:prstGeom prst="rect">
            <a:avLst/>
          </a:prstGeom>
          <a:noFill/>
          <a:ln/>
        </p:spPr>
        <p:txBody>
          <a:bodyPr wrap="square" rtlCol="0" anchor="ctr"/>
          <a:lstStyle/>
          <a:p>
            <a:pPr indent="0" marL="0">
              <a:lnSpc>
                <a:spcPct val="130000"/>
              </a:lnSpc>
              <a:buNone/>
            </a:pPr>
            <a:r>
              <a:rPr lang="en-US" sz="1150" dirty="0">
                <a:solidFill>
                  <a:srgbClr val="FBF6EE"/>
                </a:solidFill>
                <a:latin typeface="Calibri" pitchFamily="34" charset="0"/>
                <a:ea typeface="Calibri" pitchFamily="34" charset="-122"/>
                <a:cs typeface="Calibri" pitchFamily="34" charset="-120"/>
              </a:rPr>
              <a:t>The retro is useless without action items. Name them and own them.</a:t>
            </a:r>
            <a:endParaRPr lang="en-US" sz="1150" dirty="0"/>
          </a:p>
        </p:txBody>
      </p:sp>
      <p:sp>
        <p:nvSpPr>
          <p:cNvPr id="35" name="Text 33"/>
          <p:cNvSpPr/>
          <p:nvPr/>
        </p:nvSpPr>
        <p:spPr>
          <a:xfrm>
            <a:off x="347472" y="5760720"/>
            <a:ext cx="8458200" cy="274320"/>
          </a:xfrm>
          <a:prstGeom prst="rect">
            <a:avLst/>
          </a:prstGeom>
          <a:noFill/>
          <a:ln/>
        </p:spPr>
        <p:txBody>
          <a:bodyPr wrap="square" rtlCol="0" anchor="ctr"/>
          <a:lstStyle/>
          <a:p>
            <a:pPr indent="0" marL="0">
              <a:buNone/>
            </a:pPr>
            <a:r>
              <a:rPr lang="en-US" sz="1050" i="1" dirty="0">
                <a:solidFill>
                  <a:srgbClr val="5A4A30"/>
                </a:solidFill>
                <a:latin typeface="Calibri" pitchFamily="34" charset="0"/>
                <a:ea typeface="Calibri" pitchFamily="34" charset="-122"/>
                <a:cs typeface="Calibri" pitchFamily="34" charset="-120"/>
              </a:rPr>
              <a:t>PM Tip: Focus on highlights first. Everyone worked hard. Say thank you. It is what the whole retrospective is about.</a:t>
            </a:r>
            <a:endParaRPr lang="en-US" sz="1050" dirty="0"/>
          </a:p>
        </p:txBody>
      </p:sp>
      <p:sp>
        <p:nvSpPr>
          <p:cNvPr id="36" name="Text 34"/>
          <p:cNvSpPr/>
          <p:nvPr/>
        </p:nvSpPr>
        <p:spPr>
          <a:xfrm>
            <a:off x="7863840" y="6217920"/>
            <a:ext cx="1097280" cy="228600"/>
          </a:xfrm>
          <a:prstGeom prst="rect">
            <a:avLst/>
          </a:prstGeom>
          <a:noFill/>
          <a:ln/>
        </p:spPr>
        <p:txBody>
          <a:bodyPr wrap="square" rtlCol="0" anchor="ctr"/>
          <a:lstStyle/>
          <a:p>
            <a:pPr algn="r" indent="0" marL="0">
              <a:buNone/>
            </a:pPr>
            <a:r>
              <a:rPr lang="en-US" sz="900" dirty="0">
                <a:solidFill>
                  <a:srgbClr val="C8BCA8"/>
                </a:solidFill>
                <a:latin typeface="Calibri" pitchFamily="34" charset="0"/>
                <a:ea typeface="Calibri" pitchFamily="34" charset="-122"/>
                <a:cs typeface="Calibri"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6EE"/>
          </a:solidFill>
          <a:ln w="12700">
            <a:solidFill>
              <a:srgbClr val="FBF6EE"/>
            </a:solidFill>
            <a:prstDash val="solid"/>
          </a:ln>
        </p:spPr>
      </p:sp>
      <p:sp>
        <p:nvSpPr>
          <p:cNvPr id="3" name="Shape 1"/>
          <p:cNvSpPr/>
          <p:nvPr/>
        </p:nvSpPr>
        <p:spPr>
          <a:xfrm>
            <a:off x="0" y="0"/>
            <a:ext cx="164592" cy="5143500"/>
          </a:xfrm>
          <a:prstGeom prst="rect">
            <a:avLst/>
          </a:prstGeom>
          <a:solidFill>
            <a:srgbClr val="B5451B"/>
          </a:solidFill>
          <a:ln w="12700">
            <a:solidFill>
              <a:srgbClr val="B5451B"/>
            </a:solidFill>
            <a:prstDash val="solid"/>
          </a:ln>
        </p:spPr>
      </p:sp>
      <p:sp>
        <p:nvSpPr>
          <p:cNvPr id="4" name="Text 2"/>
          <p:cNvSpPr/>
          <p:nvPr/>
        </p:nvSpPr>
        <p:spPr>
          <a:xfrm>
            <a:off x="411480" y="201168"/>
            <a:ext cx="3657600" cy="274320"/>
          </a:xfrm>
          <a:prstGeom prst="rect">
            <a:avLst/>
          </a:prstGeom>
          <a:noFill/>
          <a:ln/>
        </p:spPr>
        <p:txBody>
          <a:bodyPr wrap="square" rtlCol="0" anchor="ctr"/>
          <a:lstStyle/>
          <a:p>
            <a:pPr indent="0" marL="0">
              <a:buNone/>
            </a:pPr>
            <a:r>
              <a:rPr lang="en-US" sz="1000" b="1" spc="200" kern="0" dirty="0">
                <a:solidFill>
                  <a:srgbClr val="B5451B"/>
                </a:solidFill>
                <a:latin typeface="Calibri" pitchFamily="34" charset="0"/>
                <a:ea typeface="Calibri" pitchFamily="34" charset="-122"/>
                <a:cs typeface="Calibri" pitchFamily="34" charset="-120"/>
              </a:rPr>
              <a:t>QUICK REFERENCE</a:t>
            </a:r>
            <a:endParaRPr lang="en-US" sz="1000" dirty="0"/>
          </a:p>
        </p:txBody>
      </p:sp>
      <p:sp>
        <p:nvSpPr>
          <p:cNvPr id="5" name="Text 3"/>
          <p:cNvSpPr/>
          <p:nvPr/>
        </p:nvSpPr>
        <p:spPr>
          <a:xfrm>
            <a:off x="411480" y="475488"/>
            <a:ext cx="8321040" cy="548640"/>
          </a:xfrm>
          <a:prstGeom prst="rect">
            <a:avLst/>
          </a:prstGeom>
          <a:noFill/>
          <a:ln/>
        </p:spPr>
        <p:txBody>
          <a:bodyPr wrap="square" rtlCol="0" anchor="ctr"/>
          <a:lstStyle/>
          <a:p>
            <a:pPr indent="0" marL="0">
              <a:buNone/>
            </a:pPr>
            <a:r>
              <a:rPr lang="en-US" sz="2600" b="1" dirty="0">
                <a:solidFill>
                  <a:srgbClr val="2B1F0F"/>
                </a:solidFill>
                <a:latin typeface="Georgia" pitchFamily="34" charset="0"/>
                <a:ea typeface="Georgia" pitchFamily="34" charset="-122"/>
                <a:cs typeface="Georgia" pitchFamily="34" charset="-120"/>
              </a:rPr>
              <a:t>Thanksgiving to Conference Room: The Translation</a:t>
            </a:r>
            <a:endParaRPr lang="en-US" sz="2600" dirty="0"/>
          </a:p>
        </p:txBody>
      </p:sp>
      <p:sp>
        <p:nvSpPr>
          <p:cNvPr id="6" name="Shape 4"/>
          <p:cNvSpPr/>
          <p:nvPr/>
        </p:nvSpPr>
        <p:spPr>
          <a:xfrm>
            <a:off x="347472" y="1115568"/>
            <a:ext cx="1554480" cy="329184"/>
          </a:xfrm>
          <a:prstGeom prst="rect">
            <a:avLst/>
          </a:prstGeom>
          <a:solidFill>
            <a:srgbClr val="2B1F0F"/>
          </a:solidFill>
          <a:ln w="12700">
            <a:solidFill>
              <a:srgbClr val="2B1F0F"/>
            </a:solidFill>
            <a:prstDash val="solid"/>
          </a:ln>
        </p:spPr>
      </p:sp>
      <p:sp>
        <p:nvSpPr>
          <p:cNvPr id="7" name="Text 5"/>
          <p:cNvSpPr/>
          <p:nvPr/>
        </p:nvSpPr>
        <p:spPr>
          <a:xfrm>
            <a:off x="438912" y="1133856"/>
            <a:ext cx="1463040" cy="274320"/>
          </a:xfrm>
          <a:prstGeom prst="rect">
            <a:avLst/>
          </a:prstGeom>
          <a:noFill/>
          <a:ln/>
        </p:spPr>
        <p:txBody>
          <a:bodyPr wrap="square" rtlCol="0" anchor="ctr"/>
          <a:lstStyle/>
          <a:p>
            <a:pPr indent="0" marL="0">
              <a:buNone/>
            </a:pPr>
            <a:r>
              <a:rPr lang="en-US" sz="1100" b="1" dirty="0">
                <a:solidFill>
                  <a:srgbClr val="FBF6EE"/>
                </a:solidFill>
                <a:latin typeface="Calibri" pitchFamily="34" charset="0"/>
                <a:ea typeface="Calibri" pitchFamily="34" charset="-122"/>
                <a:cs typeface="Calibri" pitchFamily="34" charset="-120"/>
              </a:rPr>
              <a:t>Concept</a:t>
            </a:r>
            <a:endParaRPr lang="en-US" sz="1100" dirty="0"/>
          </a:p>
        </p:txBody>
      </p:sp>
      <p:sp>
        <p:nvSpPr>
          <p:cNvPr id="8" name="Shape 6"/>
          <p:cNvSpPr/>
          <p:nvPr/>
        </p:nvSpPr>
        <p:spPr>
          <a:xfrm>
            <a:off x="1901952" y="1115568"/>
            <a:ext cx="3291840" cy="329184"/>
          </a:xfrm>
          <a:prstGeom prst="rect">
            <a:avLst/>
          </a:prstGeom>
          <a:solidFill>
            <a:srgbClr val="2B1F0F"/>
          </a:solidFill>
          <a:ln w="12700">
            <a:solidFill>
              <a:srgbClr val="2B1F0F"/>
            </a:solidFill>
            <a:prstDash val="solid"/>
          </a:ln>
        </p:spPr>
      </p:sp>
      <p:sp>
        <p:nvSpPr>
          <p:cNvPr id="9" name="Text 7"/>
          <p:cNvSpPr/>
          <p:nvPr/>
        </p:nvSpPr>
        <p:spPr>
          <a:xfrm>
            <a:off x="1993392" y="1133856"/>
            <a:ext cx="3200400" cy="274320"/>
          </a:xfrm>
          <a:prstGeom prst="rect">
            <a:avLst/>
          </a:prstGeom>
          <a:noFill/>
          <a:ln/>
        </p:spPr>
        <p:txBody>
          <a:bodyPr wrap="square" rtlCol="0" anchor="ctr"/>
          <a:lstStyle/>
          <a:p>
            <a:pPr indent="0" marL="0">
              <a:buNone/>
            </a:pPr>
            <a:r>
              <a:rPr lang="en-US" sz="1100" b="1" dirty="0">
                <a:solidFill>
                  <a:srgbClr val="FBF6EE"/>
                </a:solidFill>
                <a:latin typeface="Calibri" pitchFamily="34" charset="0"/>
                <a:ea typeface="Calibri" pitchFamily="34" charset="-122"/>
                <a:cs typeface="Calibri" pitchFamily="34" charset="-120"/>
              </a:rPr>
              <a:t>In the Kitchen</a:t>
            </a:r>
            <a:endParaRPr lang="en-US" sz="1100" dirty="0"/>
          </a:p>
        </p:txBody>
      </p:sp>
      <p:sp>
        <p:nvSpPr>
          <p:cNvPr id="10" name="Shape 8"/>
          <p:cNvSpPr/>
          <p:nvPr/>
        </p:nvSpPr>
        <p:spPr>
          <a:xfrm>
            <a:off x="5193792" y="1115568"/>
            <a:ext cx="3291840" cy="329184"/>
          </a:xfrm>
          <a:prstGeom prst="rect">
            <a:avLst/>
          </a:prstGeom>
          <a:solidFill>
            <a:srgbClr val="2B1F0F"/>
          </a:solidFill>
          <a:ln w="12700">
            <a:solidFill>
              <a:srgbClr val="2B1F0F"/>
            </a:solidFill>
            <a:prstDash val="solid"/>
          </a:ln>
        </p:spPr>
      </p:sp>
      <p:sp>
        <p:nvSpPr>
          <p:cNvPr id="11" name="Text 9"/>
          <p:cNvSpPr/>
          <p:nvPr/>
        </p:nvSpPr>
        <p:spPr>
          <a:xfrm>
            <a:off x="5285232" y="1133856"/>
            <a:ext cx="3200400" cy="274320"/>
          </a:xfrm>
          <a:prstGeom prst="rect">
            <a:avLst/>
          </a:prstGeom>
          <a:noFill/>
          <a:ln/>
        </p:spPr>
        <p:txBody>
          <a:bodyPr wrap="square" rtlCol="0" anchor="ctr"/>
          <a:lstStyle/>
          <a:p>
            <a:pPr indent="0" marL="0">
              <a:buNone/>
            </a:pPr>
            <a:r>
              <a:rPr lang="en-US" sz="1100" b="1" dirty="0">
                <a:solidFill>
                  <a:srgbClr val="FBF6EE"/>
                </a:solidFill>
                <a:latin typeface="Calibri" pitchFamily="34" charset="0"/>
                <a:ea typeface="Calibri" pitchFamily="34" charset="-122"/>
                <a:cs typeface="Calibri" pitchFamily="34" charset="-120"/>
              </a:rPr>
              <a:t>At Work</a:t>
            </a:r>
            <a:endParaRPr lang="en-US" sz="1100" dirty="0"/>
          </a:p>
        </p:txBody>
      </p:sp>
      <p:sp>
        <p:nvSpPr>
          <p:cNvPr id="12" name="Shape 10"/>
          <p:cNvSpPr/>
          <p:nvPr/>
        </p:nvSpPr>
        <p:spPr>
          <a:xfrm>
            <a:off x="347472" y="1444752"/>
            <a:ext cx="1554480" cy="493776"/>
          </a:xfrm>
          <a:prstGeom prst="rect">
            <a:avLst/>
          </a:prstGeom>
          <a:solidFill>
            <a:srgbClr val="F0EAE0"/>
          </a:solidFill>
          <a:ln w="6350">
            <a:solidFill>
              <a:srgbClr val="DDD5C5"/>
            </a:solidFill>
            <a:prstDash val="solid"/>
          </a:ln>
        </p:spPr>
      </p:sp>
      <p:sp>
        <p:nvSpPr>
          <p:cNvPr id="13" name="Text 11"/>
          <p:cNvSpPr/>
          <p:nvPr/>
        </p:nvSpPr>
        <p:spPr>
          <a:xfrm>
            <a:off x="438912" y="1481328"/>
            <a:ext cx="1426464" cy="402336"/>
          </a:xfrm>
          <a:prstGeom prst="rect">
            <a:avLst/>
          </a:prstGeom>
          <a:noFill/>
          <a:ln/>
        </p:spPr>
        <p:txBody>
          <a:bodyPr wrap="square" rtlCol="0" anchor="ctr"/>
          <a:lstStyle/>
          <a:p>
            <a:pPr indent="0" marL="0">
              <a:buNone/>
            </a:pPr>
            <a:r>
              <a:rPr lang="en-US" sz="1100" b="1" dirty="0">
                <a:solidFill>
                  <a:srgbClr val="B5451B"/>
                </a:solidFill>
                <a:latin typeface="Georgia" pitchFamily="34" charset="0"/>
                <a:ea typeface="Georgia" pitchFamily="34" charset="-122"/>
                <a:cs typeface="Georgia" pitchFamily="34" charset="-120"/>
              </a:rPr>
              <a:t>Scope</a:t>
            </a:r>
            <a:endParaRPr lang="en-US" sz="1100" dirty="0"/>
          </a:p>
        </p:txBody>
      </p:sp>
      <p:sp>
        <p:nvSpPr>
          <p:cNvPr id="14" name="Shape 12"/>
          <p:cNvSpPr/>
          <p:nvPr/>
        </p:nvSpPr>
        <p:spPr>
          <a:xfrm>
            <a:off x="1901952" y="1444752"/>
            <a:ext cx="3291840" cy="493776"/>
          </a:xfrm>
          <a:prstGeom prst="rect">
            <a:avLst/>
          </a:prstGeom>
          <a:solidFill>
            <a:srgbClr val="FBF6EE"/>
          </a:solidFill>
          <a:ln w="6350">
            <a:solidFill>
              <a:srgbClr val="DDD5C5"/>
            </a:solidFill>
            <a:prstDash val="solid"/>
          </a:ln>
        </p:spPr>
      </p:sp>
      <p:sp>
        <p:nvSpPr>
          <p:cNvPr id="15" name="Text 13"/>
          <p:cNvSpPr/>
          <p:nvPr/>
        </p:nvSpPr>
        <p:spPr>
          <a:xfrm>
            <a:off x="1993392" y="1481328"/>
            <a:ext cx="3163824" cy="402336"/>
          </a:xfrm>
          <a:prstGeom prst="rect">
            <a:avLst/>
          </a:prstGeom>
          <a:noFill/>
          <a:ln/>
        </p:spPr>
        <p:txBody>
          <a:bodyPr wrap="square" rtlCol="0" anchor="ctr"/>
          <a:lstStyle/>
          <a:p>
            <a:pPr indent="0" marL="0">
              <a:buNone/>
            </a:pPr>
            <a:r>
              <a:rPr lang="en-US" sz="1050" dirty="0">
                <a:solidFill>
                  <a:srgbClr val="2B1F0F"/>
                </a:solidFill>
                <a:latin typeface="Calibri" pitchFamily="34" charset="0"/>
                <a:ea typeface="Calibri" pitchFamily="34" charset="-122"/>
                <a:cs typeface="Calibri" pitchFamily="34" charset="-120"/>
              </a:rPr>
              <a:t>What dishes you're making and for how many</a:t>
            </a:r>
            <a:endParaRPr lang="en-US" sz="1050" dirty="0"/>
          </a:p>
        </p:txBody>
      </p:sp>
      <p:sp>
        <p:nvSpPr>
          <p:cNvPr id="16" name="Shape 14"/>
          <p:cNvSpPr/>
          <p:nvPr/>
        </p:nvSpPr>
        <p:spPr>
          <a:xfrm>
            <a:off x="5193792" y="1444752"/>
            <a:ext cx="3291840" cy="493776"/>
          </a:xfrm>
          <a:prstGeom prst="rect">
            <a:avLst/>
          </a:prstGeom>
          <a:solidFill>
            <a:srgbClr val="FBF6EE"/>
          </a:solidFill>
          <a:ln w="6350">
            <a:solidFill>
              <a:srgbClr val="DDD5C5"/>
            </a:solidFill>
            <a:prstDash val="solid"/>
          </a:ln>
        </p:spPr>
      </p:sp>
      <p:sp>
        <p:nvSpPr>
          <p:cNvPr id="17" name="Text 15"/>
          <p:cNvSpPr/>
          <p:nvPr/>
        </p:nvSpPr>
        <p:spPr>
          <a:xfrm>
            <a:off x="5285232" y="1481328"/>
            <a:ext cx="3163824" cy="402336"/>
          </a:xfrm>
          <a:prstGeom prst="rect">
            <a:avLst/>
          </a:prstGeom>
          <a:noFill/>
          <a:ln/>
        </p:spPr>
        <p:txBody>
          <a:bodyPr wrap="square" rtlCol="0" anchor="ctr"/>
          <a:lstStyle/>
          <a:p>
            <a:pPr indent="0" marL="0">
              <a:buNone/>
            </a:pPr>
            <a:r>
              <a:rPr lang="en-US" sz="1050" dirty="0">
                <a:solidFill>
                  <a:srgbClr val="2B1F0F"/>
                </a:solidFill>
                <a:latin typeface="Calibri" pitchFamily="34" charset="0"/>
                <a:ea typeface="Calibri" pitchFamily="34" charset="-122"/>
                <a:cs typeface="Calibri" pitchFamily="34" charset="-120"/>
              </a:rPr>
              <a:t>What you're delivering and to whom. In writing.</a:t>
            </a:r>
            <a:endParaRPr lang="en-US" sz="1050" dirty="0"/>
          </a:p>
        </p:txBody>
      </p:sp>
      <p:sp>
        <p:nvSpPr>
          <p:cNvPr id="18" name="Shape 16"/>
          <p:cNvSpPr/>
          <p:nvPr/>
        </p:nvSpPr>
        <p:spPr>
          <a:xfrm>
            <a:off x="347472" y="1956816"/>
            <a:ext cx="1554480" cy="493776"/>
          </a:xfrm>
          <a:prstGeom prst="rect">
            <a:avLst/>
          </a:prstGeom>
          <a:solidFill>
            <a:srgbClr val="F0EAE0"/>
          </a:solidFill>
          <a:ln w="6350">
            <a:solidFill>
              <a:srgbClr val="DDD5C5"/>
            </a:solidFill>
            <a:prstDash val="solid"/>
          </a:ln>
        </p:spPr>
      </p:sp>
      <p:sp>
        <p:nvSpPr>
          <p:cNvPr id="19" name="Text 17"/>
          <p:cNvSpPr/>
          <p:nvPr/>
        </p:nvSpPr>
        <p:spPr>
          <a:xfrm>
            <a:off x="438912" y="1993392"/>
            <a:ext cx="1426464" cy="402336"/>
          </a:xfrm>
          <a:prstGeom prst="rect">
            <a:avLst/>
          </a:prstGeom>
          <a:noFill/>
          <a:ln/>
        </p:spPr>
        <p:txBody>
          <a:bodyPr wrap="square" rtlCol="0" anchor="ctr"/>
          <a:lstStyle/>
          <a:p>
            <a:pPr indent="0" marL="0">
              <a:buNone/>
            </a:pPr>
            <a:r>
              <a:rPr lang="en-US" sz="1100" b="1" dirty="0">
                <a:solidFill>
                  <a:srgbClr val="B5451B"/>
                </a:solidFill>
                <a:latin typeface="Georgia" pitchFamily="34" charset="0"/>
                <a:ea typeface="Georgia" pitchFamily="34" charset="-122"/>
                <a:cs typeface="Georgia" pitchFamily="34" charset="-120"/>
              </a:rPr>
              <a:t>Requirements</a:t>
            </a:r>
            <a:endParaRPr lang="en-US" sz="1100" dirty="0"/>
          </a:p>
        </p:txBody>
      </p:sp>
      <p:sp>
        <p:nvSpPr>
          <p:cNvPr id="20" name="Shape 18"/>
          <p:cNvSpPr/>
          <p:nvPr/>
        </p:nvSpPr>
        <p:spPr>
          <a:xfrm>
            <a:off x="1901952" y="1956816"/>
            <a:ext cx="3291840" cy="493776"/>
          </a:xfrm>
          <a:prstGeom prst="rect">
            <a:avLst/>
          </a:prstGeom>
          <a:solidFill>
            <a:srgbClr val="F2EBD9"/>
          </a:solidFill>
          <a:ln w="6350">
            <a:solidFill>
              <a:srgbClr val="DDD5C5"/>
            </a:solidFill>
            <a:prstDash val="solid"/>
          </a:ln>
        </p:spPr>
      </p:sp>
      <p:sp>
        <p:nvSpPr>
          <p:cNvPr id="21" name="Text 19"/>
          <p:cNvSpPr/>
          <p:nvPr/>
        </p:nvSpPr>
        <p:spPr>
          <a:xfrm>
            <a:off x="1993392" y="1993392"/>
            <a:ext cx="3163824" cy="402336"/>
          </a:xfrm>
          <a:prstGeom prst="rect">
            <a:avLst/>
          </a:prstGeom>
          <a:noFill/>
          <a:ln/>
        </p:spPr>
        <p:txBody>
          <a:bodyPr wrap="square" rtlCol="0" anchor="ctr"/>
          <a:lstStyle/>
          <a:p>
            <a:pPr indent="0" marL="0">
              <a:buNone/>
            </a:pPr>
            <a:r>
              <a:rPr lang="en-US" sz="1050" dirty="0">
                <a:solidFill>
                  <a:srgbClr val="2B1F0F"/>
                </a:solidFill>
                <a:latin typeface="Calibri" pitchFamily="34" charset="0"/>
                <a:ea typeface="Calibri" pitchFamily="34" charset="-122"/>
                <a:cs typeface="Calibri" pitchFamily="34" charset="-120"/>
              </a:rPr>
              <a:t>The shopping list. Every item, every quantity.</a:t>
            </a:r>
            <a:endParaRPr lang="en-US" sz="1050" dirty="0"/>
          </a:p>
        </p:txBody>
      </p:sp>
      <p:sp>
        <p:nvSpPr>
          <p:cNvPr id="22" name="Shape 20"/>
          <p:cNvSpPr/>
          <p:nvPr/>
        </p:nvSpPr>
        <p:spPr>
          <a:xfrm>
            <a:off x="5193792" y="1956816"/>
            <a:ext cx="3291840" cy="493776"/>
          </a:xfrm>
          <a:prstGeom prst="rect">
            <a:avLst/>
          </a:prstGeom>
          <a:solidFill>
            <a:srgbClr val="F2EBD9"/>
          </a:solidFill>
          <a:ln w="6350">
            <a:solidFill>
              <a:srgbClr val="DDD5C5"/>
            </a:solidFill>
            <a:prstDash val="solid"/>
          </a:ln>
        </p:spPr>
      </p:sp>
      <p:sp>
        <p:nvSpPr>
          <p:cNvPr id="23" name="Text 21"/>
          <p:cNvSpPr/>
          <p:nvPr/>
        </p:nvSpPr>
        <p:spPr>
          <a:xfrm>
            <a:off x="5285232" y="1993392"/>
            <a:ext cx="3163824" cy="402336"/>
          </a:xfrm>
          <a:prstGeom prst="rect">
            <a:avLst/>
          </a:prstGeom>
          <a:noFill/>
          <a:ln/>
        </p:spPr>
        <p:txBody>
          <a:bodyPr wrap="square" rtlCol="0" anchor="ctr"/>
          <a:lstStyle/>
          <a:p>
            <a:pPr indent="0" marL="0">
              <a:buNone/>
            </a:pPr>
            <a:r>
              <a:rPr lang="en-US" sz="1050" dirty="0">
                <a:solidFill>
                  <a:srgbClr val="2B1F0F"/>
                </a:solidFill>
                <a:latin typeface="Calibri" pitchFamily="34" charset="0"/>
                <a:ea typeface="Calibri" pitchFamily="34" charset="-122"/>
                <a:cs typeface="Calibri" pitchFamily="34" charset="-120"/>
              </a:rPr>
              <a:t>Documented stakeholder needs before work starts.</a:t>
            </a:r>
            <a:endParaRPr lang="en-US" sz="1050" dirty="0"/>
          </a:p>
        </p:txBody>
      </p:sp>
      <p:sp>
        <p:nvSpPr>
          <p:cNvPr id="24" name="Shape 22"/>
          <p:cNvSpPr/>
          <p:nvPr/>
        </p:nvSpPr>
        <p:spPr>
          <a:xfrm>
            <a:off x="347472" y="2468880"/>
            <a:ext cx="1554480" cy="493776"/>
          </a:xfrm>
          <a:prstGeom prst="rect">
            <a:avLst/>
          </a:prstGeom>
          <a:solidFill>
            <a:srgbClr val="F0EAE0"/>
          </a:solidFill>
          <a:ln w="6350">
            <a:solidFill>
              <a:srgbClr val="DDD5C5"/>
            </a:solidFill>
            <a:prstDash val="solid"/>
          </a:ln>
        </p:spPr>
      </p:sp>
      <p:sp>
        <p:nvSpPr>
          <p:cNvPr id="25" name="Text 23"/>
          <p:cNvSpPr/>
          <p:nvPr/>
        </p:nvSpPr>
        <p:spPr>
          <a:xfrm>
            <a:off x="438912" y="2505456"/>
            <a:ext cx="1426464" cy="402336"/>
          </a:xfrm>
          <a:prstGeom prst="rect">
            <a:avLst/>
          </a:prstGeom>
          <a:noFill/>
          <a:ln/>
        </p:spPr>
        <p:txBody>
          <a:bodyPr wrap="square" rtlCol="0" anchor="ctr"/>
          <a:lstStyle/>
          <a:p>
            <a:pPr indent="0" marL="0">
              <a:buNone/>
            </a:pPr>
            <a:r>
              <a:rPr lang="en-US" sz="1100" b="1" dirty="0">
                <a:solidFill>
                  <a:srgbClr val="B5451B"/>
                </a:solidFill>
                <a:latin typeface="Georgia" pitchFamily="34" charset="0"/>
                <a:ea typeface="Georgia" pitchFamily="34" charset="-122"/>
                <a:cs typeface="Georgia" pitchFamily="34" charset="-120"/>
              </a:rPr>
              <a:t>Critical Path</a:t>
            </a:r>
            <a:endParaRPr lang="en-US" sz="1100" dirty="0"/>
          </a:p>
        </p:txBody>
      </p:sp>
      <p:sp>
        <p:nvSpPr>
          <p:cNvPr id="26" name="Shape 24"/>
          <p:cNvSpPr/>
          <p:nvPr/>
        </p:nvSpPr>
        <p:spPr>
          <a:xfrm>
            <a:off x="1901952" y="2468880"/>
            <a:ext cx="3291840" cy="493776"/>
          </a:xfrm>
          <a:prstGeom prst="rect">
            <a:avLst/>
          </a:prstGeom>
          <a:solidFill>
            <a:srgbClr val="FBF6EE"/>
          </a:solidFill>
          <a:ln w="6350">
            <a:solidFill>
              <a:srgbClr val="DDD5C5"/>
            </a:solidFill>
            <a:prstDash val="solid"/>
          </a:ln>
        </p:spPr>
      </p:sp>
      <p:sp>
        <p:nvSpPr>
          <p:cNvPr id="27" name="Text 25"/>
          <p:cNvSpPr/>
          <p:nvPr/>
        </p:nvSpPr>
        <p:spPr>
          <a:xfrm>
            <a:off x="1993392" y="2505456"/>
            <a:ext cx="3163824" cy="402336"/>
          </a:xfrm>
          <a:prstGeom prst="rect">
            <a:avLst/>
          </a:prstGeom>
          <a:noFill/>
          <a:ln/>
        </p:spPr>
        <p:txBody>
          <a:bodyPr wrap="square" rtlCol="0" anchor="ctr"/>
          <a:lstStyle/>
          <a:p>
            <a:pPr indent="0" marL="0">
              <a:buNone/>
            </a:pPr>
            <a:r>
              <a:rPr lang="en-US" sz="1050" dirty="0">
                <a:solidFill>
                  <a:srgbClr val="2B1F0F"/>
                </a:solidFill>
                <a:latin typeface="Calibri" pitchFamily="34" charset="0"/>
                <a:ea typeface="Calibri" pitchFamily="34" charset="-122"/>
                <a:cs typeface="Calibri" pitchFamily="34" charset="-120"/>
              </a:rPr>
              <a:t>Turkey -&gt; Stuffing -&gt; Gravy. In that order.</a:t>
            </a:r>
            <a:endParaRPr lang="en-US" sz="1050" dirty="0"/>
          </a:p>
        </p:txBody>
      </p:sp>
      <p:sp>
        <p:nvSpPr>
          <p:cNvPr id="28" name="Shape 26"/>
          <p:cNvSpPr/>
          <p:nvPr/>
        </p:nvSpPr>
        <p:spPr>
          <a:xfrm>
            <a:off x="5193792" y="2468880"/>
            <a:ext cx="3291840" cy="493776"/>
          </a:xfrm>
          <a:prstGeom prst="rect">
            <a:avLst/>
          </a:prstGeom>
          <a:solidFill>
            <a:srgbClr val="FBF6EE"/>
          </a:solidFill>
          <a:ln w="6350">
            <a:solidFill>
              <a:srgbClr val="DDD5C5"/>
            </a:solidFill>
            <a:prstDash val="solid"/>
          </a:ln>
        </p:spPr>
      </p:sp>
      <p:sp>
        <p:nvSpPr>
          <p:cNvPr id="29" name="Text 27"/>
          <p:cNvSpPr/>
          <p:nvPr/>
        </p:nvSpPr>
        <p:spPr>
          <a:xfrm>
            <a:off x="5285232" y="2505456"/>
            <a:ext cx="3163824" cy="402336"/>
          </a:xfrm>
          <a:prstGeom prst="rect">
            <a:avLst/>
          </a:prstGeom>
          <a:noFill/>
          <a:ln/>
        </p:spPr>
        <p:txBody>
          <a:bodyPr wrap="square" rtlCol="0" anchor="ctr"/>
          <a:lstStyle/>
          <a:p>
            <a:pPr indent="0" marL="0">
              <a:buNone/>
            </a:pPr>
            <a:r>
              <a:rPr lang="en-US" sz="1050" dirty="0">
                <a:solidFill>
                  <a:srgbClr val="2B1F0F"/>
                </a:solidFill>
                <a:latin typeface="Calibri" pitchFamily="34" charset="0"/>
                <a:ea typeface="Calibri" pitchFamily="34" charset="-122"/>
                <a:cs typeface="Calibri" pitchFamily="34" charset="-120"/>
              </a:rPr>
              <a:t>Longest chain of dependent tasks = your real deadline.</a:t>
            </a:r>
            <a:endParaRPr lang="en-US" sz="1050" dirty="0"/>
          </a:p>
        </p:txBody>
      </p:sp>
      <p:sp>
        <p:nvSpPr>
          <p:cNvPr id="30" name="Shape 28"/>
          <p:cNvSpPr/>
          <p:nvPr/>
        </p:nvSpPr>
        <p:spPr>
          <a:xfrm>
            <a:off x="347472" y="2980944"/>
            <a:ext cx="1554480" cy="493776"/>
          </a:xfrm>
          <a:prstGeom prst="rect">
            <a:avLst/>
          </a:prstGeom>
          <a:solidFill>
            <a:srgbClr val="F0EAE0"/>
          </a:solidFill>
          <a:ln w="6350">
            <a:solidFill>
              <a:srgbClr val="DDD5C5"/>
            </a:solidFill>
            <a:prstDash val="solid"/>
          </a:ln>
        </p:spPr>
      </p:sp>
      <p:sp>
        <p:nvSpPr>
          <p:cNvPr id="31" name="Text 29"/>
          <p:cNvSpPr/>
          <p:nvPr/>
        </p:nvSpPr>
        <p:spPr>
          <a:xfrm>
            <a:off x="438912" y="3017520"/>
            <a:ext cx="1426464" cy="402336"/>
          </a:xfrm>
          <a:prstGeom prst="rect">
            <a:avLst/>
          </a:prstGeom>
          <a:noFill/>
          <a:ln/>
        </p:spPr>
        <p:txBody>
          <a:bodyPr wrap="square" rtlCol="0" anchor="ctr"/>
          <a:lstStyle/>
          <a:p>
            <a:pPr indent="0" marL="0">
              <a:buNone/>
            </a:pPr>
            <a:r>
              <a:rPr lang="en-US" sz="1100" b="1" dirty="0">
                <a:solidFill>
                  <a:srgbClr val="B5451B"/>
                </a:solidFill>
                <a:latin typeface="Georgia" pitchFamily="34" charset="0"/>
                <a:ea typeface="Georgia" pitchFamily="34" charset="-122"/>
                <a:cs typeface="Georgia" pitchFamily="34" charset="-120"/>
              </a:rPr>
              <a:t>Risk</a:t>
            </a:r>
            <a:endParaRPr lang="en-US" sz="1100" dirty="0"/>
          </a:p>
        </p:txBody>
      </p:sp>
      <p:sp>
        <p:nvSpPr>
          <p:cNvPr id="32" name="Shape 30"/>
          <p:cNvSpPr/>
          <p:nvPr/>
        </p:nvSpPr>
        <p:spPr>
          <a:xfrm>
            <a:off x="1901952" y="2980944"/>
            <a:ext cx="3291840" cy="493776"/>
          </a:xfrm>
          <a:prstGeom prst="rect">
            <a:avLst/>
          </a:prstGeom>
          <a:solidFill>
            <a:srgbClr val="F2EBD9"/>
          </a:solidFill>
          <a:ln w="6350">
            <a:solidFill>
              <a:srgbClr val="DDD5C5"/>
            </a:solidFill>
            <a:prstDash val="solid"/>
          </a:ln>
        </p:spPr>
      </p:sp>
      <p:sp>
        <p:nvSpPr>
          <p:cNvPr id="33" name="Text 31"/>
          <p:cNvSpPr/>
          <p:nvPr/>
        </p:nvSpPr>
        <p:spPr>
          <a:xfrm>
            <a:off x="1993392" y="3017520"/>
            <a:ext cx="3163824" cy="402336"/>
          </a:xfrm>
          <a:prstGeom prst="rect">
            <a:avLst/>
          </a:prstGeom>
          <a:noFill/>
          <a:ln/>
        </p:spPr>
        <p:txBody>
          <a:bodyPr wrap="square" rtlCol="0" anchor="ctr"/>
          <a:lstStyle/>
          <a:p>
            <a:pPr indent="0" marL="0">
              <a:buNone/>
            </a:pPr>
            <a:r>
              <a:rPr lang="en-US" sz="1050" dirty="0">
                <a:solidFill>
                  <a:srgbClr val="2B1F0F"/>
                </a:solidFill>
                <a:latin typeface="Calibri" pitchFamily="34" charset="0"/>
                <a:ea typeface="Calibri" pitchFamily="34" charset="-122"/>
                <a:cs typeface="Calibri" pitchFamily="34" charset="-120"/>
              </a:rPr>
              <a:t>Paleo cousin. Dropped gravy. Undercooked bird.</a:t>
            </a:r>
            <a:endParaRPr lang="en-US" sz="1050" dirty="0"/>
          </a:p>
        </p:txBody>
      </p:sp>
      <p:sp>
        <p:nvSpPr>
          <p:cNvPr id="34" name="Shape 32"/>
          <p:cNvSpPr/>
          <p:nvPr/>
        </p:nvSpPr>
        <p:spPr>
          <a:xfrm>
            <a:off x="5193792" y="2980944"/>
            <a:ext cx="3291840" cy="493776"/>
          </a:xfrm>
          <a:prstGeom prst="rect">
            <a:avLst/>
          </a:prstGeom>
          <a:solidFill>
            <a:srgbClr val="F2EBD9"/>
          </a:solidFill>
          <a:ln w="6350">
            <a:solidFill>
              <a:srgbClr val="DDD5C5"/>
            </a:solidFill>
            <a:prstDash val="solid"/>
          </a:ln>
        </p:spPr>
      </p:sp>
      <p:sp>
        <p:nvSpPr>
          <p:cNvPr id="35" name="Text 33"/>
          <p:cNvSpPr/>
          <p:nvPr/>
        </p:nvSpPr>
        <p:spPr>
          <a:xfrm>
            <a:off x="5285232" y="3017520"/>
            <a:ext cx="3163824" cy="402336"/>
          </a:xfrm>
          <a:prstGeom prst="rect">
            <a:avLst/>
          </a:prstGeom>
          <a:noFill/>
          <a:ln/>
        </p:spPr>
        <p:txBody>
          <a:bodyPr wrap="square" rtlCol="0" anchor="ctr"/>
          <a:lstStyle/>
          <a:p>
            <a:pPr indent="0" marL="0">
              <a:buNone/>
            </a:pPr>
            <a:r>
              <a:rPr lang="en-US" sz="1050" dirty="0">
                <a:solidFill>
                  <a:srgbClr val="2B1F0F"/>
                </a:solidFill>
                <a:latin typeface="Calibri" pitchFamily="34" charset="0"/>
                <a:ea typeface="Calibri" pitchFamily="34" charset="-122"/>
                <a:cs typeface="Calibri" pitchFamily="34" charset="-120"/>
              </a:rPr>
              <a:t>Identified, rated, and triaged. Not every risk needs a plan.</a:t>
            </a:r>
            <a:endParaRPr lang="en-US" sz="1050" dirty="0"/>
          </a:p>
        </p:txBody>
      </p:sp>
      <p:sp>
        <p:nvSpPr>
          <p:cNvPr id="36" name="Shape 34"/>
          <p:cNvSpPr/>
          <p:nvPr/>
        </p:nvSpPr>
        <p:spPr>
          <a:xfrm>
            <a:off x="347472" y="3493008"/>
            <a:ext cx="1554480" cy="493776"/>
          </a:xfrm>
          <a:prstGeom prst="rect">
            <a:avLst/>
          </a:prstGeom>
          <a:solidFill>
            <a:srgbClr val="F0EAE0"/>
          </a:solidFill>
          <a:ln w="6350">
            <a:solidFill>
              <a:srgbClr val="DDD5C5"/>
            </a:solidFill>
            <a:prstDash val="solid"/>
          </a:ln>
        </p:spPr>
      </p:sp>
      <p:sp>
        <p:nvSpPr>
          <p:cNvPr id="37" name="Text 35"/>
          <p:cNvSpPr/>
          <p:nvPr/>
        </p:nvSpPr>
        <p:spPr>
          <a:xfrm>
            <a:off x="438912" y="3529584"/>
            <a:ext cx="1426464" cy="402336"/>
          </a:xfrm>
          <a:prstGeom prst="rect">
            <a:avLst/>
          </a:prstGeom>
          <a:noFill/>
          <a:ln/>
        </p:spPr>
        <p:txBody>
          <a:bodyPr wrap="square" rtlCol="0" anchor="ctr"/>
          <a:lstStyle/>
          <a:p>
            <a:pPr indent="0" marL="0">
              <a:buNone/>
            </a:pPr>
            <a:r>
              <a:rPr lang="en-US" sz="1100" b="1" dirty="0">
                <a:solidFill>
                  <a:srgbClr val="B5451B"/>
                </a:solidFill>
                <a:latin typeface="Georgia" pitchFamily="34" charset="0"/>
                <a:ea typeface="Georgia" pitchFamily="34" charset="-122"/>
                <a:cs typeface="Georgia" pitchFamily="34" charset="-120"/>
              </a:rPr>
              <a:t>Stakeholders</a:t>
            </a:r>
            <a:endParaRPr lang="en-US" sz="1100" dirty="0"/>
          </a:p>
        </p:txBody>
      </p:sp>
      <p:sp>
        <p:nvSpPr>
          <p:cNvPr id="38" name="Shape 36"/>
          <p:cNvSpPr/>
          <p:nvPr/>
        </p:nvSpPr>
        <p:spPr>
          <a:xfrm>
            <a:off x="1901952" y="3493008"/>
            <a:ext cx="3291840" cy="493776"/>
          </a:xfrm>
          <a:prstGeom prst="rect">
            <a:avLst/>
          </a:prstGeom>
          <a:solidFill>
            <a:srgbClr val="FBF6EE"/>
          </a:solidFill>
          <a:ln w="6350">
            <a:solidFill>
              <a:srgbClr val="DDD5C5"/>
            </a:solidFill>
            <a:prstDash val="solid"/>
          </a:ln>
        </p:spPr>
      </p:sp>
      <p:sp>
        <p:nvSpPr>
          <p:cNvPr id="39" name="Text 37"/>
          <p:cNvSpPr/>
          <p:nvPr/>
        </p:nvSpPr>
        <p:spPr>
          <a:xfrm>
            <a:off x="1993392" y="3529584"/>
            <a:ext cx="3163824" cy="402336"/>
          </a:xfrm>
          <a:prstGeom prst="rect">
            <a:avLst/>
          </a:prstGeom>
          <a:noFill/>
          <a:ln/>
        </p:spPr>
        <p:txBody>
          <a:bodyPr wrap="square" rtlCol="0" anchor="ctr"/>
          <a:lstStyle/>
          <a:p>
            <a:pPr indent="0" marL="0">
              <a:buNone/>
            </a:pPr>
            <a:r>
              <a:rPr lang="en-US" sz="1050" dirty="0">
                <a:solidFill>
                  <a:srgbClr val="2B1F0F"/>
                </a:solidFill>
                <a:latin typeface="Calibri" pitchFamily="34" charset="0"/>
                <a:ea typeface="Calibri" pitchFamily="34" charset="-122"/>
                <a:cs typeface="Calibri" pitchFamily="34" charset="-120"/>
              </a:rPr>
              <a:t>Family members with opinions, needs, and surprises.</a:t>
            </a:r>
            <a:endParaRPr lang="en-US" sz="1050" dirty="0"/>
          </a:p>
        </p:txBody>
      </p:sp>
      <p:sp>
        <p:nvSpPr>
          <p:cNvPr id="40" name="Shape 38"/>
          <p:cNvSpPr/>
          <p:nvPr/>
        </p:nvSpPr>
        <p:spPr>
          <a:xfrm>
            <a:off x="5193792" y="3493008"/>
            <a:ext cx="3291840" cy="493776"/>
          </a:xfrm>
          <a:prstGeom prst="rect">
            <a:avLst/>
          </a:prstGeom>
          <a:solidFill>
            <a:srgbClr val="FBF6EE"/>
          </a:solidFill>
          <a:ln w="6350">
            <a:solidFill>
              <a:srgbClr val="DDD5C5"/>
            </a:solidFill>
            <a:prstDash val="solid"/>
          </a:ln>
        </p:spPr>
      </p:sp>
      <p:sp>
        <p:nvSpPr>
          <p:cNvPr id="41" name="Text 39"/>
          <p:cNvSpPr/>
          <p:nvPr/>
        </p:nvSpPr>
        <p:spPr>
          <a:xfrm>
            <a:off x="5285232" y="3529584"/>
            <a:ext cx="3163824" cy="402336"/>
          </a:xfrm>
          <a:prstGeom prst="rect">
            <a:avLst/>
          </a:prstGeom>
          <a:noFill/>
          <a:ln/>
        </p:spPr>
        <p:txBody>
          <a:bodyPr wrap="square" rtlCol="0" anchor="ctr"/>
          <a:lstStyle/>
          <a:p>
            <a:pPr indent="0" marL="0">
              <a:buNone/>
            </a:pPr>
            <a:r>
              <a:rPr lang="en-US" sz="1050" dirty="0">
                <a:solidFill>
                  <a:srgbClr val="2B1F0F"/>
                </a:solidFill>
                <a:latin typeface="Calibri" pitchFamily="34" charset="0"/>
                <a:ea typeface="Calibri" pitchFamily="34" charset="-122"/>
                <a:cs typeface="Calibri" pitchFamily="34" charset="-120"/>
              </a:rPr>
              <a:t>Anyone with a stake in the outcome. Engage them early.</a:t>
            </a:r>
            <a:endParaRPr lang="en-US" sz="1050" dirty="0"/>
          </a:p>
        </p:txBody>
      </p:sp>
      <p:sp>
        <p:nvSpPr>
          <p:cNvPr id="42" name="Shape 40"/>
          <p:cNvSpPr/>
          <p:nvPr/>
        </p:nvSpPr>
        <p:spPr>
          <a:xfrm>
            <a:off x="347472" y="4005072"/>
            <a:ext cx="1554480" cy="493776"/>
          </a:xfrm>
          <a:prstGeom prst="rect">
            <a:avLst/>
          </a:prstGeom>
          <a:solidFill>
            <a:srgbClr val="F0EAE0"/>
          </a:solidFill>
          <a:ln w="6350">
            <a:solidFill>
              <a:srgbClr val="DDD5C5"/>
            </a:solidFill>
            <a:prstDash val="solid"/>
          </a:ln>
        </p:spPr>
      </p:sp>
      <p:sp>
        <p:nvSpPr>
          <p:cNvPr id="43" name="Text 41"/>
          <p:cNvSpPr/>
          <p:nvPr/>
        </p:nvSpPr>
        <p:spPr>
          <a:xfrm>
            <a:off x="438912" y="4041648"/>
            <a:ext cx="1426464" cy="402336"/>
          </a:xfrm>
          <a:prstGeom prst="rect">
            <a:avLst/>
          </a:prstGeom>
          <a:noFill/>
          <a:ln/>
        </p:spPr>
        <p:txBody>
          <a:bodyPr wrap="square" rtlCol="0" anchor="ctr"/>
          <a:lstStyle/>
          <a:p>
            <a:pPr indent="0" marL="0">
              <a:buNone/>
            </a:pPr>
            <a:r>
              <a:rPr lang="en-US" sz="1100" b="1" dirty="0">
                <a:solidFill>
                  <a:srgbClr val="B5451B"/>
                </a:solidFill>
                <a:latin typeface="Georgia" pitchFamily="34" charset="0"/>
                <a:ea typeface="Georgia" pitchFamily="34" charset="-122"/>
                <a:cs typeface="Georgia" pitchFamily="34" charset="-120"/>
              </a:rPr>
              <a:t>Dependencies</a:t>
            </a:r>
            <a:endParaRPr lang="en-US" sz="1100" dirty="0"/>
          </a:p>
        </p:txBody>
      </p:sp>
      <p:sp>
        <p:nvSpPr>
          <p:cNvPr id="44" name="Shape 42"/>
          <p:cNvSpPr/>
          <p:nvPr/>
        </p:nvSpPr>
        <p:spPr>
          <a:xfrm>
            <a:off x="1901952" y="4005072"/>
            <a:ext cx="3291840" cy="493776"/>
          </a:xfrm>
          <a:prstGeom prst="rect">
            <a:avLst/>
          </a:prstGeom>
          <a:solidFill>
            <a:srgbClr val="F2EBD9"/>
          </a:solidFill>
          <a:ln w="6350">
            <a:solidFill>
              <a:srgbClr val="DDD5C5"/>
            </a:solidFill>
            <a:prstDash val="solid"/>
          </a:ln>
        </p:spPr>
      </p:sp>
      <p:sp>
        <p:nvSpPr>
          <p:cNvPr id="45" name="Text 43"/>
          <p:cNvSpPr/>
          <p:nvPr/>
        </p:nvSpPr>
        <p:spPr>
          <a:xfrm>
            <a:off x="1993392" y="4041648"/>
            <a:ext cx="3163824" cy="402336"/>
          </a:xfrm>
          <a:prstGeom prst="rect">
            <a:avLst/>
          </a:prstGeom>
          <a:noFill/>
          <a:ln/>
        </p:spPr>
        <p:txBody>
          <a:bodyPr wrap="square" rtlCol="0" anchor="ctr"/>
          <a:lstStyle/>
          <a:p>
            <a:pPr indent="0" marL="0">
              <a:buNone/>
            </a:pPr>
            <a:r>
              <a:rPr lang="en-US" sz="1050" dirty="0">
                <a:solidFill>
                  <a:srgbClr val="2B1F0F"/>
                </a:solidFill>
                <a:latin typeface="Calibri" pitchFamily="34" charset="0"/>
                <a:ea typeface="Calibri" pitchFamily="34" charset="-122"/>
                <a:cs typeface="Calibri" pitchFamily="34" charset="-120"/>
              </a:rPr>
              <a:t>Can't make gravy until the turkey is done.</a:t>
            </a:r>
            <a:endParaRPr lang="en-US" sz="1050" dirty="0"/>
          </a:p>
        </p:txBody>
      </p:sp>
      <p:sp>
        <p:nvSpPr>
          <p:cNvPr id="46" name="Shape 44"/>
          <p:cNvSpPr/>
          <p:nvPr/>
        </p:nvSpPr>
        <p:spPr>
          <a:xfrm>
            <a:off x="5193792" y="4005072"/>
            <a:ext cx="3291840" cy="493776"/>
          </a:xfrm>
          <a:prstGeom prst="rect">
            <a:avLst/>
          </a:prstGeom>
          <a:solidFill>
            <a:srgbClr val="F2EBD9"/>
          </a:solidFill>
          <a:ln w="6350">
            <a:solidFill>
              <a:srgbClr val="DDD5C5"/>
            </a:solidFill>
            <a:prstDash val="solid"/>
          </a:ln>
        </p:spPr>
      </p:sp>
      <p:sp>
        <p:nvSpPr>
          <p:cNvPr id="47" name="Text 45"/>
          <p:cNvSpPr/>
          <p:nvPr/>
        </p:nvSpPr>
        <p:spPr>
          <a:xfrm>
            <a:off x="5285232" y="4041648"/>
            <a:ext cx="3163824" cy="402336"/>
          </a:xfrm>
          <a:prstGeom prst="rect">
            <a:avLst/>
          </a:prstGeom>
          <a:noFill/>
          <a:ln/>
        </p:spPr>
        <p:txBody>
          <a:bodyPr wrap="square" rtlCol="0" anchor="ctr"/>
          <a:lstStyle/>
          <a:p>
            <a:pPr indent="0" marL="0">
              <a:buNone/>
            </a:pPr>
            <a:r>
              <a:rPr lang="en-US" sz="1050" dirty="0">
                <a:solidFill>
                  <a:srgbClr val="2B1F0F"/>
                </a:solidFill>
                <a:latin typeface="Calibri" pitchFamily="34" charset="0"/>
                <a:ea typeface="Calibri" pitchFamily="34" charset="-122"/>
                <a:cs typeface="Calibri" pitchFamily="34" charset="-120"/>
              </a:rPr>
              <a:t>Task B cannot start until Task A completes.</a:t>
            </a:r>
            <a:endParaRPr lang="en-US" sz="1050" dirty="0"/>
          </a:p>
        </p:txBody>
      </p:sp>
      <p:sp>
        <p:nvSpPr>
          <p:cNvPr id="48" name="Shape 46"/>
          <p:cNvSpPr/>
          <p:nvPr/>
        </p:nvSpPr>
        <p:spPr>
          <a:xfrm>
            <a:off x="347472" y="4517136"/>
            <a:ext cx="1554480" cy="493776"/>
          </a:xfrm>
          <a:prstGeom prst="rect">
            <a:avLst/>
          </a:prstGeom>
          <a:solidFill>
            <a:srgbClr val="F0EAE0"/>
          </a:solidFill>
          <a:ln w="6350">
            <a:solidFill>
              <a:srgbClr val="DDD5C5"/>
            </a:solidFill>
            <a:prstDash val="solid"/>
          </a:ln>
        </p:spPr>
      </p:sp>
      <p:sp>
        <p:nvSpPr>
          <p:cNvPr id="49" name="Text 47"/>
          <p:cNvSpPr/>
          <p:nvPr/>
        </p:nvSpPr>
        <p:spPr>
          <a:xfrm>
            <a:off x="438912" y="4553712"/>
            <a:ext cx="1426464" cy="402336"/>
          </a:xfrm>
          <a:prstGeom prst="rect">
            <a:avLst/>
          </a:prstGeom>
          <a:noFill/>
          <a:ln/>
        </p:spPr>
        <p:txBody>
          <a:bodyPr wrap="square" rtlCol="0" anchor="ctr"/>
          <a:lstStyle/>
          <a:p>
            <a:pPr indent="0" marL="0">
              <a:buNone/>
            </a:pPr>
            <a:r>
              <a:rPr lang="en-US" sz="1100" b="1" dirty="0">
                <a:solidFill>
                  <a:srgbClr val="B5451B"/>
                </a:solidFill>
                <a:latin typeface="Georgia" pitchFamily="34" charset="0"/>
                <a:ea typeface="Georgia" pitchFamily="34" charset="-122"/>
                <a:cs typeface="Georgia" pitchFamily="34" charset="-120"/>
              </a:rPr>
              <a:t>Retrospective</a:t>
            </a:r>
            <a:endParaRPr lang="en-US" sz="1100" dirty="0"/>
          </a:p>
        </p:txBody>
      </p:sp>
      <p:sp>
        <p:nvSpPr>
          <p:cNvPr id="50" name="Shape 48"/>
          <p:cNvSpPr/>
          <p:nvPr/>
        </p:nvSpPr>
        <p:spPr>
          <a:xfrm>
            <a:off x="1901952" y="4517136"/>
            <a:ext cx="3291840" cy="493776"/>
          </a:xfrm>
          <a:prstGeom prst="rect">
            <a:avLst/>
          </a:prstGeom>
          <a:solidFill>
            <a:srgbClr val="FBF6EE"/>
          </a:solidFill>
          <a:ln w="6350">
            <a:solidFill>
              <a:srgbClr val="DDD5C5"/>
            </a:solidFill>
            <a:prstDash val="solid"/>
          </a:ln>
        </p:spPr>
      </p:sp>
      <p:sp>
        <p:nvSpPr>
          <p:cNvPr id="51" name="Text 49"/>
          <p:cNvSpPr/>
          <p:nvPr/>
        </p:nvSpPr>
        <p:spPr>
          <a:xfrm>
            <a:off x="1993392" y="4553712"/>
            <a:ext cx="3163824" cy="402336"/>
          </a:xfrm>
          <a:prstGeom prst="rect">
            <a:avLst/>
          </a:prstGeom>
          <a:noFill/>
          <a:ln/>
        </p:spPr>
        <p:txBody>
          <a:bodyPr wrap="square" rtlCol="0" anchor="ctr"/>
          <a:lstStyle/>
          <a:p>
            <a:pPr indent="0" marL="0">
              <a:buNone/>
            </a:pPr>
            <a:r>
              <a:rPr lang="en-US" sz="1050" dirty="0">
                <a:solidFill>
                  <a:srgbClr val="2B1F0F"/>
                </a:solidFill>
                <a:latin typeface="Calibri" pitchFamily="34" charset="0"/>
                <a:ea typeface="Calibri" pitchFamily="34" charset="-122"/>
                <a:cs typeface="Calibri" pitchFamily="34" charset="-120"/>
              </a:rPr>
              <a:t>What worked, what didn't, what next year looks like.</a:t>
            </a:r>
            <a:endParaRPr lang="en-US" sz="1050" dirty="0"/>
          </a:p>
        </p:txBody>
      </p:sp>
      <p:sp>
        <p:nvSpPr>
          <p:cNvPr id="52" name="Shape 50"/>
          <p:cNvSpPr/>
          <p:nvPr/>
        </p:nvSpPr>
        <p:spPr>
          <a:xfrm>
            <a:off x="5193792" y="4517136"/>
            <a:ext cx="3291840" cy="493776"/>
          </a:xfrm>
          <a:prstGeom prst="rect">
            <a:avLst/>
          </a:prstGeom>
          <a:solidFill>
            <a:srgbClr val="FBF6EE"/>
          </a:solidFill>
          <a:ln w="6350">
            <a:solidFill>
              <a:srgbClr val="DDD5C5"/>
            </a:solidFill>
            <a:prstDash val="solid"/>
          </a:ln>
        </p:spPr>
      </p:sp>
      <p:sp>
        <p:nvSpPr>
          <p:cNvPr id="53" name="Text 51"/>
          <p:cNvSpPr/>
          <p:nvPr/>
        </p:nvSpPr>
        <p:spPr>
          <a:xfrm>
            <a:off x="5285232" y="4553712"/>
            <a:ext cx="3163824" cy="402336"/>
          </a:xfrm>
          <a:prstGeom prst="rect">
            <a:avLst/>
          </a:prstGeom>
          <a:noFill/>
          <a:ln/>
        </p:spPr>
        <p:txBody>
          <a:bodyPr wrap="square" rtlCol="0" anchor="ctr"/>
          <a:lstStyle/>
          <a:p>
            <a:pPr indent="0" marL="0">
              <a:buNone/>
            </a:pPr>
            <a:r>
              <a:rPr lang="en-US" sz="1050" dirty="0">
                <a:solidFill>
                  <a:srgbClr val="2B1F0F"/>
                </a:solidFill>
                <a:latin typeface="Calibri" pitchFamily="34" charset="0"/>
                <a:ea typeface="Calibri" pitchFamily="34" charset="-122"/>
                <a:cs typeface="Calibri" pitchFamily="34" charset="-120"/>
              </a:rPr>
              <a:t>Structured reflection after close-out. Action items required.</a:t>
            </a:r>
            <a:endParaRPr lang="en-US" sz="1050" dirty="0"/>
          </a:p>
        </p:txBody>
      </p:sp>
      <p:sp>
        <p:nvSpPr>
          <p:cNvPr id="54" name="Text 52"/>
          <p:cNvSpPr/>
          <p:nvPr/>
        </p:nvSpPr>
        <p:spPr>
          <a:xfrm>
            <a:off x="7863840" y="6217920"/>
            <a:ext cx="1097280" cy="228600"/>
          </a:xfrm>
          <a:prstGeom prst="rect">
            <a:avLst/>
          </a:prstGeom>
          <a:noFill/>
          <a:ln/>
        </p:spPr>
        <p:txBody>
          <a:bodyPr wrap="square" rtlCol="0" anchor="ctr"/>
          <a:lstStyle/>
          <a:p>
            <a:pPr algn="r" indent="0" marL="0">
              <a:buNone/>
            </a:pPr>
            <a:r>
              <a:rPr lang="en-US" sz="900" dirty="0">
                <a:solidFill>
                  <a:srgbClr val="C8BCA8"/>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2EBD9"/>
          </a:solidFill>
          <a:ln w="12700">
            <a:solidFill>
              <a:srgbClr val="F2EBD9"/>
            </a:solidFill>
            <a:prstDash val="solid"/>
          </a:ln>
        </p:spPr>
      </p:sp>
      <p:sp>
        <p:nvSpPr>
          <p:cNvPr id="3" name="Shape 1"/>
          <p:cNvSpPr/>
          <p:nvPr/>
        </p:nvSpPr>
        <p:spPr>
          <a:xfrm>
            <a:off x="0" y="0"/>
            <a:ext cx="164592" cy="5143500"/>
          </a:xfrm>
          <a:prstGeom prst="rect">
            <a:avLst/>
          </a:prstGeom>
          <a:solidFill>
            <a:srgbClr val="8C6914"/>
          </a:solidFill>
          <a:ln w="12700">
            <a:solidFill>
              <a:srgbClr val="8C6914"/>
            </a:solidFill>
            <a:prstDash val="solid"/>
          </a:ln>
        </p:spPr>
      </p:sp>
      <p:sp>
        <p:nvSpPr>
          <p:cNvPr id="4" name="Shape 2"/>
          <p:cNvSpPr/>
          <p:nvPr/>
        </p:nvSpPr>
        <p:spPr>
          <a:xfrm>
            <a:off x="411480" y="201168"/>
            <a:ext cx="2121408" cy="292608"/>
          </a:xfrm>
          <a:prstGeom prst="roundRect">
            <a:avLst>
              <a:gd name="adj" fmla="val 25000"/>
            </a:avLst>
          </a:prstGeom>
          <a:solidFill>
            <a:srgbClr val="F5DFA0"/>
          </a:solidFill>
          <a:ln w="12700">
            <a:solidFill>
              <a:srgbClr val="F5DFA0"/>
            </a:solidFill>
            <a:prstDash val="solid"/>
          </a:ln>
        </p:spPr>
      </p:sp>
      <p:sp>
        <p:nvSpPr>
          <p:cNvPr id="5" name="Text 3"/>
          <p:cNvSpPr/>
          <p:nvPr/>
        </p:nvSpPr>
        <p:spPr>
          <a:xfrm>
            <a:off x="448056" y="219456"/>
            <a:ext cx="2048256" cy="256032"/>
          </a:xfrm>
          <a:prstGeom prst="rect">
            <a:avLst/>
          </a:prstGeom>
          <a:noFill/>
          <a:ln/>
        </p:spPr>
        <p:txBody>
          <a:bodyPr wrap="square" rtlCol="0" anchor="ctr"/>
          <a:lstStyle/>
          <a:p>
            <a:pPr indent="0" marL="0">
              <a:buNone/>
            </a:pPr>
            <a:r>
              <a:rPr lang="en-US" sz="1100" b="1" dirty="0">
                <a:solidFill>
                  <a:srgbClr val="B5451B"/>
                </a:solidFill>
                <a:latin typeface="Calibri" pitchFamily="34" charset="0"/>
                <a:ea typeface="Calibri" pitchFamily="34" charset="-122"/>
                <a:cs typeface="Calibri" pitchFamily="34" charset="-120"/>
              </a:rPr>
              <a:t>Class Exercise</a:t>
            </a:r>
            <a:endParaRPr lang="en-US" sz="1100" dirty="0"/>
          </a:p>
        </p:txBody>
      </p:sp>
      <p:sp>
        <p:nvSpPr>
          <p:cNvPr id="6" name="Text 4"/>
          <p:cNvSpPr/>
          <p:nvPr/>
        </p:nvSpPr>
        <p:spPr>
          <a:xfrm>
            <a:off x="411480" y="512064"/>
            <a:ext cx="8321040" cy="548640"/>
          </a:xfrm>
          <a:prstGeom prst="rect">
            <a:avLst/>
          </a:prstGeom>
          <a:noFill/>
          <a:ln/>
        </p:spPr>
        <p:txBody>
          <a:bodyPr wrap="square" rtlCol="0" anchor="ctr"/>
          <a:lstStyle/>
          <a:p>
            <a:pPr indent="0" marL="0">
              <a:buNone/>
            </a:pPr>
            <a:r>
              <a:rPr lang="en-US" sz="3000" b="1" dirty="0">
                <a:solidFill>
                  <a:srgbClr val="2B1F0F"/>
                </a:solidFill>
                <a:latin typeface="Georgia" pitchFamily="34" charset="0"/>
                <a:ea typeface="Georgia" pitchFamily="34" charset="-122"/>
                <a:cs typeface="Georgia" pitchFamily="34" charset="-120"/>
              </a:rPr>
              <a:t>Now It's Your Turn</a:t>
            </a:r>
            <a:endParaRPr lang="en-US" sz="3000" dirty="0"/>
          </a:p>
        </p:txBody>
      </p:sp>
      <p:sp>
        <p:nvSpPr>
          <p:cNvPr id="7" name="Text 5"/>
          <p:cNvSpPr/>
          <p:nvPr/>
        </p:nvSpPr>
        <p:spPr>
          <a:xfrm>
            <a:off x="411480" y="1097280"/>
            <a:ext cx="8321040" cy="365760"/>
          </a:xfrm>
          <a:prstGeom prst="rect">
            <a:avLst/>
          </a:prstGeom>
          <a:noFill/>
          <a:ln/>
        </p:spPr>
        <p:txBody>
          <a:bodyPr wrap="square" rtlCol="0" anchor="ctr"/>
          <a:lstStyle/>
          <a:p>
            <a:pPr indent="0" marL="0">
              <a:buNone/>
            </a:pPr>
            <a:r>
              <a:rPr lang="en-US" sz="1400" i="1" dirty="0">
                <a:solidFill>
                  <a:srgbClr val="6B5740"/>
                </a:solidFill>
                <a:latin typeface="Calibri" pitchFamily="34" charset="0"/>
                <a:ea typeface="Calibri" pitchFamily="34" charset="-122"/>
                <a:cs typeface="Calibri" pitchFamily="34" charset="-120"/>
              </a:rPr>
              <a:t>Pick any event, meal, or project from your own life. Apply the seven steps.</a:t>
            </a:r>
            <a:endParaRPr lang="en-US" sz="1400" dirty="0"/>
          </a:p>
        </p:txBody>
      </p:sp>
      <p:sp>
        <p:nvSpPr>
          <p:cNvPr id="8" name="Shape 6"/>
          <p:cNvSpPr/>
          <p:nvPr/>
        </p:nvSpPr>
        <p:spPr>
          <a:xfrm>
            <a:off x="347472" y="1572768"/>
            <a:ext cx="4160520" cy="841248"/>
          </a:xfrm>
          <a:prstGeom prst="roundRect">
            <a:avLst>
              <a:gd name="adj" fmla="val 6522"/>
            </a:avLst>
          </a:prstGeom>
          <a:solidFill>
            <a:srgbClr val="FBF6EE"/>
          </a:solidFill>
          <a:ln w="12700">
            <a:solidFill>
              <a:srgbClr val="F5DFA0"/>
            </a:solidFill>
            <a:prstDash val="solid"/>
          </a:ln>
        </p:spPr>
      </p:sp>
      <p:sp>
        <p:nvSpPr>
          <p:cNvPr id="9" name="Text 7"/>
          <p:cNvSpPr/>
          <p:nvPr/>
        </p:nvSpPr>
        <p:spPr>
          <a:xfrm>
            <a:off x="502920" y="1636776"/>
            <a:ext cx="3749040" cy="274320"/>
          </a:xfrm>
          <a:prstGeom prst="rect">
            <a:avLst/>
          </a:prstGeom>
          <a:noFill/>
          <a:ln/>
        </p:spPr>
        <p:txBody>
          <a:bodyPr wrap="square" rtlCol="0" anchor="ctr"/>
          <a:lstStyle/>
          <a:p>
            <a:pPr indent="0" marL="0">
              <a:buNone/>
            </a:pPr>
            <a:r>
              <a:rPr lang="en-US" sz="1200" b="1" dirty="0">
                <a:solidFill>
                  <a:srgbClr val="8C6914"/>
                </a:solidFill>
                <a:latin typeface="Georgia" pitchFamily="34" charset="0"/>
                <a:ea typeface="Georgia" pitchFamily="34" charset="-122"/>
                <a:cs typeface="Georgia" pitchFamily="34" charset="-120"/>
              </a:rPr>
              <a:t>01  Define Scope</a:t>
            </a:r>
            <a:endParaRPr lang="en-US" sz="1200" dirty="0"/>
          </a:p>
        </p:txBody>
      </p:sp>
      <p:sp>
        <p:nvSpPr>
          <p:cNvPr id="10" name="Text 8"/>
          <p:cNvSpPr/>
          <p:nvPr/>
        </p:nvSpPr>
        <p:spPr>
          <a:xfrm>
            <a:off x="502920" y="1938528"/>
            <a:ext cx="3749040" cy="420624"/>
          </a:xfrm>
          <a:prstGeom prst="rect">
            <a:avLst/>
          </a:prstGeom>
          <a:noFill/>
          <a:ln/>
        </p:spPr>
        <p:txBody>
          <a:bodyPr wrap="square" rtlCol="0" anchor="ctr"/>
          <a:lstStyle/>
          <a:p>
            <a:pPr indent="0" marL="0">
              <a:lnSpc>
                <a:spcPct val="120000"/>
              </a:lnSpc>
              <a:buNone/>
            </a:pPr>
            <a:r>
              <a:rPr lang="en-US" sz="1050" dirty="0">
                <a:solidFill>
                  <a:srgbClr val="2B1F0F"/>
                </a:solidFill>
                <a:latin typeface="Calibri" pitchFamily="34" charset="0"/>
                <a:ea typeface="Calibri" pitchFamily="34" charset="-122"/>
                <a:cs typeface="Calibri" pitchFamily="34" charset="-120"/>
              </a:rPr>
              <a:t>What are you planning? How big? For whom? What is explicitly NOT included?</a:t>
            </a:r>
            <a:endParaRPr lang="en-US" sz="1050" dirty="0"/>
          </a:p>
        </p:txBody>
      </p:sp>
      <p:sp>
        <p:nvSpPr>
          <p:cNvPr id="11" name="Shape 9"/>
          <p:cNvSpPr/>
          <p:nvPr/>
        </p:nvSpPr>
        <p:spPr>
          <a:xfrm>
            <a:off x="347472" y="2523744"/>
            <a:ext cx="4160520" cy="841248"/>
          </a:xfrm>
          <a:prstGeom prst="roundRect">
            <a:avLst>
              <a:gd name="adj" fmla="val 6522"/>
            </a:avLst>
          </a:prstGeom>
          <a:solidFill>
            <a:srgbClr val="FBF6EE"/>
          </a:solidFill>
          <a:ln w="12700">
            <a:solidFill>
              <a:srgbClr val="F5DFA0"/>
            </a:solidFill>
            <a:prstDash val="solid"/>
          </a:ln>
        </p:spPr>
      </p:sp>
      <p:sp>
        <p:nvSpPr>
          <p:cNvPr id="12" name="Text 10"/>
          <p:cNvSpPr/>
          <p:nvPr/>
        </p:nvSpPr>
        <p:spPr>
          <a:xfrm>
            <a:off x="502920" y="2587752"/>
            <a:ext cx="3749040" cy="274320"/>
          </a:xfrm>
          <a:prstGeom prst="rect">
            <a:avLst/>
          </a:prstGeom>
          <a:noFill/>
          <a:ln/>
        </p:spPr>
        <p:txBody>
          <a:bodyPr wrap="square" rtlCol="0" anchor="ctr"/>
          <a:lstStyle/>
          <a:p>
            <a:pPr indent="0" marL="0">
              <a:buNone/>
            </a:pPr>
            <a:r>
              <a:rPr lang="en-US" sz="1200" b="1" dirty="0">
                <a:solidFill>
                  <a:srgbClr val="8C6914"/>
                </a:solidFill>
                <a:latin typeface="Georgia" pitchFamily="34" charset="0"/>
                <a:ea typeface="Georgia" pitchFamily="34" charset="-122"/>
                <a:cs typeface="Georgia" pitchFamily="34" charset="-120"/>
              </a:rPr>
              <a:t>02  Make a Plan</a:t>
            </a:r>
            <a:endParaRPr lang="en-US" sz="1200" dirty="0"/>
          </a:p>
        </p:txBody>
      </p:sp>
      <p:sp>
        <p:nvSpPr>
          <p:cNvPr id="13" name="Text 11"/>
          <p:cNvSpPr/>
          <p:nvPr/>
        </p:nvSpPr>
        <p:spPr>
          <a:xfrm>
            <a:off x="502920" y="2889504"/>
            <a:ext cx="3749040" cy="420624"/>
          </a:xfrm>
          <a:prstGeom prst="rect">
            <a:avLst/>
          </a:prstGeom>
          <a:noFill/>
          <a:ln/>
        </p:spPr>
        <p:txBody>
          <a:bodyPr wrap="square" rtlCol="0" anchor="ctr"/>
          <a:lstStyle/>
          <a:p>
            <a:pPr indent="0" marL="0">
              <a:lnSpc>
                <a:spcPct val="120000"/>
              </a:lnSpc>
              <a:buNone/>
            </a:pPr>
            <a:r>
              <a:rPr lang="en-US" sz="1050" dirty="0">
                <a:solidFill>
                  <a:srgbClr val="2B1F0F"/>
                </a:solidFill>
                <a:latin typeface="Calibri" pitchFamily="34" charset="0"/>
                <a:ea typeface="Calibri" pitchFamily="34" charset="-122"/>
                <a:cs typeface="Calibri" pitchFamily="34" charset="-120"/>
              </a:rPr>
              <a:t>What needs to happen? Who is involved? What do you need to have or get?</a:t>
            </a:r>
            <a:endParaRPr lang="en-US" sz="1050" dirty="0"/>
          </a:p>
        </p:txBody>
      </p:sp>
      <p:sp>
        <p:nvSpPr>
          <p:cNvPr id="14" name="Shape 12"/>
          <p:cNvSpPr/>
          <p:nvPr/>
        </p:nvSpPr>
        <p:spPr>
          <a:xfrm>
            <a:off x="347472" y="3474720"/>
            <a:ext cx="4160520" cy="841248"/>
          </a:xfrm>
          <a:prstGeom prst="roundRect">
            <a:avLst>
              <a:gd name="adj" fmla="val 6522"/>
            </a:avLst>
          </a:prstGeom>
          <a:solidFill>
            <a:srgbClr val="FBF6EE"/>
          </a:solidFill>
          <a:ln w="12700">
            <a:solidFill>
              <a:srgbClr val="F5DFA0"/>
            </a:solidFill>
            <a:prstDash val="solid"/>
          </a:ln>
        </p:spPr>
      </p:sp>
      <p:sp>
        <p:nvSpPr>
          <p:cNvPr id="15" name="Text 13"/>
          <p:cNvSpPr/>
          <p:nvPr/>
        </p:nvSpPr>
        <p:spPr>
          <a:xfrm>
            <a:off x="502920" y="3538728"/>
            <a:ext cx="3749040" cy="274320"/>
          </a:xfrm>
          <a:prstGeom prst="rect">
            <a:avLst/>
          </a:prstGeom>
          <a:noFill/>
          <a:ln/>
        </p:spPr>
        <p:txBody>
          <a:bodyPr wrap="square" rtlCol="0" anchor="ctr"/>
          <a:lstStyle/>
          <a:p>
            <a:pPr indent="0" marL="0">
              <a:buNone/>
            </a:pPr>
            <a:r>
              <a:rPr lang="en-US" sz="1200" b="1" dirty="0">
                <a:solidFill>
                  <a:srgbClr val="8C6914"/>
                </a:solidFill>
                <a:latin typeface="Georgia" pitchFamily="34" charset="0"/>
                <a:ea typeface="Georgia" pitchFamily="34" charset="-122"/>
                <a:cs typeface="Georgia" pitchFamily="34" charset="-120"/>
              </a:rPr>
              <a:t>03  Timeline</a:t>
            </a:r>
            <a:endParaRPr lang="en-US" sz="1200" dirty="0"/>
          </a:p>
        </p:txBody>
      </p:sp>
      <p:sp>
        <p:nvSpPr>
          <p:cNvPr id="16" name="Text 14"/>
          <p:cNvSpPr/>
          <p:nvPr/>
        </p:nvSpPr>
        <p:spPr>
          <a:xfrm>
            <a:off x="502920" y="3840480"/>
            <a:ext cx="3749040" cy="420624"/>
          </a:xfrm>
          <a:prstGeom prst="rect">
            <a:avLst/>
          </a:prstGeom>
          <a:noFill/>
          <a:ln/>
        </p:spPr>
        <p:txBody>
          <a:bodyPr wrap="square" rtlCol="0" anchor="ctr"/>
          <a:lstStyle/>
          <a:p>
            <a:pPr indent="0" marL="0">
              <a:lnSpc>
                <a:spcPct val="120000"/>
              </a:lnSpc>
              <a:buNone/>
            </a:pPr>
            <a:r>
              <a:rPr lang="en-US" sz="1050" dirty="0">
                <a:solidFill>
                  <a:srgbClr val="2B1F0F"/>
                </a:solidFill>
                <a:latin typeface="Calibri" pitchFamily="34" charset="0"/>
                <a:ea typeface="Calibri" pitchFamily="34" charset="-122"/>
                <a:cs typeface="Calibri" pitchFamily="34" charset="-120"/>
              </a:rPr>
              <a:t>What order do things happen in? What can run in parallel? What is your critical path?</a:t>
            </a:r>
            <a:endParaRPr lang="en-US" sz="1050" dirty="0"/>
          </a:p>
        </p:txBody>
      </p:sp>
      <p:sp>
        <p:nvSpPr>
          <p:cNvPr id="17" name="Shape 15"/>
          <p:cNvSpPr/>
          <p:nvPr/>
        </p:nvSpPr>
        <p:spPr>
          <a:xfrm>
            <a:off x="347472" y="4425696"/>
            <a:ext cx="4160520" cy="841248"/>
          </a:xfrm>
          <a:prstGeom prst="roundRect">
            <a:avLst>
              <a:gd name="adj" fmla="val 6522"/>
            </a:avLst>
          </a:prstGeom>
          <a:solidFill>
            <a:srgbClr val="FBF6EE"/>
          </a:solidFill>
          <a:ln w="12700">
            <a:solidFill>
              <a:srgbClr val="F5DFA0"/>
            </a:solidFill>
            <a:prstDash val="solid"/>
          </a:ln>
        </p:spPr>
      </p:sp>
      <p:sp>
        <p:nvSpPr>
          <p:cNvPr id="18" name="Text 16"/>
          <p:cNvSpPr/>
          <p:nvPr/>
        </p:nvSpPr>
        <p:spPr>
          <a:xfrm>
            <a:off x="502920" y="4489704"/>
            <a:ext cx="3749040" cy="274320"/>
          </a:xfrm>
          <a:prstGeom prst="rect">
            <a:avLst/>
          </a:prstGeom>
          <a:noFill/>
          <a:ln/>
        </p:spPr>
        <p:txBody>
          <a:bodyPr wrap="square" rtlCol="0" anchor="ctr"/>
          <a:lstStyle/>
          <a:p>
            <a:pPr indent="0" marL="0">
              <a:buNone/>
            </a:pPr>
            <a:r>
              <a:rPr lang="en-US" sz="1200" b="1" dirty="0">
                <a:solidFill>
                  <a:srgbClr val="8C6914"/>
                </a:solidFill>
                <a:latin typeface="Georgia" pitchFamily="34" charset="0"/>
                <a:ea typeface="Georgia" pitchFamily="34" charset="-122"/>
                <a:cs typeface="Georgia" pitchFamily="34" charset="-120"/>
              </a:rPr>
              <a:t>04  Risk Assessment</a:t>
            </a:r>
            <a:endParaRPr lang="en-US" sz="1200" dirty="0"/>
          </a:p>
        </p:txBody>
      </p:sp>
      <p:sp>
        <p:nvSpPr>
          <p:cNvPr id="19" name="Text 17"/>
          <p:cNvSpPr/>
          <p:nvPr/>
        </p:nvSpPr>
        <p:spPr>
          <a:xfrm>
            <a:off x="502920" y="4791456"/>
            <a:ext cx="3749040" cy="420624"/>
          </a:xfrm>
          <a:prstGeom prst="rect">
            <a:avLst/>
          </a:prstGeom>
          <a:noFill/>
          <a:ln/>
        </p:spPr>
        <p:txBody>
          <a:bodyPr wrap="square" rtlCol="0" anchor="ctr"/>
          <a:lstStyle/>
          <a:p>
            <a:pPr indent="0" marL="0">
              <a:lnSpc>
                <a:spcPct val="120000"/>
              </a:lnSpc>
              <a:buNone/>
            </a:pPr>
            <a:r>
              <a:rPr lang="en-US" sz="1050" dirty="0">
                <a:solidFill>
                  <a:srgbClr val="2B1F0F"/>
                </a:solidFill>
                <a:latin typeface="Calibri" pitchFamily="34" charset="0"/>
                <a:ea typeface="Calibri" pitchFamily="34" charset="-122"/>
                <a:cs typeface="Calibri" pitchFamily="34" charset="-120"/>
              </a:rPr>
              <a:t>What could go wrong? Rate each: likelihood x impact. What gets a backup plan?</a:t>
            </a:r>
            <a:endParaRPr lang="en-US" sz="1050" dirty="0"/>
          </a:p>
        </p:txBody>
      </p:sp>
      <p:sp>
        <p:nvSpPr>
          <p:cNvPr id="20" name="Shape 18"/>
          <p:cNvSpPr/>
          <p:nvPr/>
        </p:nvSpPr>
        <p:spPr>
          <a:xfrm>
            <a:off x="4645152" y="1572768"/>
            <a:ext cx="4160520" cy="841248"/>
          </a:xfrm>
          <a:prstGeom prst="roundRect">
            <a:avLst>
              <a:gd name="adj" fmla="val 6522"/>
            </a:avLst>
          </a:prstGeom>
          <a:solidFill>
            <a:srgbClr val="FBF6EE"/>
          </a:solidFill>
          <a:ln w="12700">
            <a:solidFill>
              <a:srgbClr val="F5DFA0"/>
            </a:solidFill>
            <a:prstDash val="solid"/>
          </a:ln>
        </p:spPr>
      </p:sp>
      <p:sp>
        <p:nvSpPr>
          <p:cNvPr id="21" name="Text 19"/>
          <p:cNvSpPr/>
          <p:nvPr/>
        </p:nvSpPr>
        <p:spPr>
          <a:xfrm>
            <a:off x="4800600" y="1636776"/>
            <a:ext cx="3749040" cy="274320"/>
          </a:xfrm>
          <a:prstGeom prst="rect">
            <a:avLst/>
          </a:prstGeom>
          <a:noFill/>
          <a:ln/>
        </p:spPr>
        <p:txBody>
          <a:bodyPr wrap="square" rtlCol="0" anchor="ctr"/>
          <a:lstStyle/>
          <a:p>
            <a:pPr indent="0" marL="0">
              <a:buNone/>
            </a:pPr>
            <a:r>
              <a:rPr lang="en-US" sz="1200" b="1" dirty="0">
                <a:solidFill>
                  <a:srgbClr val="8C6914"/>
                </a:solidFill>
                <a:latin typeface="Georgia" pitchFamily="34" charset="0"/>
                <a:ea typeface="Georgia" pitchFamily="34" charset="-122"/>
                <a:cs typeface="Georgia" pitchFamily="34" charset="-120"/>
              </a:rPr>
              <a:t>05  Stakeholders</a:t>
            </a:r>
            <a:endParaRPr lang="en-US" sz="1200" dirty="0"/>
          </a:p>
        </p:txBody>
      </p:sp>
      <p:sp>
        <p:nvSpPr>
          <p:cNvPr id="22" name="Text 20"/>
          <p:cNvSpPr/>
          <p:nvPr/>
        </p:nvSpPr>
        <p:spPr>
          <a:xfrm>
            <a:off x="4800600" y="1938528"/>
            <a:ext cx="3749040" cy="420624"/>
          </a:xfrm>
          <a:prstGeom prst="rect">
            <a:avLst/>
          </a:prstGeom>
          <a:noFill/>
          <a:ln/>
        </p:spPr>
        <p:txBody>
          <a:bodyPr wrap="square" rtlCol="0" anchor="ctr"/>
          <a:lstStyle/>
          <a:p>
            <a:pPr indent="0" marL="0">
              <a:lnSpc>
                <a:spcPct val="120000"/>
              </a:lnSpc>
              <a:buNone/>
            </a:pPr>
            <a:r>
              <a:rPr lang="en-US" sz="1050" dirty="0">
                <a:solidFill>
                  <a:srgbClr val="2B1F0F"/>
                </a:solidFill>
                <a:latin typeface="Calibri" pitchFamily="34" charset="0"/>
                <a:ea typeface="Calibri" pitchFamily="34" charset="-122"/>
                <a:cs typeface="Calibri" pitchFamily="34" charset="-120"/>
              </a:rPr>
              <a:t>Who has a stake in the outcome? What do they need from you, and when?</a:t>
            </a:r>
            <a:endParaRPr lang="en-US" sz="1050" dirty="0"/>
          </a:p>
        </p:txBody>
      </p:sp>
      <p:sp>
        <p:nvSpPr>
          <p:cNvPr id="23" name="Shape 21"/>
          <p:cNvSpPr/>
          <p:nvPr/>
        </p:nvSpPr>
        <p:spPr>
          <a:xfrm>
            <a:off x="4645152" y="2523744"/>
            <a:ext cx="4160520" cy="841248"/>
          </a:xfrm>
          <a:prstGeom prst="roundRect">
            <a:avLst>
              <a:gd name="adj" fmla="val 6522"/>
            </a:avLst>
          </a:prstGeom>
          <a:solidFill>
            <a:srgbClr val="FBF6EE"/>
          </a:solidFill>
          <a:ln w="12700">
            <a:solidFill>
              <a:srgbClr val="F5DFA0"/>
            </a:solidFill>
            <a:prstDash val="solid"/>
          </a:ln>
        </p:spPr>
      </p:sp>
      <p:sp>
        <p:nvSpPr>
          <p:cNvPr id="24" name="Text 22"/>
          <p:cNvSpPr/>
          <p:nvPr/>
        </p:nvSpPr>
        <p:spPr>
          <a:xfrm>
            <a:off x="4800600" y="2587752"/>
            <a:ext cx="3749040" cy="274320"/>
          </a:xfrm>
          <a:prstGeom prst="rect">
            <a:avLst/>
          </a:prstGeom>
          <a:noFill/>
          <a:ln/>
        </p:spPr>
        <p:txBody>
          <a:bodyPr wrap="square" rtlCol="0" anchor="ctr"/>
          <a:lstStyle/>
          <a:p>
            <a:pPr indent="0" marL="0">
              <a:buNone/>
            </a:pPr>
            <a:r>
              <a:rPr lang="en-US" sz="1200" b="1" dirty="0">
                <a:solidFill>
                  <a:srgbClr val="8C6914"/>
                </a:solidFill>
                <a:latin typeface="Georgia" pitchFamily="34" charset="0"/>
                <a:ea typeface="Georgia" pitchFamily="34" charset="-122"/>
                <a:cs typeface="Georgia" pitchFamily="34" charset="-120"/>
              </a:rPr>
              <a:t>06  Team</a:t>
            </a:r>
            <a:endParaRPr lang="en-US" sz="1200" dirty="0"/>
          </a:p>
        </p:txBody>
      </p:sp>
      <p:sp>
        <p:nvSpPr>
          <p:cNvPr id="25" name="Text 23"/>
          <p:cNvSpPr/>
          <p:nvPr/>
        </p:nvSpPr>
        <p:spPr>
          <a:xfrm>
            <a:off x="4800600" y="2889504"/>
            <a:ext cx="3749040" cy="420624"/>
          </a:xfrm>
          <a:prstGeom prst="rect">
            <a:avLst/>
          </a:prstGeom>
          <a:noFill/>
          <a:ln/>
        </p:spPr>
        <p:txBody>
          <a:bodyPr wrap="square" rtlCol="0" anchor="ctr"/>
          <a:lstStyle/>
          <a:p>
            <a:pPr indent="0" marL="0">
              <a:lnSpc>
                <a:spcPct val="120000"/>
              </a:lnSpc>
              <a:buNone/>
            </a:pPr>
            <a:r>
              <a:rPr lang="en-US" sz="1050" dirty="0">
                <a:solidFill>
                  <a:srgbClr val="2B1F0F"/>
                </a:solidFill>
                <a:latin typeface="Calibri" pitchFamily="34" charset="0"/>
                <a:ea typeface="Calibri" pitchFamily="34" charset="-122"/>
                <a:cs typeface="Calibri" pitchFamily="34" charset="-120"/>
              </a:rPr>
              <a:t>Who is doing what? How are you delegating? What does success look like for each person?</a:t>
            </a:r>
            <a:endParaRPr lang="en-US" sz="1050" dirty="0"/>
          </a:p>
        </p:txBody>
      </p:sp>
      <p:sp>
        <p:nvSpPr>
          <p:cNvPr id="26" name="Shape 24"/>
          <p:cNvSpPr/>
          <p:nvPr/>
        </p:nvSpPr>
        <p:spPr>
          <a:xfrm>
            <a:off x="4645152" y="3474720"/>
            <a:ext cx="4160520" cy="841248"/>
          </a:xfrm>
          <a:prstGeom prst="roundRect">
            <a:avLst>
              <a:gd name="adj" fmla="val 6522"/>
            </a:avLst>
          </a:prstGeom>
          <a:solidFill>
            <a:srgbClr val="FBF6EE"/>
          </a:solidFill>
          <a:ln w="12700">
            <a:solidFill>
              <a:srgbClr val="F5DFA0"/>
            </a:solidFill>
            <a:prstDash val="solid"/>
          </a:ln>
        </p:spPr>
      </p:sp>
      <p:sp>
        <p:nvSpPr>
          <p:cNvPr id="27" name="Text 25"/>
          <p:cNvSpPr/>
          <p:nvPr/>
        </p:nvSpPr>
        <p:spPr>
          <a:xfrm>
            <a:off x="4800600" y="3538728"/>
            <a:ext cx="3749040" cy="274320"/>
          </a:xfrm>
          <a:prstGeom prst="rect">
            <a:avLst/>
          </a:prstGeom>
          <a:noFill/>
          <a:ln/>
        </p:spPr>
        <p:txBody>
          <a:bodyPr wrap="square" rtlCol="0" anchor="ctr"/>
          <a:lstStyle/>
          <a:p>
            <a:pPr indent="0" marL="0">
              <a:buNone/>
            </a:pPr>
            <a:r>
              <a:rPr lang="en-US" sz="1200" b="1" dirty="0">
                <a:solidFill>
                  <a:srgbClr val="8C6914"/>
                </a:solidFill>
                <a:latin typeface="Georgia" pitchFamily="34" charset="0"/>
                <a:ea typeface="Georgia" pitchFamily="34" charset="-122"/>
                <a:cs typeface="Georgia" pitchFamily="34" charset="-120"/>
              </a:rPr>
              <a:t>07  Retrospective</a:t>
            </a:r>
            <a:endParaRPr lang="en-US" sz="1200" dirty="0"/>
          </a:p>
        </p:txBody>
      </p:sp>
      <p:sp>
        <p:nvSpPr>
          <p:cNvPr id="28" name="Text 26"/>
          <p:cNvSpPr/>
          <p:nvPr/>
        </p:nvSpPr>
        <p:spPr>
          <a:xfrm>
            <a:off x="4800600" y="3840480"/>
            <a:ext cx="3749040" cy="420624"/>
          </a:xfrm>
          <a:prstGeom prst="rect">
            <a:avLst/>
          </a:prstGeom>
          <a:noFill/>
          <a:ln/>
        </p:spPr>
        <p:txBody>
          <a:bodyPr wrap="square" rtlCol="0" anchor="ctr"/>
          <a:lstStyle/>
          <a:p>
            <a:pPr indent="0" marL="0">
              <a:lnSpc>
                <a:spcPct val="120000"/>
              </a:lnSpc>
              <a:buNone/>
            </a:pPr>
            <a:r>
              <a:rPr lang="en-US" sz="1050" dirty="0">
                <a:solidFill>
                  <a:srgbClr val="2B1F0F"/>
                </a:solidFill>
                <a:latin typeface="Calibri" pitchFamily="34" charset="0"/>
                <a:ea typeface="Calibri" pitchFamily="34" charset="-122"/>
                <a:cs typeface="Calibri" pitchFamily="34" charset="-120"/>
              </a:rPr>
              <a:t>After it's done - what worked, what didn't, what changes next time?</a:t>
            </a:r>
            <a:endParaRPr lang="en-US" sz="1050" dirty="0"/>
          </a:p>
        </p:txBody>
      </p:sp>
      <p:sp>
        <p:nvSpPr>
          <p:cNvPr id="29" name="Text 27"/>
          <p:cNvSpPr/>
          <p:nvPr/>
        </p:nvSpPr>
        <p:spPr>
          <a:xfrm>
            <a:off x="347472" y="5687568"/>
            <a:ext cx="8458200" cy="274320"/>
          </a:xfrm>
          <a:prstGeom prst="rect">
            <a:avLst/>
          </a:prstGeom>
          <a:noFill/>
          <a:ln/>
        </p:spPr>
        <p:txBody>
          <a:bodyPr wrap="square" rtlCol="0" anchor="ctr"/>
          <a:lstStyle/>
          <a:p>
            <a:pPr indent="0" marL="0">
              <a:buNone/>
            </a:pPr>
            <a:r>
              <a:rPr lang="en-US" sz="1050" i="1" dirty="0">
                <a:solidFill>
                  <a:srgbClr val="6B5740"/>
                </a:solidFill>
                <a:latin typeface="Calibri" pitchFamily="34" charset="0"/>
                <a:ea typeface="Calibri" pitchFamily="34" charset="-122"/>
                <a:cs typeface="Calibri" pitchFamily="34" charset="-120"/>
              </a:rPr>
              <a:t>2-3 minute overview to the group. Objective, stakeholders, one risk, and your critical path.</a:t>
            </a:r>
            <a:endParaRPr lang="en-US" sz="1050" dirty="0"/>
          </a:p>
        </p:txBody>
      </p:sp>
      <p:sp>
        <p:nvSpPr>
          <p:cNvPr id="30" name="Text 28"/>
          <p:cNvSpPr/>
          <p:nvPr/>
        </p:nvSpPr>
        <p:spPr>
          <a:xfrm>
            <a:off x="7863840" y="6217920"/>
            <a:ext cx="1097280" cy="228600"/>
          </a:xfrm>
          <a:prstGeom prst="rect">
            <a:avLst/>
          </a:prstGeom>
          <a:noFill/>
          <a:ln/>
        </p:spPr>
        <p:txBody>
          <a:bodyPr wrap="square" rtlCol="0" anchor="ctr"/>
          <a:lstStyle/>
          <a:p>
            <a:pPr algn="r" indent="0" marL="0">
              <a:buNone/>
            </a:pPr>
            <a:r>
              <a:rPr lang="en-US" sz="900" dirty="0">
                <a:solidFill>
                  <a:srgbClr val="C8BCA8"/>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1208"/>
          </a:solidFill>
          <a:ln w="12700">
            <a:solidFill>
              <a:srgbClr val="1C1208"/>
            </a:solidFill>
            <a:prstDash val="solid"/>
          </a:ln>
        </p:spPr>
      </p:sp>
      <p:sp>
        <p:nvSpPr>
          <p:cNvPr id="3" name="Text 1"/>
          <p:cNvSpPr/>
          <p:nvPr/>
        </p:nvSpPr>
        <p:spPr>
          <a:xfrm>
            <a:off x="182880" y="-365760"/>
            <a:ext cx="2743200" cy="2743200"/>
          </a:xfrm>
          <a:prstGeom prst="rect">
            <a:avLst/>
          </a:prstGeom>
          <a:noFill/>
          <a:ln/>
        </p:spPr>
        <p:txBody>
          <a:bodyPr wrap="square" rtlCol="0" anchor="ctr"/>
          <a:lstStyle/>
          <a:p>
            <a:pPr indent="0" marL="0">
              <a:buNone/>
            </a:pPr>
            <a:r>
              <a:rPr lang="en-US" sz="26000" b="1" dirty="0">
                <a:solidFill>
                  <a:srgbClr val="2A1A08"/>
                </a:solidFill>
                <a:latin typeface="Georgia" pitchFamily="34" charset="0"/>
                <a:ea typeface="Georgia" pitchFamily="34" charset="-122"/>
                <a:cs typeface="Georgia" pitchFamily="34" charset="-120"/>
              </a:rPr>
              <a:t>“</a:t>
            </a:r>
            <a:endParaRPr lang="en-US" sz="26000" dirty="0"/>
          </a:p>
        </p:txBody>
      </p:sp>
      <p:sp>
        <p:nvSpPr>
          <p:cNvPr id="4" name="Text 2"/>
          <p:cNvSpPr/>
          <p:nvPr/>
        </p:nvSpPr>
        <p:spPr>
          <a:xfrm>
            <a:off x="914400" y="1645920"/>
            <a:ext cx="7132320" cy="1371600"/>
          </a:xfrm>
          <a:prstGeom prst="rect">
            <a:avLst/>
          </a:prstGeom>
          <a:noFill/>
          <a:ln/>
        </p:spPr>
        <p:txBody>
          <a:bodyPr wrap="square" rtlCol="0" anchor="ctr"/>
          <a:lstStyle/>
          <a:p>
            <a:pPr algn="ctr" indent="0" marL="0">
              <a:lnSpc>
                <a:spcPct val="130000"/>
              </a:lnSpc>
              <a:buNone/>
            </a:pPr>
            <a:r>
              <a:rPr lang="en-US" sz="3400" i="1" dirty="0">
                <a:solidFill>
                  <a:srgbClr val="FBF6EE"/>
                </a:solidFill>
                <a:latin typeface="Georgia" pitchFamily="34" charset="0"/>
                <a:ea typeface="Georgia" pitchFamily="34" charset="-122"/>
                <a:cs typeface="Georgia" pitchFamily="34" charset="-120"/>
              </a:rPr>
              <a:t>If you can plan a Thanksgiving dinner, you can manage a project.</a:t>
            </a:r>
            <a:endParaRPr lang="en-US" sz="3400" dirty="0"/>
          </a:p>
        </p:txBody>
      </p:sp>
      <p:sp>
        <p:nvSpPr>
          <p:cNvPr id="5" name="Text 3"/>
          <p:cNvSpPr/>
          <p:nvPr/>
        </p:nvSpPr>
        <p:spPr>
          <a:xfrm>
            <a:off x="1371600" y="3246120"/>
            <a:ext cx="6217920" cy="502920"/>
          </a:xfrm>
          <a:prstGeom prst="rect">
            <a:avLst/>
          </a:prstGeom>
          <a:noFill/>
          <a:ln/>
        </p:spPr>
        <p:txBody>
          <a:bodyPr wrap="square" rtlCol="0" anchor="ctr"/>
          <a:lstStyle/>
          <a:p>
            <a:pPr algn="ctr" indent="0" marL="0">
              <a:buNone/>
            </a:pPr>
            <a:r>
              <a:rPr lang="en-US" sz="1800" i="1" dirty="0">
                <a:solidFill>
                  <a:srgbClr val="B5451B"/>
                </a:solidFill>
                <a:latin typeface="Georgia" pitchFamily="34" charset="0"/>
                <a:ea typeface="Georgia" pitchFamily="34" charset="-122"/>
                <a:cs typeface="Georgia" pitchFamily="34" charset="-120"/>
              </a:rPr>
              <a:t>The concepts are not complicated. The discipline is.</a:t>
            </a:r>
            <a:endParaRPr lang="en-US" sz="1800" dirty="0"/>
          </a:p>
        </p:txBody>
      </p:sp>
      <p:sp>
        <p:nvSpPr>
          <p:cNvPr id="6" name="Shape 4"/>
          <p:cNvSpPr/>
          <p:nvPr/>
        </p:nvSpPr>
        <p:spPr>
          <a:xfrm>
            <a:off x="3474720" y="3913632"/>
            <a:ext cx="2194560" cy="0"/>
          </a:xfrm>
          <a:prstGeom prst="line">
            <a:avLst/>
          </a:prstGeom>
          <a:noFill/>
          <a:ln w="12700">
            <a:solidFill>
              <a:srgbClr val="3A2810"/>
            </a:solidFill>
            <a:prstDash val="solid"/>
          </a:ln>
        </p:spPr>
      </p:sp>
      <p:sp>
        <p:nvSpPr>
          <p:cNvPr id="7" name="Text 5"/>
          <p:cNvSpPr/>
          <p:nvPr/>
        </p:nvSpPr>
        <p:spPr>
          <a:xfrm>
            <a:off x="914400" y="4041648"/>
            <a:ext cx="7132320" cy="731520"/>
          </a:xfrm>
          <a:prstGeom prst="rect">
            <a:avLst/>
          </a:prstGeom>
          <a:noFill/>
          <a:ln/>
        </p:spPr>
        <p:txBody>
          <a:bodyPr wrap="square" rtlCol="0" anchor="ctr"/>
          <a:lstStyle/>
          <a:p>
            <a:pPr algn="ctr" indent="0" marL="0">
              <a:lnSpc>
                <a:spcPct val="140000"/>
              </a:lnSpc>
              <a:buNone/>
            </a:pPr>
            <a:r>
              <a:rPr lang="en-US" sz="1350" dirty="0">
                <a:solidFill>
                  <a:srgbClr val="8A7A60"/>
                </a:solidFill>
                <a:latin typeface="Calibri" pitchFamily="34" charset="0"/>
                <a:ea typeface="Calibri" pitchFamily="34" charset="-122"/>
                <a:cs typeface="Calibri" pitchFamily="34" charset="-120"/>
              </a:rPr>
              <a:t>Scope. Plan. Timeline. Risk. Stakeholders. Team. Retrospective.</a:t>
            </a:r>
            <a:endParaRPr lang="en-US" sz="1350" dirty="0"/>
          </a:p>
          <a:p>
            <a:pPr algn="ctr" indent="0" marL="0">
              <a:lnSpc>
                <a:spcPct val="140000"/>
              </a:lnSpc>
              <a:buNone/>
            </a:pPr>
            <a:r>
              <a:rPr lang="en-US" sz="1350" dirty="0">
                <a:solidFill>
                  <a:srgbClr val="8A7A60"/>
                </a:solidFill>
                <a:latin typeface="Calibri" pitchFamily="34" charset="0"/>
                <a:ea typeface="Calibri" pitchFamily="34" charset="-122"/>
                <a:cs typeface="Calibri" pitchFamily="34" charset="-120"/>
              </a:rPr>
              <a:t>Seven steps. Two hundred dinners. Same framework.</a:t>
            </a:r>
            <a:endParaRPr lang="en-US" sz="1350" dirty="0"/>
          </a:p>
        </p:txBody>
      </p:sp>
      <p:sp>
        <p:nvSpPr>
          <p:cNvPr id="8" name="Text 6"/>
          <p:cNvSpPr/>
          <p:nvPr/>
        </p:nvSpPr>
        <p:spPr>
          <a:xfrm>
            <a:off x="7863840" y="6217920"/>
            <a:ext cx="1097280" cy="228600"/>
          </a:xfrm>
          <a:prstGeom prst="rect">
            <a:avLst/>
          </a:prstGeom>
          <a:noFill/>
          <a:ln/>
        </p:spPr>
        <p:txBody>
          <a:bodyPr wrap="square" rtlCol="0" anchor="ctr"/>
          <a:lstStyle/>
          <a:p>
            <a:pPr algn="r" indent="0" marL="0">
              <a:buNone/>
            </a:pPr>
            <a:r>
              <a:rPr lang="en-US" sz="900" dirty="0">
                <a:solidFill>
                  <a:srgbClr val="C8BCA8"/>
                </a:solidFill>
                <a:latin typeface="Calibri" pitchFamily="34" charset="0"/>
                <a:ea typeface="Calibri" pitchFamily="34" charset="-122"/>
                <a:cs typeface="Calibri"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B5451B"/>
          </a:solidFill>
          <a:ln w="12700">
            <a:solidFill>
              <a:srgbClr val="B5451B"/>
            </a:solidFill>
            <a:prstDash val="solid"/>
          </a:ln>
        </p:spPr>
      </p:sp>
      <p:sp>
        <p:nvSpPr>
          <p:cNvPr id="3" name="Text 1"/>
          <p:cNvSpPr/>
          <p:nvPr/>
        </p:nvSpPr>
        <p:spPr>
          <a:xfrm>
            <a:off x="548640" y="822960"/>
            <a:ext cx="8046720" cy="914400"/>
          </a:xfrm>
          <a:prstGeom prst="rect">
            <a:avLst/>
          </a:prstGeom>
          <a:noFill/>
          <a:ln/>
        </p:spPr>
        <p:txBody>
          <a:bodyPr wrap="square" rtlCol="0" anchor="ctr"/>
          <a:lstStyle/>
          <a:p>
            <a:pPr algn="ctr" indent="0" marL="0">
              <a:buNone/>
            </a:pPr>
            <a:r>
              <a:rPr lang="en-US" sz="5200" b="1" dirty="0">
                <a:solidFill>
                  <a:srgbClr val="FFFFFF"/>
                </a:solidFill>
                <a:latin typeface="Georgia" pitchFamily="34" charset="0"/>
                <a:ea typeface="Georgia" pitchFamily="34" charset="-122"/>
                <a:cs typeface="Georgia" pitchFamily="34" charset="-120"/>
              </a:rPr>
              <a:t>Questions?</a:t>
            </a:r>
            <a:endParaRPr lang="en-US" sz="5200" dirty="0"/>
          </a:p>
        </p:txBody>
      </p:sp>
      <p:sp>
        <p:nvSpPr>
          <p:cNvPr id="4" name="Text 2"/>
          <p:cNvSpPr/>
          <p:nvPr/>
        </p:nvSpPr>
        <p:spPr>
          <a:xfrm>
            <a:off x="548640" y="1828800"/>
            <a:ext cx="8046720" cy="411480"/>
          </a:xfrm>
          <a:prstGeom prst="rect">
            <a:avLst/>
          </a:prstGeom>
          <a:noFill/>
          <a:ln/>
        </p:spPr>
        <p:txBody>
          <a:bodyPr wrap="square" rtlCol="0" anchor="ctr"/>
          <a:lstStyle/>
          <a:p>
            <a:pPr algn="ctr" indent="0" marL="0">
              <a:buNone/>
            </a:pPr>
            <a:r>
              <a:rPr lang="en-US" sz="1600" i="1" dirty="0">
                <a:solidFill>
                  <a:srgbClr val="F0C9B0"/>
                </a:solidFill>
                <a:latin typeface="Calibri" pitchFamily="34" charset="0"/>
                <a:ea typeface="Calibri" pitchFamily="34" charset="-122"/>
                <a:cs typeface="Calibri" pitchFamily="34" charset="-120"/>
              </a:rPr>
              <a:t>And a few resources worth bookmarking:</a:t>
            </a:r>
            <a:endParaRPr lang="en-US" sz="1600" dirty="0"/>
          </a:p>
        </p:txBody>
      </p:sp>
      <p:sp>
        <p:nvSpPr>
          <p:cNvPr id="5" name="Shape 3"/>
          <p:cNvSpPr/>
          <p:nvPr/>
        </p:nvSpPr>
        <p:spPr>
          <a:xfrm>
            <a:off x="548640" y="2331720"/>
            <a:ext cx="8046720" cy="640080"/>
          </a:xfrm>
          <a:prstGeom prst="roundRect">
            <a:avLst>
              <a:gd name="adj" fmla="val 8571"/>
            </a:avLst>
          </a:prstGeom>
          <a:solidFill>
            <a:srgbClr val="A83A15"/>
          </a:solidFill>
          <a:ln w="12700">
            <a:solidFill>
              <a:srgbClr val="C04020"/>
            </a:solidFill>
            <a:prstDash val="solid"/>
          </a:ln>
        </p:spPr>
      </p:sp>
      <p:sp>
        <p:nvSpPr>
          <p:cNvPr id="6" name="Text 4"/>
          <p:cNvSpPr/>
          <p:nvPr/>
        </p:nvSpPr>
        <p:spPr>
          <a:xfrm>
            <a:off x="749808" y="2404872"/>
            <a:ext cx="2377440" cy="310896"/>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PMI.org</a:t>
            </a:r>
            <a:endParaRPr lang="en-US" sz="1250" dirty="0"/>
          </a:p>
        </p:txBody>
      </p:sp>
      <p:sp>
        <p:nvSpPr>
          <p:cNvPr id="7" name="Text 5"/>
          <p:cNvSpPr/>
          <p:nvPr/>
        </p:nvSpPr>
        <p:spPr>
          <a:xfrm>
            <a:off x="3200400" y="2423160"/>
            <a:ext cx="5212080" cy="310896"/>
          </a:xfrm>
          <a:prstGeom prst="rect">
            <a:avLst/>
          </a:prstGeom>
          <a:noFill/>
          <a:ln/>
        </p:spPr>
        <p:txBody>
          <a:bodyPr wrap="square" rtlCol="0" anchor="ctr"/>
          <a:lstStyle/>
          <a:p>
            <a:pPr indent="0" marL="0">
              <a:buNone/>
            </a:pPr>
            <a:r>
              <a:rPr lang="en-US" sz="1150" dirty="0">
                <a:solidFill>
                  <a:srgbClr val="F0C9B0"/>
                </a:solidFill>
                <a:latin typeface="Calibri" pitchFamily="34" charset="0"/>
                <a:ea typeface="Calibri" pitchFamily="34" charset="-122"/>
                <a:cs typeface="Calibri" pitchFamily="34" charset="-120"/>
              </a:rPr>
              <a:t>Project Management Institute - certifications, standards, community</a:t>
            </a:r>
            <a:endParaRPr lang="en-US" sz="1150" dirty="0"/>
          </a:p>
        </p:txBody>
      </p:sp>
      <p:sp>
        <p:nvSpPr>
          <p:cNvPr id="8" name="Shape 6"/>
          <p:cNvSpPr/>
          <p:nvPr/>
        </p:nvSpPr>
        <p:spPr>
          <a:xfrm>
            <a:off x="548640" y="3081528"/>
            <a:ext cx="8046720" cy="640080"/>
          </a:xfrm>
          <a:prstGeom prst="roundRect">
            <a:avLst>
              <a:gd name="adj" fmla="val 8571"/>
            </a:avLst>
          </a:prstGeom>
          <a:solidFill>
            <a:srgbClr val="A83A15"/>
          </a:solidFill>
          <a:ln w="12700">
            <a:solidFill>
              <a:srgbClr val="C04020"/>
            </a:solidFill>
            <a:prstDash val="solid"/>
          </a:ln>
        </p:spPr>
      </p:sp>
      <p:sp>
        <p:nvSpPr>
          <p:cNvPr id="9" name="Text 7"/>
          <p:cNvSpPr/>
          <p:nvPr/>
        </p:nvSpPr>
        <p:spPr>
          <a:xfrm>
            <a:off x="749808" y="3154680"/>
            <a:ext cx="2377440" cy="310896"/>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ScrumAlliance.org</a:t>
            </a:r>
            <a:endParaRPr lang="en-US" sz="1250" dirty="0"/>
          </a:p>
        </p:txBody>
      </p:sp>
      <p:sp>
        <p:nvSpPr>
          <p:cNvPr id="10" name="Text 8"/>
          <p:cNvSpPr/>
          <p:nvPr/>
        </p:nvSpPr>
        <p:spPr>
          <a:xfrm>
            <a:off x="3200400" y="3172968"/>
            <a:ext cx="5212080" cy="310896"/>
          </a:xfrm>
          <a:prstGeom prst="rect">
            <a:avLst/>
          </a:prstGeom>
          <a:noFill/>
          <a:ln/>
        </p:spPr>
        <p:txBody>
          <a:bodyPr wrap="square" rtlCol="0" anchor="ctr"/>
          <a:lstStyle/>
          <a:p>
            <a:pPr indent="0" marL="0">
              <a:buNone/>
            </a:pPr>
            <a:r>
              <a:rPr lang="en-US" sz="1150" dirty="0">
                <a:solidFill>
                  <a:srgbClr val="F0C9B0"/>
                </a:solidFill>
                <a:latin typeface="Calibri" pitchFamily="34" charset="0"/>
                <a:ea typeface="Calibri" pitchFamily="34" charset="-122"/>
                <a:cs typeface="Calibri" pitchFamily="34" charset="-120"/>
              </a:rPr>
              <a:t>Agile / Scrum framework, training, and certification</a:t>
            </a:r>
            <a:endParaRPr lang="en-US" sz="1150" dirty="0"/>
          </a:p>
        </p:txBody>
      </p:sp>
      <p:sp>
        <p:nvSpPr>
          <p:cNvPr id="11" name="Shape 9"/>
          <p:cNvSpPr/>
          <p:nvPr/>
        </p:nvSpPr>
        <p:spPr>
          <a:xfrm>
            <a:off x="548640" y="3831336"/>
            <a:ext cx="8046720" cy="640080"/>
          </a:xfrm>
          <a:prstGeom prst="roundRect">
            <a:avLst>
              <a:gd name="adj" fmla="val 8571"/>
            </a:avLst>
          </a:prstGeom>
          <a:solidFill>
            <a:srgbClr val="A83A15"/>
          </a:solidFill>
          <a:ln w="12700">
            <a:solidFill>
              <a:srgbClr val="C04020"/>
            </a:solidFill>
            <a:prstDash val="solid"/>
          </a:ln>
        </p:spPr>
      </p:sp>
      <p:sp>
        <p:nvSpPr>
          <p:cNvPr id="12" name="Text 10"/>
          <p:cNvSpPr/>
          <p:nvPr/>
        </p:nvSpPr>
        <p:spPr>
          <a:xfrm>
            <a:off x="749808" y="3904488"/>
            <a:ext cx="2377440" cy="310896"/>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AgileManifesto.org</a:t>
            </a:r>
            <a:endParaRPr lang="en-US" sz="1250" dirty="0"/>
          </a:p>
        </p:txBody>
      </p:sp>
      <p:sp>
        <p:nvSpPr>
          <p:cNvPr id="13" name="Text 11"/>
          <p:cNvSpPr/>
          <p:nvPr/>
        </p:nvSpPr>
        <p:spPr>
          <a:xfrm>
            <a:off x="3200400" y="3922776"/>
            <a:ext cx="5212080" cy="310896"/>
          </a:xfrm>
          <a:prstGeom prst="rect">
            <a:avLst/>
          </a:prstGeom>
          <a:noFill/>
          <a:ln/>
        </p:spPr>
        <p:txBody>
          <a:bodyPr wrap="square" rtlCol="0" anchor="ctr"/>
          <a:lstStyle/>
          <a:p>
            <a:pPr indent="0" marL="0">
              <a:buNone/>
            </a:pPr>
            <a:r>
              <a:rPr lang="en-US" sz="1150" dirty="0">
                <a:solidFill>
                  <a:srgbClr val="F0C9B0"/>
                </a:solidFill>
                <a:latin typeface="Calibri" pitchFamily="34" charset="0"/>
                <a:ea typeface="Calibri" pitchFamily="34" charset="-122"/>
                <a:cs typeface="Calibri" pitchFamily="34" charset="-120"/>
              </a:rPr>
              <a:t>The original Agile Manifesto - worth reading once, in full</a:t>
            </a:r>
            <a:endParaRPr lang="en-US" sz="1150" dirty="0"/>
          </a:p>
        </p:txBody>
      </p:sp>
      <p:sp>
        <p:nvSpPr>
          <p:cNvPr id="14" name="Shape 12"/>
          <p:cNvSpPr/>
          <p:nvPr/>
        </p:nvSpPr>
        <p:spPr>
          <a:xfrm>
            <a:off x="548640" y="4581144"/>
            <a:ext cx="8046720" cy="640080"/>
          </a:xfrm>
          <a:prstGeom prst="roundRect">
            <a:avLst>
              <a:gd name="adj" fmla="val 8571"/>
            </a:avLst>
          </a:prstGeom>
          <a:solidFill>
            <a:srgbClr val="A83A15"/>
          </a:solidFill>
          <a:ln w="12700">
            <a:solidFill>
              <a:srgbClr val="C04020"/>
            </a:solidFill>
            <a:prstDash val="solid"/>
          </a:ln>
        </p:spPr>
      </p:sp>
      <p:sp>
        <p:nvSpPr>
          <p:cNvPr id="15" name="Text 13"/>
          <p:cNvSpPr/>
          <p:nvPr/>
        </p:nvSpPr>
        <p:spPr>
          <a:xfrm>
            <a:off x="749808" y="4654296"/>
            <a:ext cx="2377440" cy="310896"/>
          </a:xfrm>
          <a:prstGeom prst="rect">
            <a:avLst/>
          </a:prstGeom>
          <a:noFill/>
          <a:ln/>
        </p:spPr>
        <p:txBody>
          <a:bodyPr wrap="square"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tpm-templates (GitHub)</a:t>
            </a:r>
            <a:endParaRPr lang="en-US" sz="1250" dirty="0"/>
          </a:p>
        </p:txBody>
      </p:sp>
      <p:sp>
        <p:nvSpPr>
          <p:cNvPr id="16" name="Text 14"/>
          <p:cNvSpPr/>
          <p:nvPr/>
        </p:nvSpPr>
        <p:spPr>
          <a:xfrm>
            <a:off x="3200400" y="4672584"/>
            <a:ext cx="5212080" cy="310896"/>
          </a:xfrm>
          <a:prstGeom prst="rect">
            <a:avLst/>
          </a:prstGeom>
          <a:noFill/>
          <a:ln/>
        </p:spPr>
        <p:txBody>
          <a:bodyPr wrap="square" rtlCol="0" anchor="ctr"/>
          <a:lstStyle/>
          <a:p>
            <a:pPr indent="0" marL="0">
              <a:buNone/>
            </a:pPr>
            <a:r>
              <a:rPr lang="en-US" sz="1150" dirty="0">
                <a:solidFill>
                  <a:srgbClr val="F0C9B0"/>
                </a:solidFill>
                <a:latin typeface="Calibri" pitchFamily="34" charset="0"/>
                <a:ea typeface="Calibri" pitchFamily="34" charset="-122"/>
                <a:cs typeface="Calibri" pitchFamily="34" charset="-120"/>
              </a:rPr>
              <a:t>Program templates from real programs - Charter, RAID Log, Swim Lanes, Comms Plan</a:t>
            </a:r>
            <a:endParaRPr lang="en-US" sz="1150" dirty="0"/>
          </a:p>
        </p:txBody>
      </p:sp>
      <p:sp>
        <p:nvSpPr>
          <p:cNvPr id="17" name="Text 15"/>
          <p:cNvSpPr/>
          <p:nvPr/>
        </p:nvSpPr>
        <p:spPr>
          <a:xfrm>
            <a:off x="548640" y="5989320"/>
            <a:ext cx="8046720" cy="274320"/>
          </a:xfrm>
          <a:prstGeom prst="rect">
            <a:avLst/>
          </a:prstGeom>
          <a:noFill/>
          <a:ln/>
        </p:spPr>
        <p:txBody>
          <a:bodyPr wrap="square" rtlCol="0" anchor="ctr"/>
          <a:lstStyle/>
          <a:p>
            <a:pPr algn="ctr" indent="0" marL="0">
              <a:buNone/>
            </a:pPr>
            <a:r>
              <a:rPr lang="en-US" sz="1000" dirty="0">
                <a:solidFill>
                  <a:srgbClr val="C06040"/>
                </a:solidFill>
                <a:latin typeface="Calibri" pitchFamily="34" charset="0"/>
                <a:ea typeface="Calibri" pitchFamily="34" charset="-122"/>
                <a:cs typeface="Calibri" pitchFamily="34" charset="-120"/>
              </a:rPr>
              <a:t>Eric White  |  github.com/ChefPlex  |  artglasssf.com</a:t>
            </a:r>
            <a:endParaRPr lang="en-US" sz="1000" dirty="0"/>
          </a:p>
        </p:txBody>
      </p:sp>
      <p:sp>
        <p:nvSpPr>
          <p:cNvPr id="18" name="Text 16"/>
          <p:cNvSpPr/>
          <p:nvPr/>
        </p:nvSpPr>
        <p:spPr>
          <a:xfrm>
            <a:off x="7863840" y="6217920"/>
            <a:ext cx="1097280" cy="228600"/>
          </a:xfrm>
          <a:prstGeom prst="rect">
            <a:avLst/>
          </a:prstGeom>
          <a:noFill/>
          <a:ln/>
        </p:spPr>
        <p:txBody>
          <a:bodyPr wrap="square" rtlCol="0" anchor="ctr"/>
          <a:lstStyle/>
          <a:p>
            <a:pPr algn="r" indent="0" marL="0">
              <a:buNone/>
            </a:pPr>
            <a:r>
              <a:rPr lang="en-US" sz="900" dirty="0">
                <a:solidFill>
                  <a:srgbClr val="C8BCA8"/>
                </a:solidFill>
                <a:latin typeface="Calibri" pitchFamily="34" charset="0"/>
                <a:ea typeface="Calibri" pitchFamily="34" charset="-122"/>
                <a:cs typeface="Calibri" pitchFamily="34" charset="-120"/>
              </a:rPr>
              <a:t>13 / 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Management: A Thanksgiving Story</dc:title>
  <dc:subject>PptxGenJS Presentation</dc:subject>
  <dc:creator>Eric White</dc:creator>
  <cp:lastModifiedBy>Eric White</cp:lastModifiedBy>
  <cp:revision>1</cp:revision>
  <dcterms:created xsi:type="dcterms:W3CDTF">2026-05-22T22:05:19Z</dcterms:created>
  <dcterms:modified xsi:type="dcterms:W3CDTF">2026-05-22T22:05:19Z</dcterms:modified>
</cp:coreProperties>
</file>